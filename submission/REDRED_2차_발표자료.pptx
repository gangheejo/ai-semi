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NanumSquare Neo"/>
                <a:ea typeface="NanumSquare Neo"/>
              </a:defRPr>
            </a:pPr>
            <a:r>
              <a:rPr sz="1400" b="0" i="0" u="none" strike="noStrike">
                <a:solidFill>
                  <a:srgbClr val="1D1D1F"/>
                </a:solidFill>
                <a:latin typeface="NanumSquare Neo"/>
                <a:ea typeface="NanumSquare Neo"/>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NanumSquare Neo"/>
                <a:ea typeface="NanumSquare Neo"/>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NanumSquare Neo"/>
                <a:ea typeface="NanumSquare Ne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NanumSquare Neo"/>
                <a:ea typeface="NanumSquare Neo"/>
              </a:defRPr>
            </a:pPr>
            <a:r>
              <a:rPr sz="1400" b="0" i="0" u="none" strike="noStrike">
                <a:solidFill>
                  <a:srgbClr val="1D1D1F"/>
                </a:solidFill>
                <a:latin typeface="NanumSquare Neo"/>
                <a:ea typeface="NanumSquare Neo"/>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NanumSquare Neo"/>
                <a:ea typeface="NanumSquare Neo"/>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NanumSquare Neo"/>
                <a:ea typeface="NanumSquare Ne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NanumSquare Neo"/>
                <a:ea typeface="NanumSquare Neo"/>
              </a:defRPr>
            </a:pPr>
            <a:r>
              <a:rPr sz="1400" b="0" i="0" u="none" strike="noStrike">
                <a:solidFill>
                  <a:srgbClr val="1D1D1F"/>
                </a:solidFill>
                <a:latin typeface="NanumSquare Neo"/>
                <a:ea typeface="NanumSquare Neo"/>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NanumSquare Neo"/>
                <a:ea typeface="NanumSquare Neo"/>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NanumSquare Neo"/>
                <a:ea typeface="NanumSquare Ne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NanumSquare Neo"/>
                <a:ea typeface="NanumSquare Neo"/>
              </a:defRPr>
            </a:pPr>
            <a:r>
              <a:rPr sz="1400" b="0" i="0" u="none" strike="noStrike">
                <a:solidFill>
                  <a:srgbClr val="1D1D1F"/>
                </a:solidFill>
                <a:latin typeface="NanumSquare Neo"/>
                <a:ea typeface="NanumSquare Neo"/>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7A7A7A"/>
              </a:solidFill>
              <a:effectLst/>
            </c:spPr>
          </c:dPt>
          <c:dPt>
            <c:idx val="2"/>
            <c:invertIfNegative val="0"/>
            <c:bubble3D val="0"/>
            <c:spPr>
              <a:solidFill>
                <a:srgbClr val="7A7A7A"/>
              </a:solidFill>
              <a:effectLst/>
            </c:spPr>
          </c:dPt>
          <c:dPt>
            <c:idx val="3"/>
            <c:invertIfNegative val="0"/>
            <c:bubble3D val="0"/>
            <c:spPr>
              <a:solidFill>
                <a:srgbClr val="0066CC"/>
              </a:solidFill>
              <a:effectLst/>
            </c:spPr>
          </c:dPt>
          <c:dPt>
            <c:idx val="4"/>
            <c:invertIfNegative val="0"/>
            <c:bubble3D val="0"/>
            <c:spPr>
              <a:solidFill>
                <a:srgbClr val="0066CC"/>
              </a:solidFill>
              <a:effectLst/>
            </c:spPr>
          </c:dPt>
          <c:dPt>
            <c:idx val="5"/>
            <c:invertIfNegative val="0"/>
            <c:bubble3D val="0"/>
            <c:spPr>
              <a:solidFill>
                <a:srgbClr val="0066CC"/>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D1D1F"/>
                </a:solidFill>
                <a:latin typeface="NanumSquare Neo"/>
                <a:ea typeface="NanumSquare Neo"/>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NanumSquare Neo"/>
                <a:ea typeface="NanumSquare Ne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NanumSquare Neo"/>
                <a:ea typeface="NanumSquare Neo"/>
              </a:defRPr>
            </a:pPr>
            <a:r>
              <a:rPr sz="1400" b="0" i="0" u="none" strike="noStrike">
                <a:solidFill>
                  <a:srgbClr val="1D1D1F"/>
                </a:solidFill>
                <a:latin typeface="NanumSquare Neo"/>
                <a:ea typeface="NanumSquare Neo"/>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NanumSquare Neo"/>
                  <a:ea typeface="NanumSquare Ne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NanumSquare Neo"/>
                <a:ea typeface="NanumSquare Neo"/>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NanumSquare Neo"/>
                <a:ea typeface="NanumSquare Ne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한정된다는 점도 함께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5나노초에서 일반 레지스터 경로에 hold 마이너스 7피코초, setup 마이너스 19피코초 위반이 남았고, signoff 단계 ECO로는 setup이 오히려 나빠져 채택하지 않았습니다. 클록을 5.2나노초로 늦춘 결과는 오른쪽 열에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NanumSquare Neo" pitchFamily="34" charset="0"/>
                <a:ea typeface="NanumSquare Neo" pitchFamily="34" charset="-122"/>
                <a:cs typeface="NanumSquare Neo"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NanumSquare Neo" pitchFamily="34" charset="0"/>
                <a:ea typeface="NanumSquare Neo" pitchFamily="34" charset="-122"/>
                <a:cs typeface="NanumSquare Neo"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NanumSquare Neo" pitchFamily="34" charset="0"/>
                <a:ea typeface="NanumSquare Neo" pitchFamily="34" charset="-122"/>
                <a:cs typeface="NanumSquare Neo"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b="1" dirty="0">
                <a:solidFill>
                  <a:srgbClr val="FFFFFF"/>
                </a:solidFill>
                <a:latin typeface="NanumSquare Neo" pitchFamily="34" charset="0"/>
                <a:ea typeface="NanumSquare Neo" pitchFamily="34" charset="-122"/>
                <a:cs typeface="NanumSquare Neo" pitchFamily="34" charset="-120"/>
              </a:rPr>
              <a:t>회전하는 이벤트 카메라를</a:t>
            </a:r>
            <a:endParaRPr lang="en-US" sz="4000" dirty="0"/>
          </a:p>
          <a:p>
            <a:pPr eaLnBrk="0" indent="0" marL="0">
              <a:buNone/>
            </a:pPr>
            <a:r>
              <a:rPr lang="en-US" sz="4000" b="1" dirty="0">
                <a:solidFill>
                  <a:srgbClr val="FFFFFF"/>
                </a:solidFill>
                <a:latin typeface="NanumSquare Neo" pitchFamily="34" charset="0"/>
                <a:ea typeface="NanumSquare Neo" pitchFamily="34" charset="-122"/>
                <a:cs typeface="NanumSquare Neo"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NanumSquare Neo" pitchFamily="34" charset="0"/>
                <a:ea typeface="NanumSquare Neo" pitchFamily="34" charset="-122"/>
                <a:cs typeface="NanumSquare Neo"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NanumSquare Neo" pitchFamily="34" charset="0"/>
                <a:ea typeface="NanumSquare Neo" pitchFamily="34" charset="-122"/>
                <a:cs typeface="NanumSquare Neo"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센서 960×720</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이벤트 = 주소 (x, y) + 극성</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회전 180° 이내</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평행 이동 없음 (미세하게만)</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월드 메모리</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칸마다 이벤트 유무 + 극성</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7A7A7A"/>
                </a:solidFill>
                <a:latin typeface="NanumSquare Neo" pitchFamily="34" charset="0"/>
                <a:ea typeface="NanumSquare Neo" pitchFamily="34" charset="-122"/>
                <a:cs typeface="NanumSquare Neo"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b="1" dirty="0">
                <a:solidFill>
                  <a:srgbClr val="2997FF"/>
                </a:solidFill>
                <a:latin typeface="NanumSquare Neo" pitchFamily="34" charset="0"/>
                <a:ea typeface="NanumSquare Neo" pitchFamily="34" charset="-122"/>
                <a:cs typeface="NanumSquare Neo"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NanumSquare Neo" pitchFamily="34" charset="0"/>
                <a:ea typeface="NanumSquare Neo" pitchFamily="34" charset="-122"/>
                <a:cs typeface="NanumSquare Neo"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NanumSquare Neo" pitchFamily="34" charset="0"/>
                <a:ea typeface="NanumSquare Neo" pitchFamily="34" charset="-122"/>
                <a:cs typeface="NanumSquare Neo"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NanumSquare Neo" pitchFamily="34" charset="0"/>
                <a:ea typeface="NanumSquare Neo" pitchFamily="34" charset="-122"/>
                <a:cs typeface="NanumSquare Neo"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NanumSquare Neo" pitchFamily="34" charset="0"/>
                <a:ea typeface="NanumSquare Neo" pitchFamily="34" charset="-122"/>
                <a:cs typeface="NanumSquare Neo"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항목</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RTL로 검증한 크기</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로봇팔 목표(제안)</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근거</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센서 패치</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4×4</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256×256</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30~50 cm 근접 작업에서 부품 디테일 인식 필요</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월드 메모리</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1024×1024 (좌표 변환·추정기)</a:t>
                      </a:r>
                      <a:endParaRPr lang="en-US" sz="1400" dirty="0">
                        <a:latin typeface="NanumSquare Neo" charset="0"/>
                        <a:ea typeface="NanumSquare Neo" charset="0"/>
                        <a:cs typeface="NanumSquare Neo" charset="0"/>
                      </a:endParaRPr>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64×64 (쓰기 경로+메모리 통합)</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1024×1024</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회전 180° 이내라 파노라마처럼 무한히 커지지 않음, 패치의 2~4배면 충분</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회전각 단계</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1024 (좌표 변환·추정기)</a:t>
                      </a:r>
                      <a:endParaRPr lang="en-US" sz="1400" dirty="0">
                        <a:latin typeface="NanumSquare Neo" charset="0"/>
                        <a:ea typeface="NanumSquare Neo" charset="0"/>
                        <a:cs typeface="NanumSquare Neo" charset="0"/>
                      </a:endParaRPr>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256 (통합)</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1024</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약 0.18°/단계(180°/1024), 그립 정밀도</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5714"/>
            </a:avLst>
          </a:prstGeom>
          <a:solidFill>
            <a:srgbClr val="FFFFFF"/>
          </a:solidFill>
          <a:ln w="9525">
            <a:solidFill>
              <a:srgbClr val="E0E0E0"/>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NanumSquare Neo" pitchFamily="34" charset="0"/>
                <a:ea typeface="NanumSquare Neo" pitchFamily="34" charset="-122"/>
                <a:cs typeface="NanumSquare Neo"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5714"/>
            </a:avLst>
          </a:prstGeom>
          <a:solidFill>
            <a:srgbClr val="FFFFFF"/>
          </a:solidFill>
          <a:ln w="9525">
            <a:solidFill>
              <a:srgbClr val="E0E0E0"/>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NanumSquare Neo" pitchFamily="34" charset="0"/>
                <a:ea typeface="NanumSquare Neo" pitchFamily="34" charset="-122"/>
                <a:cs typeface="NanumSquare Neo"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NanumSquare Neo" pitchFamily="34" charset="0"/>
                <a:ea typeface="NanumSquare Neo" pitchFamily="34" charset="-122"/>
                <a:cs typeface="NanumSquare Neo" pitchFamily="34" charset="-120"/>
              </a:rPr>
              <a:t>자율주행: 이동이 지배적이라 전제가 깨짐</a:t>
            </a:r>
            <a:endParaRPr lang="en-US" sz="1600" dirty="0"/>
          </a:p>
          <a:p>
            <a:pPr eaLnBrk="0" indent="0" marL="0">
              <a:buNone/>
            </a:pPr>
            <a:r>
              <a:rPr lang="en-US" sz="1600" dirty="0">
                <a:solidFill>
                  <a:srgbClr val="1D1D1F"/>
                </a:solidFill>
                <a:latin typeface="NanumSquare Neo" pitchFamily="34" charset="0"/>
                <a:ea typeface="NanumSquare Neo" pitchFamily="34" charset="-122"/>
                <a:cs typeface="NanumSquare Neo"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6316"/>
            </a:avLst>
          </a:prstGeom>
          <a:solidFill>
            <a:srgbClr val="FFFFFF"/>
          </a:solidFill>
          <a:ln w="12700">
            <a:solidFill>
              <a:srgbClr val="E0E0E0"/>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b="1" dirty="0">
                <a:solidFill>
                  <a:srgbClr val="1D1D1F"/>
                </a:solidFill>
                <a:latin typeface="NanumSquare Neo" pitchFamily="34" charset="0"/>
                <a:ea typeface="NanumSquare Neo" pitchFamily="34" charset="-122"/>
                <a:cs typeface="NanumSquare Neo"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NanumSquare Neo" pitchFamily="34" charset="0"/>
                <a:ea typeface="NanumSquare Neo" pitchFamily="34" charset="-122"/>
                <a:cs typeface="NanumSquare Neo" pitchFamily="34" charset="-120"/>
              </a:rPr>
              <a:t>주소 + 극성</a:t>
            </a:r>
            <a:endParaRPr lang="en-US" sz="1300" dirty="0"/>
          </a:p>
          <a:p>
            <a:pPr eaLnBrk="0" algn="ctr" indent="0" marL="0">
              <a:buNone/>
            </a:pPr>
            <a:r>
              <a:rPr lang="en-US" sz="1300" dirty="0">
                <a:solidFill>
                  <a:srgbClr val="1D1D1F"/>
                </a:solidFill>
                <a:latin typeface="NanumSquare Neo" pitchFamily="34" charset="0"/>
                <a:ea typeface="NanumSquare Neo" pitchFamily="34" charset="-122"/>
                <a:cs typeface="NanumSquare Neo" pitchFamily="34" charset="-120"/>
              </a:rPr>
              <a:t>(x, y, pol)</a:t>
            </a:r>
            <a:endParaRPr lang="en-US" sz="1300" dirty="0"/>
          </a:p>
        </p:txBody>
      </p:sp>
      <p:sp>
        <p:nvSpPr>
          <p:cNvPr id="7" name="Shape 4"/>
          <p:cNvSpPr/>
          <p:nvPr/>
        </p:nvSpPr>
        <p:spPr>
          <a:xfrm>
            <a:off x="2606040" y="1737360"/>
            <a:ext cx="2103120" cy="1737360"/>
          </a:xfrm>
          <a:prstGeom prst="roundRect">
            <a:avLst>
              <a:gd name="adj" fmla="val 6316"/>
            </a:avLst>
          </a:prstGeom>
          <a:solidFill>
            <a:srgbClr val="FFFFFF"/>
          </a:solidFill>
          <a:ln w="12700">
            <a:solidFill>
              <a:srgbClr val="E0E0E0"/>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b="1" dirty="0">
                <a:solidFill>
                  <a:srgbClr val="1D1D1F"/>
                </a:solidFill>
                <a:latin typeface="NanumSquare Neo" pitchFamily="34" charset="0"/>
                <a:ea typeface="NanumSquare Neo" pitchFamily="34" charset="-122"/>
                <a:cs typeface="NanumSquare Neo"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NanumSquare Neo" pitchFamily="34" charset="0"/>
                <a:ea typeface="NanumSquare Neo" pitchFamily="34" charset="-122"/>
                <a:cs typeface="NanumSquare Neo" pitchFamily="34" charset="-120"/>
              </a:rPr>
              <a:t>행 비트맵 + 훔치기 버퍼</a:t>
            </a:r>
            <a:endParaRPr lang="en-US" sz="1300" dirty="0"/>
          </a:p>
          <a:p>
            <a:pPr eaLnBrk="0" algn="ctr" indent="0" marL="0">
              <a:buNone/>
            </a:pPr>
            <a:r>
              <a:rPr lang="en-US" sz="1300" dirty="0">
                <a:solidFill>
                  <a:srgbClr val="1D1D1F"/>
                </a:solidFill>
                <a:latin typeface="NanumSquare Neo" pitchFamily="34" charset="0"/>
                <a:ea typeface="NanumSquare Neo" pitchFamily="34" charset="-122"/>
                <a:cs typeface="NanumSquare Neo" pitchFamily="34" charset="-120"/>
              </a:rPr>
              <a:t>사이클당 최대 8 이벤트</a:t>
            </a:r>
            <a:endParaRPr lang="en-US" sz="1300" dirty="0"/>
          </a:p>
          <a:p>
            <a:pPr eaLnBrk="0" algn="ctr" indent="0" marL="0">
              <a:buNone/>
            </a:pPr>
            <a:r>
              <a:rPr lang="en-US" sz="1300" dirty="0">
                <a:solidFill>
                  <a:srgbClr val="1D1D1F"/>
                </a:solidFill>
                <a:latin typeface="NanumSquare Neo" pitchFamily="34" charset="0"/>
                <a:ea typeface="NanumSquare Neo" pitchFamily="34" charset="-122"/>
                <a:cs typeface="NanumSquare Neo"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6316"/>
            </a:avLst>
          </a:prstGeom>
          <a:solidFill>
            <a:srgbClr val="0066CC"/>
          </a:solidFill>
          <a:ln w="12700">
            <a:solidFill>
              <a:srgbClr val="0066CC"/>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b="1" dirty="0">
                <a:solidFill>
                  <a:srgbClr val="FFFFFF"/>
                </a:solidFill>
                <a:latin typeface="NanumSquare Neo" pitchFamily="34" charset="0"/>
                <a:ea typeface="NanumSquare Neo" pitchFamily="34" charset="-122"/>
                <a:cs typeface="NanumSquare Neo"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NanumSquare Neo" pitchFamily="34" charset="0"/>
                <a:ea typeface="NanumSquare Neo" pitchFamily="34" charset="-122"/>
                <a:cs typeface="NanumSquare Neo" pitchFamily="34" charset="-120"/>
              </a:rPr>
              <a:t>RMCM: 4096가지</a:t>
            </a:r>
            <a:endParaRPr lang="en-US" sz="1300" dirty="0"/>
          </a:p>
          <a:p>
            <a:pPr eaLnBrk="0" algn="ctr" indent="0" marL="0">
              <a:buNone/>
            </a:pPr>
            <a:r>
              <a:rPr lang="en-US" sz="1300" dirty="0">
                <a:solidFill>
                  <a:srgbClr val="FFFFFF"/>
                </a:solidFill>
                <a:latin typeface="NanumSquare Neo" pitchFamily="34" charset="0"/>
                <a:ea typeface="NanumSquare Neo" pitchFamily="34" charset="-122"/>
                <a:cs typeface="NanumSquare Neo" pitchFamily="34" charset="-120"/>
              </a:rPr>
              <a:t>표 하나로 대체</a:t>
            </a:r>
            <a:endParaRPr lang="en-US" sz="1300" dirty="0"/>
          </a:p>
          <a:p>
            <a:pPr eaLnBrk="0" algn="ctr" indent="0" marL="0">
              <a:buNone/>
            </a:pPr>
            <a:r>
              <a:rPr lang="en-US" sz="1300" dirty="0">
                <a:solidFill>
                  <a:srgbClr val="FFFFFF"/>
                </a:solidFill>
                <a:latin typeface="NanumSquare Neo" pitchFamily="34" charset="0"/>
                <a:ea typeface="NanumSquare Neo" pitchFamily="34" charset="-122"/>
                <a:cs typeface="NanumSquare Neo"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6316"/>
            </a:avLst>
          </a:prstGeom>
          <a:solidFill>
            <a:srgbClr val="FFFFFF"/>
          </a:solidFill>
          <a:ln w="12700">
            <a:solidFill>
              <a:srgbClr val="E0E0E0"/>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b="1" dirty="0">
                <a:solidFill>
                  <a:srgbClr val="1D1D1F"/>
                </a:solidFill>
                <a:latin typeface="NanumSquare Neo" pitchFamily="34" charset="0"/>
                <a:ea typeface="NanumSquare Neo" pitchFamily="34" charset="-122"/>
                <a:cs typeface="NanumSquare Neo"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NanumSquare Neo" pitchFamily="34" charset="0"/>
                <a:ea typeface="NanumSquare Neo" pitchFamily="34" charset="-122"/>
                <a:cs typeface="NanumSquare Neo" pitchFamily="34" charset="-120"/>
              </a:rPr>
              <a:t>레인별 FIFO + 중재</a:t>
            </a:r>
            <a:endParaRPr lang="en-US" sz="1300" dirty="0"/>
          </a:p>
          <a:p>
            <a:pPr eaLnBrk="0" algn="ctr" indent="0" marL="0">
              <a:buNone/>
            </a:pPr>
            <a:r>
              <a:rPr lang="en-US" sz="1300" dirty="0">
                <a:solidFill>
                  <a:srgbClr val="1D1D1F"/>
                </a:solidFill>
                <a:latin typeface="NanumSquare Neo" pitchFamily="34" charset="0"/>
                <a:ea typeface="NanumSquare Neo" pitchFamily="34" charset="-122"/>
                <a:cs typeface="NanumSquare Neo"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6486"/>
            </a:avLst>
          </a:prstGeom>
          <a:solidFill>
            <a:srgbClr val="0066CC"/>
          </a:solidFill>
          <a:ln w="12700">
            <a:solidFill>
              <a:srgbClr val="0066CC"/>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b="1" dirty="0">
                <a:solidFill>
                  <a:srgbClr val="FFFFFF"/>
                </a:solidFill>
                <a:latin typeface="NanumSquare Neo" pitchFamily="34" charset="0"/>
                <a:ea typeface="NanumSquare Neo" pitchFamily="34" charset="-122"/>
                <a:cs typeface="NanumSquare Neo"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NanumSquare Neo" pitchFamily="34" charset="0"/>
                <a:ea typeface="NanumSquare Neo" pitchFamily="34" charset="-122"/>
                <a:cs typeface="NanumSquare Neo" pitchFamily="34" charset="-120"/>
              </a:rPr>
              <a:t>행 클록 게이팅</a:t>
            </a:r>
            <a:endParaRPr lang="en-US" sz="1300" dirty="0"/>
          </a:p>
          <a:p>
            <a:pPr eaLnBrk="0" algn="ctr" indent="0" marL="0">
              <a:buNone/>
            </a:pPr>
            <a:r>
              <a:rPr lang="en-US" sz="1300" dirty="0">
                <a:solidFill>
                  <a:srgbClr val="FFFFFF"/>
                </a:solidFill>
                <a:latin typeface="NanumSquare Neo" pitchFamily="34" charset="0"/>
                <a:ea typeface="NanumSquare Neo" pitchFamily="34" charset="-122"/>
                <a:cs typeface="NanumSquare Neo"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D1D1F"/>
            </a:solidFill>
            <a:prstDash val="solid"/>
            <a:tailEnd type="triangle"/>
          </a:ln>
        </p:spPr>
      </p:sp>
      <p:sp>
        <p:nvSpPr>
          <p:cNvPr id="20" name="Shape 17"/>
          <p:cNvSpPr/>
          <p:nvPr/>
        </p:nvSpPr>
        <p:spPr>
          <a:xfrm>
            <a:off x="4709160" y="2606040"/>
            <a:ext cx="411480" cy="0"/>
          </a:xfrm>
          <a:prstGeom prst="line">
            <a:avLst/>
          </a:prstGeom>
          <a:noFill/>
          <a:ln w="25400">
            <a:solidFill>
              <a:srgbClr val="1D1D1F"/>
            </a:solidFill>
            <a:prstDash val="solid"/>
            <a:tailEnd type="triangle"/>
          </a:ln>
        </p:spPr>
      </p:sp>
      <p:sp>
        <p:nvSpPr>
          <p:cNvPr id="21" name="Shape 18"/>
          <p:cNvSpPr/>
          <p:nvPr/>
        </p:nvSpPr>
        <p:spPr>
          <a:xfrm>
            <a:off x="7223760" y="2606040"/>
            <a:ext cx="411480" cy="0"/>
          </a:xfrm>
          <a:prstGeom prst="line">
            <a:avLst/>
          </a:prstGeom>
          <a:noFill/>
          <a:ln w="25400">
            <a:solidFill>
              <a:srgbClr val="1D1D1F"/>
            </a:solidFill>
            <a:prstDash val="solid"/>
            <a:tailEnd type="triangle"/>
          </a:ln>
        </p:spPr>
      </p:sp>
      <p:sp>
        <p:nvSpPr>
          <p:cNvPr id="22" name="Shape 19"/>
          <p:cNvSpPr/>
          <p:nvPr/>
        </p:nvSpPr>
        <p:spPr>
          <a:xfrm>
            <a:off x="9646920" y="2606040"/>
            <a:ext cx="411480" cy="0"/>
          </a:xfrm>
          <a:prstGeom prst="line">
            <a:avLst/>
          </a:prstGeom>
          <a:noFill/>
          <a:ln w="25400">
            <a:solidFill>
              <a:srgbClr val="1D1D1F"/>
            </a:solidFill>
            <a:prstDash val="solid"/>
            <a:tailEnd type="triangle"/>
          </a:ln>
        </p:spPr>
      </p:sp>
      <p:sp>
        <p:nvSpPr>
          <p:cNvPr id="23" name="Shape 20"/>
          <p:cNvSpPr/>
          <p:nvPr/>
        </p:nvSpPr>
        <p:spPr>
          <a:xfrm>
            <a:off x="5120640" y="3977640"/>
            <a:ext cx="2103120" cy="1371600"/>
          </a:xfrm>
          <a:prstGeom prst="roundRect">
            <a:avLst>
              <a:gd name="adj" fmla="val 8000"/>
            </a:avLst>
          </a:prstGeom>
          <a:solidFill>
            <a:srgbClr val="272729"/>
          </a:solidFill>
          <a:ln w="12700">
            <a:solidFill>
              <a:srgbClr val="272729"/>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b="1" dirty="0">
                <a:solidFill>
                  <a:srgbClr val="FFFFFF"/>
                </a:solidFill>
                <a:latin typeface="NanumSquare Neo" pitchFamily="34" charset="0"/>
                <a:ea typeface="NanumSquare Neo" pitchFamily="34" charset="-122"/>
                <a:cs typeface="NanumSquare Neo"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FFFFFF"/>
                </a:solidFill>
                <a:latin typeface="NanumSquare Neo" pitchFamily="34" charset="0"/>
                <a:ea typeface="NanumSquare Neo" pitchFamily="34" charset="-122"/>
                <a:cs typeface="NanumSquare Neo" pitchFamily="34" charset="-120"/>
              </a:rPr>
              <a:t>외부 공급 또는</a:t>
            </a:r>
            <a:endParaRPr lang="en-US" sz="1300" dirty="0"/>
          </a:p>
          <a:p>
            <a:pPr eaLnBrk="0" algn="ctr" indent="0" marL="0">
              <a:buNone/>
            </a:pPr>
            <a:r>
              <a:rPr lang="en-US" sz="1300" dirty="0">
                <a:solidFill>
                  <a:srgbClr val="FFFFFF"/>
                </a:solidFill>
                <a:latin typeface="NanumSquare Neo" pitchFamily="34" charset="0"/>
                <a:ea typeface="NanumSquare Neo" pitchFamily="34" charset="-122"/>
                <a:cs typeface="NanumSquare Neo"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D1D1F"/>
            </a:solidFill>
            <a:prstDash val="solid"/>
            <a:tailEnd type="triangle"/>
          </a:ln>
        </p:spPr>
      </p:sp>
      <p:sp>
        <p:nvSpPr>
          <p:cNvPr id="27" name="Shape 24"/>
          <p:cNvSpPr/>
          <p:nvPr/>
        </p:nvSpPr>
        <p:spPr>
          <a:xfrm>
            <a:off x="7635240" y="3977640"/>
            <a:ext cx="4114800" cy="1371600"/>
          </a:xfrm>
          <a:prstGeom prst="roundRect">
            <a:avLst>
              <a:gd name="adj" fmla="val 8000"/>
            </a:avLst>
          </a:prstGeom>
          <a:solidFill>
            <a:srgbClr val="FFFFFF"/>
          </a:solidFill>
          <a:ln w="19050">
            <a:solidFill>
              <a:srgbClr val="0066CC"/>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b="1" dirty="0">
                <a:solidFill>
                  <a:srgbClr val="0066CC"/>
                </a:solidFill>
                <a:latin typeface="NanumSquare Neo" pitchFamily="34" charset="0"/>
                <a:ea typeface="NanumSquare Neo" pitchFamily="34" charset="-122"/>
                <a:cs typeface="NanumSquare Neo"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b="1" dirty="0">
                <a:solidFill>
                  <a:srgbClr val="1D1D1F"/>
                </a:solidFill>
                <a:latin typeface="NanumSquare Neo" pitchFamily="34" charset="0"/>
                <a:ea typeface="NanumSquare Neo" pitchFamily="34" charset="-122"/>
                <a:cs typeface="NanumSquare Neo"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좌표 변환은 계산을 줄이지 않고 아예 표로 바꿨다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200 MHz 타이밍 여유</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슬랙</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직접 행렬곱</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+1 ps (턱걸이)</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CORDIC</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−252 ps (위반)</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RMCM</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+2,187 ps</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300" dirty="0">
                <a:solidFill>
                  <a:srgbClr val="7A7A7A"/>
                </a:solidFill>
                <a:latin typeface="NanumSquare Neo" pitchFamily="34" charset="0"/>
                <a:ea typeface="NanumSquare Neo" pitchFamily="34" charset="-122"/>
                <a:cs typeface="NanumSquare Neo" pitchFamily="34" charset="-120"/>
              </a:rPr>
              <a:t>Genus 합성, 5 ns, GPDK045. 입력 4096가지(4×4 로컬 좌표 × 256각도) 기준. RMCM은 직접 행렬곱과 bit-exact로 같은 값을 냄(근사 오차 0).</a:t>
            </a:r>
            <a:endParaRPr lang="en-US" sz="1300" dirty="0"/>
          </a:p>
        </p:txBody>
      </p:sp>
      <p:sp>
        <p:nvSpPr>
          <p:cNvPr id="8" name="Shape 2"/>
          <p:cNvSpPr/>
          <p:nvPr/>
        </p:nvSpPr>
        <p:spPr>
          <a:xfrm>
            <a:off x="548640" y="5166360"/>
            <a:ext cx="11064240" cy="1051560"/>
          </a:xfrm>
          <a:prstGeom prst="roundRect">
            <a:avLst>
              <a:gd name="adj" fmla="val 10435"/>
            </a:avLst>
          </a:prstGeom>
          <a:solidFill>
            <a:srgbClr val="272729"/>
          </a:solidFill>
          <a:ln w="12700">
            <a:solidFill>
              <a:srgbClr val="272729"/>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b="1" dirty="0">
                <a:solidFill>
                  <a:srgbClr val="FFFFFF"/>
                </a:solidFill>
                <a:latin typeface="NanumSquare Neo" pitchFamily="34" charset="0"/>
                <a:ea typeface="NanumSquare Neo" pitchFamily="34" charset="-122"/>
                <a:cs typeface="NanumSquare Neo" pitchFamily="34" charset="-120"/>
              </a:rPr>
              <a:t>곱셈기를 없애는 것이 항상 이득은 아니다. 입력 후보가 몇 가지로 좁을 때는 계산을 없애고 표로 대체하는 쪽이 이겼다. (이 결론은 입력 공간이 큰 경우엔 달라질 수 있다.)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검증 항목</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범위</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결과</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좌표 변환 전수 검사 (RMCM RTL)</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16 로컬 좌표 × 1024각도 = 16,384가지</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16,384/16,384 일치</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실제 이벤트 재생 (UZH, 통합 회로)</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8,503개 이벤트 + 실제 자세</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불일치 0, 손실 0, 90칸 기록</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무작위 스트레스</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20,000 사이클, 20% 도착률, 매 사이클 θ 변경</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불일치 0 (20,241건), 528칸 기록</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θ 추정기 RTL vs 오라클</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UZH 이벤트 300개의 매 추정값 (1024각도, 외부 SRAM 포트 버전)</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불일치 0</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blink vs 항상-켬 코어</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유휴 100~6000 사이클</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overrun·메모리 이미지 불일치 0</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게이트 시뮬레이션 (P&amp;R 후 netlist + signoff SDF)</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무작위 6,000사이클 + 메모리 4,096칸 읽기</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RTL과 출력 10,097줄 일치</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892040"/>
            <a:ext cx="11064240" cy="1417320"/>
          </a:xfrm>
          <a:prstGeom prst="roundRect">
            <a:avLst>
              <a:gd name="adj" fmla="val 7742"/>
            </a:avLst>
          </a:prstGeom>
          <a:solidFill>
            <a:srgbClr val="FFFFFF"/>
          </a:solidFill>
          <a:ln w="9525">
            <a:solidFill>
              <a:srgbClr val="E0E0E0"/>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3810"/>
            </a:avLst>
          </a:prstGeom>
          <a:solidFill>
            <a:srgbClr val="FFFFFF"/>
          </a:solidFill>
          <a:ln w="9525">
            <a:solidFill>
              <a:srgbClr val="E0E0E0"/>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arrival: 16개 소스 중 어디서 이벤트가 왔는가(16비트 비트맵)</a:t>
            </a:r>
            <a:endParaRPr lang="en-US" sz="1400" dirty="0"/>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theta_idx: 그 순간의 회전각 번호</a:t>
            </a:r>
            <a:endParaRPr lang="en-US" sz="1400" dirty="0"/>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world_we · world_addr: 변환된 월드 좌표(y,x)가 쓰기 포트로 한 건씩 나옴</a:t>
            </a:r>
            <a:endParaRPr lang="en-US" sz="1400" dirty="0"/>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7A7A7A"/>
                </a:solidFill>
                <a:latin typeface="NanumSquare Neo" pitchFamily="34" charset="0"/>
                <a:ea typeface="NanumSquare Neo" pitchFamily="34" charset="-122"/>
                <a:cs typeface="NanumSquare Neo"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이벤트 8,503개 → 쓰기 8,503건, 손실(overrun) 0</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쓰기 모듈 입력 8,503건을 독립 계산한 기대값과 대조: 불일치 0</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4706"/>
            </a:avLst>
          </a:prstGeom>
          <a:solidFill>
            <a:srgbClr val="FFFFFF"/>
          </a:solidFill>
          <a:ln w="9525">
            <a:solidFill>
              <a:srgbClr val="E0E0E0"/>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20,000 사이클, 도착률 20%, 매 사이클 θ 변경</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쓰기 20,241건 모두 기대값과 일치, 손실 0</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D1D1F"/>
                </a:solidFill>
                <a:latin typeface="NanumSquare Neo" pitchFamily="34" charset="0"/>
                <a:ea typeface="NanumSquare Neo" pitchFamily="34" charset="-122"/>
                <a:cs typeface="NanumSquare Neo"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D1D1F"/>
                </a:solidFill>
                <a:latin typeface="NanumSquare Neo" pitchFamily="34" charset="0"/>
                <a:ea typeface="NanumSquare Neo" pitchFamily="34" charset="-122"/>
                <a:cs typeface="NanumSquare Neo"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D1D1F"/>
                </a:solidFill>
                <a:latin typeface="NanumSquare Neo" pitchFamily="34" charset="0"/>
                <a:ea typeface="NanumSquare Neo" pitchFamily="34" charset="-122"/>
                <a:cs typeface="NanumSquare Neo"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D1D1F"/>
                </a:solidFill>
                <a:latin typeface="NanumSquare Neo" pitchFamily="34" charset="0"/>
                <a:ea typeface="NanumSquare Neo" pitchFamily="34" charset="-122"/>
                <a:cs typeface="NanumSquare Neo"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6857"/>
            </a:avLst>
          </a:prstGeom>
          <a:solidFill>
            <a:srgbClr val="272729"/>
          </a:solidFill>
          <a:ln w="12700">
            <a:solidFill>
              <a:srgbClr val="272729"/>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b="1" dirty="0">
                <a:solidFill>
                  <a:srgbClr val="FFFFFF"/>
                </a:solidFill>
                <a:latin typeface="NanumSquare Neo" pitchFamily="34" charset="0"/>
                <a:ea typeface="NanumSquare Neo" pitchFamily="34" charset="-122"/>
                <a:cs typeface="NanumSquare Neo" pitchFamily="34" charset="-120"/>
              </a:rPr>
              <a:t>→ 이후 최적화의 초점은</a:t>
            </a:r>
            <a:endParaRPr lang="en-US" sz="1600" dirty="0"/>
          </a:p>
          <a:p>
            <a:pPr eaLnBrk="0" indent="0" marL="0">
              <a:buNone/>
            </a:pPr>
            <a:r>
              <a:rPr lang="en-US" sz="1600" b="1" dirty="0">
                <a:solidFill>
                  <a:srgbClr val="FFFFFF"/>
                </a:solidFill>
                <a:latin typeface="NanumSquare Neo" pitchFamily="34" charset="0"/>
                <a:ea typeface="NanumSquare Neo" pitchFamily="34" charset="-122"/>
                <a:cs typeface="NanumSquare Neo" pitchFamily="34" charset="-120"/>
              </a:rPr>
              <a:t>코어 로직이 아니라</a:t>
            </a:r>
            <a:endParaRPr lang="en-US" sz="1600" dirty="0"/>
          </a:p>
          <a:p>
            <a:pPr eaLnBrk="0" indent="0" marL="0">
              <a:buNone/>
            </a:pPr>
            <a:r>
              <a:rPr lang="en-US" sz="1600" b="1" dirty="0">
                <a:solidFill>
                  <a:srgbClr val="FFFFFF"/>
                </a:solidFill>
                <a:latin typeface="NanumSquare Neo" pitchFamily="34" charset="0"/>
                <a:ea typeface="NanumSquare Neo" pitchFamily="34" charset="-122"/>
                <a:cs typeface="NanumSquare Neo"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7A7A7A"/>
                </a:solidFill>
                <a:latin typeface="NanumSquare Neo" pitchFamily="34" charset="0"/>
                <a:ea typeface="NanumSquare Neo" pitchFamily="34" charset="-122"/>
                <a:cs typeface="NanumSquare Neo" pitchFamily="34" charset="-120"/>
              </a:rPr>
              <a:t>RTL 시뮬레이션 파형: 쓰는 행의 게이트 클록만 토글</a:t>
            </a:r>
            <a:endParaRPr lang="en-US" sz="1300" dirty="0"/>
          </a:p>
        </p:txBody>
      </p:sp>
      <p:sp>
        <p:nvSpPr>
          <p:cNvPr id="7" name="Shape 2"/>
          <p:cNvSpPr/>
          <p:nvPr/>
        </p:nvSpPr>
        <p:spPr>
          <a:xfrm>
            <a:off x="6583680" y="4389120"/>
            <a:ext cx="5029200" cy="1188720"/>
          </a:xfrm>
          <a:prstGeom prst="roundRect">
            <a:avLst>
              <a:gd name="adj" fmla="val 9231"/>
            </a:avLst>
          </a:prstGeom>
          <a:solidFill>
            <a:srgbClr val="FFFFFF"/>
          </a:solidFill>
          <a:ln w="9525">
            <a:solidFill>
              <a:srgbClr val="E0E0E0"/>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결과</a:t>
            </a:r>
            <a:endParaRPr lang="en-US" sz="1600" dirty="0"/>
          </a:p>
        </p:txBody>
      </p:sp>
      <p:sp>
        <p:nvSpPr>
          <p:cNvPr id="9" name="Text 4"/>
          <p:cNvSpPr txBox="1"/>
          <p:nvPr/>
        </p:nvSpPr>
        <p:spPr>
          <a:xfrm>
            <a:off x="6766560" y="4937760"/>
            <a:ext cx="4663440" cy="502920"/>
          </a:xfrm>
          <a:prstGeom prst="rect">
            <a:avLst/>
          </a:prstGeom>
          <a:noFill/>
          <a:ln/>
        </p:spPr>
        <p:txBody>
          <a:bodyPr wrap="square" lIns="0" tIns="0" rIns="0" bIns="0" rtlCol="0" anchor="t"/>
          <a:lstStyle/>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전력 2.522 → 0.870 mW (−65.5%)</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면적 90,105 → 85,617 µm² (−5.0%)</a:t>
            </a:r>
            <a:endParaRPr lang="en-US" sz="1500" dirty="0"/>
          </a:p>
        </p:txBody>
      </p:sp>
      <p:sp>
        <p:nvSpPr>
          <p:cNvPr id="10" name="Text 5"/>
          <p:cNvSpPr txBox="1"/>
          <p:nvPr/>
        </p:nvSpPr>
        <p:spPr>
          <a:xfrm>
            <a:off x="548640" y="5715000"/>
            <a:ext cx="11064240" cy="640080"/>
          </a:xfrm>
          <a:prstGeom prst="rect">
            <a:avLst/>
          </a:prstGeom>
          <a:noFill/>
          <a:ln/>
        </p:spPr>
        <p:txBody>
          <a:bodyPr wrap="square" lIns="0" tIns="0" rIns="0" bIns="0" rtlCol="0" anchor="t"/>
          <a:lstStyle/>
          <a:p>
            <a:pPr eaLnBrk="0" indent="0" marL="0">
              <a:buNone/>
            </a:pPr>
            <a:r>
              <a:rPr lang="en-US" sz="1300" dirty="0">
                <a:solidFill>
                  <a:srgbClr val="7A7A7A"/>
                </a:solidFill>
                <a:latin typeface="NanumSquare Neo" pitchFamily="34" charset="0"/>
                <a:ea typeface="NanumSquare Neo" pitchFamily="34" charset="-122"/>
                <a:cs typeface="NanumSquare Neo"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7A7A7A"/>
                </a:solidFill>
                <a:latin typeface="NanumSquare Neo" pitchFamily="34" charset="0"/>
                <a:ea typeface="NanumSquare Neo" pitchFamily="34" charset="-122"/>
                <a:cs typeface="NanumSquare Neo"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200 MHz에서 칩이 일하는 비율 (실제 DELTA)</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비율</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입력 8개/사이클 버스트 가정 (하한)</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3.1% (p90 5.4%)</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쓰기 포트 1건/사이클 상한 가정</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25%</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물리 검증: 클록 게이팅 hold는 구조로 해결, 일반 경로에 ps 단위 잔여</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b="1" dirty="0">
                          <a:solidFill>
                            <a:srgbClr val="1D1D1F"/>
                          </a:solidFill>
                          <a:latin typeface="NanumSquare Neo" pitchFamily="34" charset="0"/>
                          <a:ea typeface="NanumSquare Neo" pitchFamily="34" charset="-122"/>
                          <a:cs typeface="NanumSquare Neo" pitchFamily="34" charset="-120"/>
                        </a:rPr>
                        <a:t>항목 (signoff)</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b="1" dirty="0">
                          <a:solidFill>
                            <a:srgbClr val="1D1D1F"/>
                          </a:solidFill>
                          <a:latin typeface="NanumSquare Neo" pitchFamily="34" charset="0"/>
                          <a:ea typeface="NanumSquare Neo" pitchFamily="34" charset="-122"/>
                          <a:cs typeface="NanumSquare Neo" pitchFamily="34" charset="-120"/>
                        </a:rPr>
                        <a:t>래치+AND 분리</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b="1" dirty="0">
                          <a:solidFill>
                            <a:srgbClr val="1D1D1F"/>
                          </a:solidFill>
                          <a:latin typeface="NanumSquare Neo" pitchFamily="34" charset="0"/>
                          <a:ea typeface="NanumSquare Neo" pitchFamily="34" charset="-122"/>
                          <a:cs typeface="NanumSquare Neo" pitchFamily="34" charset="-120"/>
                        </a:rPr>
                        <a:t>통합 ICG</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b="1" dirty="0">
                          <a:solidFill>
                            <a:srgbClr val="1D1D1F"/>
                          </a:solidFill>
                          <a:latin typeface="NanumSquare Neo" pitchFamily="34" charset="0"/>
                          <a:ea typeface="NanumSquare Neo" pitchFamily="34" charset="-122"/>
                          <a:cs typeface="NanumSquare Neo" pitchFamily="34" charset="-120"/>
                        </a:rPr>
                        <a:t>통합 ICG @5.2 ns</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DRC / antenna</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0 / 0</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0 / 0</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(진행 중)</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클록 게이팅 hold</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−0.030 ns (13)</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+0.080 ns (0)</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(진행 중)</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reg2reg hold</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−0.010 ns (135)</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−0.007 ns (34)</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(진행 중)</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setup</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위반 0</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−0.019 ns (1)</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(진행 중)</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전력 (vectorless)</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5.89 mW</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6.11 mW</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(진행 중)</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표준셀 면적</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159,459 µm²</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162,312 µm²</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(진행 중)</a:t>
                      </a:r>
                      <a:endParaRPr lang="en-US" sz="12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7A7A7A"/>
                </a:solidFill>
                <a:latin typeface="NanumSquare Neo" pitchFamily="34" charset="0"/>
                <a:ea typeface="NanumSquare Neo" pitchFamily="34" charset="-122"/>
                <a:cs typeface="NanumSquare Neo" pitchFamily="34" charset="-120"/>
              </a:rPr>
              <a:t>괄호 안은 위반 경로 수. 5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NanumSquare Neo" pitchFamily="34" charset="0"/>
                <a:ea typeface="NanumSquare Neo" pitchFamily="34" charset="-122"/>
                <a:cs typeface="NanumSquare Neo" pitchFamily="34" charset="-120"/>
              </a:rPr>
              <a:t>P&amp;R 셀 배치도 (플립플롭 = 연회색, 클록 게이트 = 파랑)</a:t>
            </a:r>
            <a:endParaRPr lang="en-US" sz="1100" dirty="0"/>
          </a:p>
        </p:txBody>
      </p:sp>
      <p:sp>
        <p:nvSpPr>
          <p:cNvPr id="8" name="Shape 3"/>
          <p:cNvSpPr/>
          <p:nvPr/>
        </p:nvSpPr>
        <p:spPr>
          <a:xfrm>
            <a:off x="548640" y="4983480"/>
            <a:ext cx="3566160" cy="1371600"/>
          </a:xfrm>
          <a:prstGeom prst="roundRect">
            <a:avLst>
              <a:gd name="adj" fmla="val 8000"/>
            </a:avLst>
          </a:prstGeom>
          <a:solidFill>
            <a:srgbClr val="FFFFFF"/>
          </a:solidFill>
          <a:ln w="9525">
            <a:solidFill>
              <a:srgbClr val="E0E0E0"/>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NanumSquare Neo" pitchFamily="34" charset="0"/>
                <a:ea typeface="NanumSquare Neo" pitchFamily="34" charset="-122"/>
                <a:cs typeface="NanumSquare Neo"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8000"/>
            </a:avLst>
          </a:prstGeom>
          <a:solidFill>
            <a:srgbClr val="FFFFFF"/>
          </a:solidFill>
          <a:ln w="9525">
            <a:solidFill>
              <a:srgbClr val="E0E0E0"/>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래치+AND → 통합 클록게이트 셀로 hold 해결. signoff ECO는 setup −0.040 ns로 악화되어 미채택</a:t>
            </a:r>
            <a:endParaRPr lang="en-US" sz="1300" dirty="0"/>
          </a:p>
        </p:txBody>
      </p:sp>
      <p:sp>
        <p:nvSpPr>
          <p:cNvPr id="14" name="Shape 9"/>
          <p:cNvSpPr/>
          <p:nvPr/>
        </p:nvSpPr>
        <p:spPr>
          <a:xfrm>
            <a:off x="8092440" y="5074920"/>
            <a:ext cx="3520440" cy="1280160"/>
          </a:xfrm>
          <a:prstGeom prst="roundRect">
            <a:avLst>
              <a:gd name="adj" fmla="val 8571"/>
            </a:avLst>
          </a:prstGeom>
          <a:solidFill>
            <a:srgbClr val="FFFFFF"/>
          </a:solidFill>
          <a:ln w="9525">
            <a:solidFill>
              <a:srgbClr val="E0E0E0"/>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일반 경로 ps 단위 잔여 위반. 클록 여유로 흡수하는 것이 현재 해법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방법</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실시간 가능</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UZH 20곳 평균 / 최악 오차</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Contrast maximization (순수 인과)</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0066CC"/>
                          </a:solidFill>
                          <a:latin typeface="NanumSquare Neo" pitchFamily="34" charset="0"/>
                          <a:ea typeface="NanumSquare Neo" pitchFamily="34" charset="-122"/>
                          <a:cs typeface="NanumSquare Neo" pitchFamily="34" charset="-120"/>
                        </a:rPr>
                        <a:t>가능</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11.7° / 59.4°</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forward-backward 평활</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불가 (미래 필요)</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10.2° / 44.3°</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batch bundle adjustment</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1D1D1F"/>
                          </a:solidFill>
                          <a:latin typeface="NanumSquare Neo" pitchFamily="34" charset="0"/>
                          <a:ea typeface="NanumSquare Neo" pitchFamily="34" charset="-122"/>
                          <a:cs typeface="NanumSquare Neo" pitchFamily="34" charset="-120"/>
                        </a:rPr>
                        <a:t>불가 (미래 필요)</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11.5° / 28.7°</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bounded-lag (L=8 윈도우, 128 이벤트 FIFO)</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0066CC"/>
                          </a:solidFill>
                          <a:latin typeface="NanumSquare Neo" pitchFamily="34" charset="0"/>
                          <a:ea typeface="NanumSquare Neo" pitchFamily="34" charset="-122"/>
                          <a:cs typeface="NanumSquare Neo" pitchFamily="34" charset="-120"/>
                        </a:rPr>
                        <a:t>가능 (지연 L)</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10.6° / 50.3°</a:t>
                      </a:r>
                      <a:endParaRPr lang="en-US" sz="14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7A7A7A"/>
                </a:solidFill>
                <a:latin typeface="NanumSquare Neo" pitchFamily="34" charset="0"/>
                <a:ea typeface="NanumSquare Neo" pitchFamily="34" charset="-122"/>
                <a:cs typeface="NanumSquare Neo"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8276"/>
            </a:avLst>
          </a:prstGeom>
          <a:solidFill>
            <a:srgbClr val="FFFFFF"/>
          </a:solidFill>
          <a:ln w="9525">
            <a:solidFill>
              <a:srgbClr val="E0E0E0"/>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이산 베이즈 필터를 고정소수점으로 구현. UZH 이벤트 300개 재생에서 오라클과 비트 단위로 일치(1024각도 버전).</a:t>
            </a:r>
            <a:endParaRPr lang="en-US" sz="1300" dirty="0"/>
          </a:p>
        </p:txBody>
      </p:sp>
      <p:sp>
        <p:nvSpPr>
          <p:cNvPr id="10" name="Shape 5"/>
          <p:cNvSpPr/>
          <p:nvPr/>
        </p:nvSpPr>
        <p:spPr>
          <a:xfrm>
            <a:off x="6903720" y="5074920"/>
            <a:ext cx="4709160" cy="1280160"/>
          </a:xfrm>
          <a:prstGeom prst="roundRect">
            <a:avLst>
              <a:gd name="adj" fmla="val 8571"/>
            </a:avLst>
          </a:prstGeom>
          <a:solidFill>
            <a:srgbClr val="FFFFFF"/>
          </a:solidFill>
          <a:ln w="9525">
            <a:solidFill>
              <a:srgbClr val="E0E0E0"/>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NanumSquare Neo" pitchFamily="34" charset="0"/>
                <a:ea typeface="NanumSquare Neo" pitchFamily="34" charset="-122"/>
                <a:cs typeface="NanumSquare Neo"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7A7A7A"/>
                </a:solidFill>
                <a:latin typeface="NanumSquare Neo" pitchFamily="34" charset="0"/>
                <a:ea typeface="NanumSquare Neo" pitchFamily="34" charset="-122"/>
                <a:cs typeface="NanumSquare Neo"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5217"/>
            </a:avLst>
          </a:prstGeom>
          <a:solidFill>
            <a:srgbClr val="FFFFFF"/>
          </a:solidFill>
          <a:ln w="9525">
            <a:solidFill>
              <a:srgbClr val="E0E0E0"/>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NanumSquare Neo" pitchFamily="34" charset="0"/>
                <a:ea typeface="NanumSquare Neo" pitchFamily="34" charset="-122"/>
                <a:cs typeface="NanumSquare Neo"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486400" cy="2240280"/>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D1D1F"/>
                </a:solidFill>
                <a:latin typeface="NanumSquare Neo" pitchFamily="34" charset="0"/>
                <a:ea typeface="NanumSquare Neo" pitchFamily="34" charset="-122"/>
                <a:cs typeface="NanumSquare Neo"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D1D1F"/>
                </a:solidFill>
                <a:latin typeface="NanumSquare Neo" pitchFamily="34" charset="0"/>
                <a:ea typeface="NanumSquare Neo" pitchFamily="34" charset="-122"/>
                <a:cs typeface="NanumSquare Neo"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7A7A7A"/>
                </a:solidFill>
                <a:latin typeface="NanumSquare Neo" pitchFamily="34" charset="0"/>
                <a:ea typeface="NanumSquare Neo" pitchFamily="34" charset="-122"/>
                <a:cs typeface="NanumSquare Neo"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NanumSquare Neo" pitchFamily="34" charset="0"/>
                <a:ea typeface="NanumSquare Neo" pitchFamily="34" charset="-122"/>
                <a:cs typeface="NanumSquare Neo"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NanumSquare Neo" pitchFamily="34" charset="0"/>
                <a:ea typeface="NanumSquare Neo" pitchFamily="34" charset="-122"/>
                <a:cs typeface="NanumSquare Neo"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6857"/>
            </a:avLst>
          </a:prstGeom>
          <a:solidFill>
            <a:srgbClr val="FFFFFF"/>
          </a:solidFill>
          <a:ln w="9525">
            <a:solidFill>
              <a:srgbClr val="E0E0E0"/>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NanumSquare Neo" pitchFamily="34" charset="0"/>
                <a:ea typeface="NanumSquare Neo" pitchFamily="34" charset="-122"/>
                <a:cs typeface="NanumSquare Neo"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D1D1F"/>
                </a:solidFill>
                <a:latin typeface="NanumSquare Neo" pitchFamily="34" charset="0"/>
                <a:ea typeface="NanumSquare Neo" pitchFamily="34" charset="-122"/>
                <a:cs typeface="NanumSquare Neo"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7A7A7A"/>
                </a:solidFill>
                <a:latin typeface="NanumSquare Neo" pitchFamily="34" charset="0"/>
                <a:ea typeface="NanumSquare Neo" pitchFamily="34" charset="-122"/>
                <a:cs typeface="NanumSquare Neo"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13333"/>
            </a:avLst>
          </a:prstGeom>
          <a:solidFill>
            <a:srgbClr val="FFFFFF"/>
          </a:solidFill>
          <a:ln w="9525">
            <a:solidFill>
              <a:srgbClr val="E0E0E0"/>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NanumSquare Neo" pitchFamily="34" charset="0"/>
                <a:ea typeface="NanumSquare Neo" pitchFamily="34" charset="-122"/>
                <a:cs typeface="NanumSquare Neo"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1188720"/>
                <a:gridCol w="5852160"/>
              </a:tblGrid>
              <a:tr h="493776">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생체 모방 아이디어</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결과</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근거</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93776">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중심와(fovea) / 이벤트 클러스터링 (1차)</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채택</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열 비트맵: 손실 57.6% → 6.9%(동일 합성 트래픽), 최종 결합판 0.47%(UZH 실측)</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눈 깜빡임: 유휴 시 코어 클록 차단</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채택</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항상-켬과 출력·메모리 일치, 유휴 전력 −71%(시험 입력)</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행 단위 선택적 활성화 (메모리)</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NanumSquare Neo" pitchFamily="34" charset="0"/>
                          <a:ea typeface="NanumSquare Neo" pitchFamily="34" charset="-122"/>
                          <a:cs typeface="NanumSquare Neo" pitchFamily="34" charset="-120"/>
                        </a:rPr>
                        <a:t>채택</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전력 −65.5%, 면적 −5%</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이득 조절(과부하 솎아내기)</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기각·정정</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합성 장면에서만 이득, 실제 DELTA 프레임에서 이득 없음</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추정기 입력 줄이기(ON만/중심 가중/불응기)</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기각</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정확도 1.5배 이상 악화</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미세 안구운동(지터)</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기각</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부화소 복원 효과 없음</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원심성 복사(VOR): 회전 지령을 θ 사전분포로</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NanumSquare Neo" pitchFamily="34" charset="0"/>
                          <a:ea typeface="NanumSquare Neo" pitchFamily="34" charset="-122"/>
                          <a:cs typeface="NanumSquare Neo" pitchFamily="34" charset="-120"/>
                        </a:rPr>
                        <a:t>기각</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UZH 평균 23.4°→8.5°이나 RobotEvt 36.1°→34.9°(기준 25.3° 미달), 사전 등록 기준 미통과</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최근 쓰기 캐시 (감각 기억)</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7A7A7A"/>
                          </a:solidFill>
                          <a:latin typeface="NanumSquare Neo" pitchFamily="34" charset="0"/>
                          <a:ea typeface="NanumSquare Neo" pitchFamily="34" charset="-122"/>
                          <a:cs typeface="NanumSquare Neo" pitchFamily="34" charset="-120"/>
                        </a:rPr>
                        <a:t>보류</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NanumSquare Neo" pitchFamily="34" charset="0"/>
                          <a:ea typeface="NanumSquare Neo" pitchFamily="34" charset="-122"/>
                          <a:cs typeface="NanumSquare Neo" pitchFamily="34" charset="-120"/>
                        </a:rPr>
                        <a:t>64항목만 전력 −16%/면적 +5.5%, 필수 아님</a:t>
                      </a:r>
                      <a:endParaRPr lang="en-US" sz="1300" dirty="0">
                        <a:latin typeface="NanumSquare Neo" charset="0"/>
                        <a:ea typeface="NanumSquare Neo" charset="0"/>
                        <a:cs typeface="NanumSquare Neo"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D1D1F"/>
                </a:solidFill>
                <a:latin typeface="NanumSquare Neo" pitchFamily="34" charset="0"/>
                <a:ea typeface="NanumSquare Neo" pitchFamily="34" charset="-122"/>
                <a:cs typeface="NanumSquare Neo"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4528"/>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 곱셈기 없는 표 기반 좌표 변환, bit-exact 검증</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 메모리 클록 게이팅(−65.5%)과 blink로 구조적 전력 절감</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 실제 센서·로봇팔 데이터로 검증, 안 되는 것은 기각</a:t>
            </a:r>
            <a:endParaRPr lang="en-US" sz="1500" dirty="0"/>
          </a:p>
          <a:p>
            <a:pPr eaLnBrk="0" indent="0" marL="0">
              <a:buNone/>
            </a:pPr>
            <a:r>
              <a:rPr lang="en-US" sz="1500" dirty="0">
                <a:solidFill>
                  <a:srgbClr val="1D1D1F"/>
                </a:solidFill>
                <a:latin typeface="NanumSquare Neo" pitchFamily="34" charset="0"/>
                <a:ea typeface="NanumSquare Neo" pitchFamily="34" charset="-122"/>
                <a:cs typeface="NanumSquare Neo"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4528"/>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NanumSquare Neo" pitchFamily="34" charset="0"/>
                <a:ea typeface="NanumSquare Neo" pitchFamily="34" charset="-122"/>
                <a:cs typeface="NanumSquare Neo"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회전각 추정 정확도가 장면에 크게 의존</a:t>
            </a:r>
            <a:endParaRPr lang="en-US" sz="1400" dirty="0"/>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시차(깊이) 보정은 소프트웨어만, RTL 미반영</a:t>
            </a:r>
            <a:endParaRPr lang="en-US" sz="1400" dirty="0"/>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NanumSquare Neo" pitchFamily="34" charset="0"/>
                <a:ea typeface="NanumSquare Neo" pitchFamily="34" charset="-122"/>
                <a:cs typeface="NanumSquare Neo"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D1D1F"/>
                </a:solidFill>
                <a:latin typeface="NanumSquare Neo" pitchFamily="34" charset="0"/>
                <a:ea typeface="NanumSquare Neo" pitchFamily="34" charset="-122"/>
                <a:cs typeface="NanumSquare Neo"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NanumSquare Neo"/>
                <a:ea typeface="NanumSquare Neo"/>
                <a:cs typeface="NanumSquare Neo"/>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b="1" dirty="0">
                <a:solidFill>
                  <a:srgbClr val="FFFFFF"/>
                </a:solidFill>
                <a:latin typeface="NanumSquare Neo" pitchFamily="34" charset="0"/>
                <a:ea typeface="NanumSquare Neo" pitchFamily="34" charset="-122"/>
                <a:cs typeface="NanumSquare Neo"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b="1" dirty="0">
                <a:solidFill>
                  <a:srgbClr val="2997FF"/>
                </a:solidFill>
                <a:latin typeface="NanumSquare Neo" pitchFamily="34" charset="0"/>
                <a:ea typeface="NanumSquare Neo" pitchFamily="34" charset="-122"/>
                <a:cs typeface="NanumSquare Neo"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표 기반 좌표 변환 (면적 2.5배↓, 전력 4.8배↓)</a:t>
            </a:r>
            <a:endParaRPr lang="en-US" sz="1700" dirty="0"/>
          </a:p>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b="1" dirty="0">
                <a:solidFill>
                  <a:srgbClr val="2997FF"/>
                </a:solidFill>
                <a:latin typeface="NanumSquare Neo" pitchFamily="34" charset="0"/>
                <a:ea typeface="NanumSquare Neo" pitchFamily="34" charset="-122"/>
                <a:cs typeface="NanumSquare Neo"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P&amp;R: DRC·antenna 0건, 클록 게이팅 hold는 ICG로 해결</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b="1" dirty="0">
                <a:solidFill>
                  <a:srgbClr val="2997FF"/>
                </a:solidFill>
                <a:latin typeface="NanumSquare Neo" pitchFamily="34" charset="0"/>
                <a:ea typeface="NanumSquare Neo" pitchFamily="34" charset="-122"/>
                <a:cs typeface="NanumSquare Neo"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NanumSquare Neo" pitchFamily="34" charset="0"/>
                <a:ea typeface="NanumSquare Neo" pitchFamily="34" charset="-122"/>
                <a:cs typeface="NanumSquare Neo"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b="1" dirty="0">
                <a:solidFill>
                  <a:srgbClr val="CCCCCC"/>
                </a:solidFill>
                <a:latin typeface="NanumSquare Neo" pitchFamily="34" charset="0"/>
                <a:ea typeface="NanumSquare Neo" pitchFamily="34" charset="-122"/>
                <a:cs typeface="NanumSquare Neo"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anumSquare Neo"/>
        <a:ea typeface="NanumSquare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anumSquare Neo"/>
        <a:ea typeface="NanumSquare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2026-10-26T05:33:07Z</dcterms:created>
  <dcterms:modified xsi:type="dcterms:W3CDTF">2026-10-26T05:33:07Z</dcterms:modified>
</cp:coreProperties>
</file>