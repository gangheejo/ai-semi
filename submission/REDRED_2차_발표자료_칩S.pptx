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8" d="100"/>
          <a:sy n="88" d="100"/>
        </p:scale>
        <p:origin x="228"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메모리 비트당 면적 (µm²/bit)</a:t>
            </a:r>
          </a:p>
        </c:rich>
      </c:tx>
      <c:overlay val="0"/>
    </c:title>
    <c:autoTitleDeleted val="0"/>
    <c:plotArea>
      <c:layout/>
      <c:barChart>
        <c:barDir val="col"/>
        <c:grouping val="clustered"/>
        <c:varyColors val="0"/>
        <c:ser>
          <c:idx val="0"/>
          <c:order val="0"/>
          <c:tx>
            <c:strRef>
              <c:f>Sheet1!$B$1</c:f>
              <c:strCache>
                <c:ptCount val="1"/>
                <c:pt idx="0">
                  <c:v>비트당 면적</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120E-4F70-A283-B4737D7E2257}"/>
              </c:ext>
            </c:extLst>
          </c:dPt>
          <c:dPt>
            <c:idx val="1"/>
            <c:invertIfNegative val="0"/>
            <c:bubble3D val="0"/>
            <c:spPr>
              <a:solidFill>
                <a:srgbClr val="7A7A7A"/>
              </a:solidFill>
              <a:effectLst/>
            </c:spPr>
            <c:extLst>
              <c:ext xmlns:c16="http://schemas.microsoft.com/office/drawing/2014/chart" uri="{C3380CC4-5D6E-409C-BE32-E72D297353CC}">
                <c16:uniqueId val="{00000003-120E-4F70-A283-B4737D7E2257}"/>
              </c:ext>
            </c:extLst>
          </c:dPt>
          <c:dLbls>
            <c:numFmt formatCode="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FF+클록게이팅</c:v>
                </c:pt>
                <c:pt idx="1">
                  <c:v>FF(게이팅 없음)</c:v>
                </c:pt>
              </c:strCache>
            </c:strRef>
          </c:cat>
          <c:val>
            <c:numRef>
              <c:f>Sheet1!$B$2:$B$3</c:f>
              <c:numCache>
                <c:formatCode>General</c:formatCode>
                <c:ptCount val="2"/>
                <c:pt idx="0">
                  <c:v>11.8</c:v>
                </c:pt>
                <c:pt idx="1">
                  <c:v>15.5</c:v>
                </c:pt>
              </c:numCache>
            </c:numRef>
          </c:val>
          <c:extLst>
            <c:ext xmlns:c16="http://schemas.microsoft.com/office/drawing/2014/chart" uri="{C3380CC4-5D6E-409C-BE32-E72D297353CC}">
              <c16:uniqueId val="{00000004-120E-4F70-A283-B4737D7E225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8969339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알고리즘으로 61도 붕괴가 0.67도로 줄어드는 것을 정답 있는 합성 장면에서 독립적으로 확인했습니다. 다섯째, 교수님 센서의 원본 데이터를 직접 해독해서 칩이 그대로 받습니다. 여섯째, 후보 약 60개를 측정으로 걸러냈고 안 된 것과 고친 과정도 다섯 쪽에 걸쳐 모두 적었습니다. 그리고 한계도 분명합니다. 자기보정은 아직 칩 RTL에 들어가지 않았고, 출하 클록은 8나노초이며, 전력은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가장 중요하게 본 약점입니다. 칩에는 녹화에서 맞춘 상수가 있었습니다. roll의 회전 중심, pan의 회전·이동 연동 상수 네 개입니다. 그런데 이 네 상수를 분석해 보니 사실 먼 피벗을 중심으로 한 회전 하나였습니다. 센서가 봉 주위를 도는 것이라서, roll과 pan은 같은 모델에서 피벗 반지름만 다릅니다. roll은 약 50픽셀, pan은 약 2만 픽셀입니다. 그래서 한 녹화의 상수를 다른 녹화에 쓰면 roll은 61도가 틀어지고 pan은 470픽셀이 틀어집니다. 상수를 데이터에서 직접 구하는 자기보정을 float 모델로 만들었더니, roll은 0.67도로 다시 맞춘 값과 거의 같아졌습니다.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현수의 자기보정이 정말 일반화되는지, 저희는 정답을 아는 합성 장면에서 다시 확인했습니다. 센서가 피벗 주위로 도는 장면을 만들고 피벗 위치를 바꿔 가며 현수의 코드를 수정 없이 돌렸습니다. 먼저 평가 기준을 코드 작성 전에 커밋했습니다. 피벗이 150픽셀 이하인 주 시험에서는 피벗 복원 오차가 0.7에서 6.9픽셀이었습니다. 다만 이 범위에서는 상수를 잘못 써도 손해가 거의 없어서, 상수가 중요하다는 기준은 실패했습니다. 그래서 먼 피벗 변형을 따로 등록해서 돌렸습니다. 피벗이 1500에서 6000픽셀이면 복원이 정확하고 프리즈는 8도에서 18도로 무너졌습니다. pan 크기인 2만 픽셀에서는 반지름 추정이 29퍼센트에서 55퍼센트 흔들려 오차가 1.7도 남았지만, 프리즈의 116도보다는 훨씬 낫습니다.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알고리즘을 칩에 넣는 작업을 시작했습니다. 칩의 추정기 설정은 정적 입력이라서, 부트스트랩 구간에는 3자유도로 돌려 각도와 이동량을 모으고, 피벗을 구한 뒤 roll 모드로 전환하는 구조를 잡았습니다. 먼저 현수의 정수 기준모델을 로컬에서 재현해서 0.467도가 그대로 나오는 것을 확인했고, 3자유도 모드로 roll 전체를 5초에 돌려 봤습니다. 정수 3자유도의 각도 오차는 0.9에서 1.2도이고, 피벗 최소제곱은 반지름 26에서 39픽셀이 나옵니다. float의 49픽셀보다 작은데, 정수 3자유도의 이동량 잡음 때문입니다. 설명도 기준 0.9에 걸리는 경계 사례도 있어서, 이 판정 처리가 다음 과제입니다. 아직 RTL에는 들어가지 않았다는 점을 분명히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단점도 분명합니다. 칩에는 녹화에서 맞춘 상수가 남아 있어서 자기보정을 칩에 넣는 일이 남았고,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상수 과적합을 알고리즘으로 해소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정답 있는 합성에서 독립 검증 (9~10쪽)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자기보정은 칩 RTL에 아직 없음(float·정수 분석까지) · 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txBody>
          <a:bodyPr/>
          <a:lstStyle/>
          <a:p>
            <a:endParaRPr lang="ko-KR" altLang="en-US"/>
          </a:p>
        </p:txBody>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txBody>
          <a:bodyPr/>
          <a:lstStyle/>
          <a:p>
            <a:endParaRPr lang="ko-KR" altLang="en-US"/>
          </a:p>
        </p:txBody>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txBody>
          <a:bodyPr/>
          <a:lstStyle/>
          <a:p>
            <a:endParaRPr lang="ko-KR" altLang="en-US"/>
          </a:p>
        </p:txBody>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results_delta\worldmap_uncorrected_vs_omega_only.png"/>
          <p:cNvPicPr>
            <a:picLocks noChangeAspect="1"/>
          </p:cNvPicPr>
          <p:nvPr/>
        </p:nvPicPr>
        <p:blipFill>
          <a:blip r:embed="rId3"/>
          <a:stretch>
            <a:fillRect/>
          </a:stretch>
        </p:blipFill>
        <p:spPr>
          <a:xfrm>
            <a:off x="548640" y="3383280"/>
            <a:ext cx="2926080" cy="2926080"/>
          </a:xfrm>
          <a:prstGeom prst="rect">
            <a:avLst/>
          </a:prstGeom>
        </p:spPr>
      </p:pic>
      <p:sp>
        <p:nvSpPr>
          <p:cNvPr id="14" name="Text 10"/>
          <p:cNvSpPr txBox="1"/>
          <p:nvPr/>
        </p:nvSpPr>
        <p:spPr>
          <a:xfrm>
            <a:off x="3703320" y="3429000"/>
            <a:ext cx="3383280" cy="1463040"/>
          </a:xfrm>
          <a:prstGeom prst="rect">
            <a:avLst/>
          </a:prstGeom>
          <a:noFill/>
          <a:ln/>
        </p:spPr>
        <p:txBody>
          <a:bodyPr wrap="square" lIns="0" tIns="0" rIns="0" bIns="0" rtlCol="0" anchor="t"/>
          <a:lstStyle/>
          <a:p>
            <a:pPr marL="0" indent="0" eaLnBrk="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3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txBody>
          <a:bodyPr/>
          <a:lstStyle/>
          <a:p>
            <a:endParaRPr lang="ko-KR" altLang="en-US"/>
          </a:p>
        </p:txBody>
      </p:sp>
      <p:sp>
        <p:nvSpPr>
          <p:cNvPr id="16"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566928">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3" name="Shape 1"/>
          <p:cNvSpPr/>
          <p:nvPr/>
        </p:nvSpPr>
        <p:spPr>
          <a:xfrm>
            <a:off x="548640" y="5440680"/>
            <a:ext cx="11064240" cy="868680"/>
          </a:xfrm>
          <a:prstGeom prst="roundRect">
            <a:avLst>
              <a:gd name="adj" fmla="val 12632"/>
            </a:avLst>
          </a:prstGeom>
          <a:solidFill>
            <a:srgbClr val="FFFFFF"/>
          </a:solidFill>
          <a:ln w="9525">
            <a:solidFill>
              <a:srgbClr val="E0E0E0"/>
            </a:solidFill>
            <a:prstDash val="solid"/>
          </a:ln>
        </p:spPr>
        <p:txBody>
          <a:bodyPr/>
          <a:lstStyle/>
          <a:p>
            <a:endParaRPr lang="ko-KR" altLang="en-US"/>
          </a:p>
        </p:txBody>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txBody>
          <a:bodyPr/>
          <a:lstStyle/>
          <a:p>
            <a:endParaRPr lang="ko-KR" altLang="en-US"/>
          </a:p>
        </p:txBody>
      </p:sp>
      <p:sp>
        <p:nvSpPr>
          <p:cNvPr id="5" name="Text 2"/>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txBody>
          <a:bodyPr/>
          <a:lstStyle/>
          <a:p>
            <a:endParaRPr lang="ko-KR" altLang="en-US"/>
          </a:p>
        </p:txBody>
      </p:sp>
      <p:sp>
        <p:nvSpPr>
          <p:cNvPr id="8" name="Text 5"/>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txBody>
          <a:bodyPr/>
          <a:lstStyle/>
          <a:p>
            <a:endParaRPr lang="ko-KR" altLang="en-US"/>
          </a:p>
        </p:txBody>
      </p:sp>
      <p:sp>
        <p:nvSpPr>
          <p:cNvPr id="11" name="Text 8"/>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txBody>
          <a:bodyPr/>
          <a:lstStyle/>
          <a:p>
            <a:endParaRPr lang="ko-KR" altLang="en-US"/>
          </a:p>
        </p:txBody>
      </p:sp>
      <p:sp>
        <p:nvSpPr>
          <p:cNvPr id="14" name="Text 11"/>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txBody>
          <a:bodyPr/>
          <a:lstStyle/>
          <a:p>
            <a:endParaRPr lang="ko-KR" altLang="en-US"/>
          </a:p>
        </p:txBody>
      </p:sp>
      <p:sp>
        <p:nvSpPr>
          <p:cNvPr id="17" name="Text 14"/>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txBody>
          <a:bodyPr/>
          <a:lstStyle/>
          <a:p>
            <a:endParaRPr lang="ko-KR" altLang="en-US"/>
          </a:p>
        </p:txBody>
      </p:sp>
      <p:sp>
        <p:nvSpPr>
          <p:cNvPr id="20" name="Shape 17"/>
          <p:cNvSpPr/>
          <p:nvPr/>
        </p:nvSpPr>
        <p:spPr>
          <a:xfrm>
            <a:off x="4434840" y="2240280"/>
            <a:ext cx="411480" cy="0"/>
          </a:xfrm>
          <a:prstGeom prst="line">
            <a:avLst/>
          </a:prstGeom>
          <a:noFill/>
          <a:ln w="19050">
            <a:solidFill>
              <a:srgbClr val="7A7A7A"/>
            </a:solidFill>
            <a:prstDash val="solid"/>
            <a:tailEnd type="triangle"/>
          </a:ln>
        </p:spPr>
        <p:txBody>
          <a:bodyPr/>
          <a:lstStyle/>
          <a:p>
            <a:endParaRPr lang="ko-KR" altLang="en-US"/>
          </a:p>
        </p:txBody>
      </p:sp>
      <p:sp>
        <p:nvSpPr>
          <p:cNvPr id="21" name="Shape 18"/>
          <p:cNvSpPr/>
          <p:nvPr/>
        </p:nvSpPr>
        <p:spPr>
          <a:xfrm>
            <a:off x="6858000" y="2240280"/>
            <a:ext cx="411480" cy="0"/>
          </a:xfrm>
          <a:prstGeom prst="line">
            <a:avLst/>
          </a:prstGeom>
          <a:noFill/>
          <a:ln w="19050">
            <a:solidFill>
              <a:srgbClr val="7A7A7A"/>
            </a:solidFill>
            <a:prstDash val="solid"/>
            <a:tailEnd type="triangle"/>
          </a:ln>
        </p:spPr>
        <p:txBody>
          <a:bodyPr/>
          <a:lstStyle/>
          <a:p>
            <a:endParaRPr lang="ko-KR" altLang="en-US"/>
          </a:p>
        </p:txBody>
      </p:sp>
      <p:sp>
        <p:nvSpPr>
          <p:cNvPr id="22" name="Shape 19"/>
          <p:cNvSpPr/>
          <p:nvPr/>
        </p:nvSpPr>
        <p:spPr>
          <a:xfrm>
            <a:off x="9006840" y="2240280"/>
            <a:ext cx="411480" cy="0"/>
          </a:xfrm>
          <a:prstGeom prst="line">
            <a:avLst/>
          </a:prstGeom>
          <a:noFill/>
          <a:ln w="19050">
            <a:solidFill>
              <a:srgbClr val="7A7A7A"/>
            </a:solidFill>
            <a:prstDash val="solid"/>
            <a:tailEnd type="triangle"/>
          </a:ln>
        </p:spPr>
        <p:txBody>
          <a:bodyPr/>
          <a:lstStyle/>
          <a:p>
            <a:endParaRPr lang="ko-KR" altLang="en-US"/>
          </a:p>
        </p:txBody>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txBody>
          <a:bodyPr/>
          <a:lstStyle/>
          <a:p>
            <a:endParaRPr lang="ko-KR" altLang="en-US"/>
          </a:p>
        </p:txBody>
      </p:sp>
      <p:sp>
        <p:nvSpPr>
          <p:cNvPr id="24" name="Text 21"/>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txBody>
          <a:bodyPr/>
          <a:lstStyle/>
          <a:p>
            <a:endParaRPr lang="ko-KR" altLang="en-US"/>
          </a:p>
        </p:txBody>
      </p:sp>
      <p:sp>
        <p:nvSpPr>
          <p:cNvPr id="27" name="Text 24"/>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txBody>
          <a:bodyPr/>
          <a:lstStyle/>
          <a:p>
            <a:endParaRPr lang="ko-KR" altLang="en-US"/>
          </a:p>
        </p:txBody>
      </p:sp>
      <p:sp>
        <p:nvSpPr>
          <p:cNvPr id="30" name="Text 27"/>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txBody>
          <a:bodyPr/>
          <a:lstStyle/>
          <a:p>
            <a:endParaRPr lang="ko-KR" altLang="en-US"/>
          </a:p>
        </p:txBody>
      </p:sp>
      <p:sp>
        <p:nvSpPr>
          <p:cNvPr id="33" name="Shape 30"/>
          <p:cNvSpPr/>
          <p:nvPr/>
        </p:nvSpPr>
        <p:spPr>
          <a:xfrm>
            <a:off x="4434840" y="4480560"/>
            <a:ext cx="411480" cy="0"/>
          </a:xfrm>
          <a:prstGeom prst="line">
            <a:avLst/>
          </a:prstGeom>
          <a:noFill/>
          <a:ln w="19050">
            <a:solidFill>
              <a:srgbClr val="7A7A7A"/>
            </a:solidFill>
            <a:prstDash val="solid"/>
            <a:tailEnd type="triangle"/>
          </a:ln>
        </p:spPr>
        <p:txBody>
          <a:bodyPr/>
          <a:lstStyle/>
          <a:p>
            <a:endParaRPr lang="ko-KR" altLang="en-US"/>
          </a:p>
        </p:txBody>
      </p:sp>
      <p:sp>
        <p:nvSpPr>
          <p:cNvPr id="34" name="Shape 31"/>
          <p:cNvSpPr/>
          <p:nvPr/>
        </p:nvSpPr>
        <p:spPr>
          <a:xfrm>
            <a:off x="7498080" y="4480560"/>
            <a:ext cx="411480" cy="0"/>
          </a:xfrm>
          <a:prstGeom prst="line">
            <a:avLst/>
          </a:prstGeom>
          <a:noFill/>
          <a:ln w="19050">
            <a:solidFill>
              <a:srgbClr val="7A7A7A"/>
            </a:solidFill>
            <a:prstDash val="solid"/>
            <a:tailEnd type="triangle"/>
          </a:ln>
        </p:spPr>
        <p:txBody>
          <a:bodyPr/>
          <a:lstStyle/>
          <a:p>
            <a:endParaRPr lang="ko-KR" altLang="en-US"/>
          </a:p>
        </p:txBody>
      </p:sp>
      <p:sp>
        <p:nvSpPr>
          <p:cNvPr id="35" name="Shape 32"/>
          <p:cNvSpPr/>
          <p:nvPr/>
        </p:nvSpPr>
        <p:spPr>
          <a:xfrm>
            <a:off x="5852160" y="2926080"/>
            <a:ext cx="3063240" cy="868680"/>
          </a:xfrm>
          <a:prstGeom prst="line">
            <a:avLst/>
          </a:prstGeom>
          <a:noFill/>
          <a:ln w="19050">
            <a:solidFill>
              <a:srgbClr val="7A7A7A"/>
            </a:solidFill>
            <a:prstDash val="solid"/>
            <a:headEnd type="triangle"/>
          </a:ln>
        </p:spPr>
        <p:txBody>
          <a:bodyPr/>
          <a:lstStyle/>
          <a:p>
            <a:endParaRPr lang="ko-KR" altLang="en-US"/>
          </a:p>
        </p:txBody>
      </p:sp>
      <p:sp>
        <p:nvSpPr>
          <p:cNvPr id="36" name="Text 33"/>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txBody>
          <a:bodyPr/>
          <a:lstStyle/>
          <a:p>
            <a:endParaRPr lang="ko-KR" altLang="en-US"/>
          </a:p>
        </p:txBody>
      </p:sp>
      <p:sp>
        <p:nvSpPr>
          <p:cNvPr id="38" name="Text 35"/>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txBody>
          <a:bodyPr/>
          <a:lstStyle/>
          <a:p>
            <a:endParaRPr lang="ko-KR" altLang="en-US"/>
          </a:p>
        </p:txBody>
      </p:sp>
      <p:sp>
        <p:nvSpPr>
          <p:cNvPr id="41" name="Text 38"/>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 name="Text 2"/>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txBody>
          <a:bodyPr/>
          <a:lstStyle/>
          <a:p>
            <a:endParaRPr lang="ko-KR" altLang="en-US"/>
          </a:p>
        </p:txBody>
      </p:sp>
      <p:sp>
        <p:nvSpPr>
          <p:cNvPr id="6" name="Text 2"/>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64008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txBody>
          <a:bodyPr/>
          <a:lstStyle/>
          <a:p>
            <a:endParaRPr lang="ko-KR" altLang="en-US"/>
          </a:p>
        </p:txBody>
      </p:sp>
      <p:sp>
        <p:nvSpPr>
          <p:cNvPr id="6" name="Text 2"/>
          <p:cNvSpPr txBox="1"/>
          <p:nvPr/>
        </p:nvSpPr>
        <p:spPr>
          <a:xfrm>
            <a:off x="73152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있다. 교수 데이터와 UZH 정확도는 서로 직접 비교하면 안 된다.</a:t>
            </a:r>
            <a:endParaRPr lang="en-US" sz="1400" dirty="0"/>
          </a:p>
        </p:txBody>
      </p:sp>
      <p:sp>
        <p:nvSpPr>
          <p:cNvPr id="8" name="Shape 4"/>
          <p:cNvSpPr/>
          <p:nvPr/>
        </p:nvSpPr>
        <p:spPr>
          <a:xfrm>
            <a:off x="6217920" y="4754880"/>
            <a:ext cx="5394960" cy="1554480"/>
          </a:xfrm>
          <a:prstGeom prst="roundRect">
            <a:avLst>
              <a:gd name="adj" fmla="val 7059"/>
            </a:avLst>
          </a:prstGeom>
          <a:solidFill>
            <a:srgbClr val="FFFFFF"/>
          </a:solidFill>
          <a:ln w="9525">
            <a:solidFill>
              <a:srgbClr val="E0E0E0"/>
            </a:solidFill>
            <a:prstDash val="solid"/>
          </a:ln>
        </p:spPr>
        <p:txBody>
          <a:bodyPr/>
          <a:lstStyle/>
          <a:p>
            <a:endParaRPr lang="ko-KR" altLang="en-US"/>
          </a:p>
        </p:txBody>
      </p:sp>
      <p:sp>
        <p:nvSpPr>
          <p:cNvPr id="3" name="Text 5"/>
          <p:cNvSpPr txBox="1"/>
          <p:nvPr/>
        </p:nvSpPr>
        <p:spPr>
          <a:xfrm>
            <a:off x="6400800" y="48920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문제</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빠른 3축 회전에서 추적을 잃으면 도형이 여러 벌로 복제된다. 키프레임·월드 앵커로 줄였지만 완전히 풀지는 못했다.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상수 여러 개는 사실 "피벗 하나"였다</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498080" cy="914400"/>
        </p:xfrm>
        <a:graphic>
          <a:graphicData uri="http://schemas.openxmlformats.org/drawingml/2006/table">
            <a:tbl>
              <a:tblPr/>
              <a:tblGrid>
                <a:gridCol w="38404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512064">
                <a:tc>
                  <a:txBody>
                    <a:bodyPr/>
                    <a:lstStyle/>
                    <a:p>
                      <a:pPr marL="0" indent="0" eaLnBrk="0">
                        <a:buNone/>
                      </a:pP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피벗 반지름 R (ECC 체인에서 구함)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45~65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21,700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추가 시 8.0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현재 칩 (상수 고정, 정수)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0.46°</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8321040" y="1417320"/>
            <a:ext cx="3291840" cy="2011680"/>
          </a:xfrm>
          <a:prstGeom prst="roundRect">
            <a:avLst>
              <a:gd name="adj" fmla="val 5455"/>
            </a:avLst>
          </a:prstGeom>
          <a:solidFill>
            <a:srgbClr val="FFFFFF"/>
          </a:solidFill>
          <a:ln w="9525">
            <a:solidFill>
              <a:srgbClr val="E0E0E0"/>
            </a:solidFill>
            <a:prstDash val="solid"/>
          </a:ln>
        </p:spPr>
        <p:txBody>
          <a:bodyPr/>
          <a:lstStyle/>
          <a:p>
            <a:endParaRPr lang="ko-KR" altLang="en-US"/>
          </a:p>
        </p:txBody>
      </p:sp>
      <p:sp>
        <p:nvSpPr>
          <p:cNvPr id="6" name="Text 2"/>
          <p:cNvSpPr txBox="1"/>
          <p:nvPr/>
        </p:nvSpPr>
        <p:spPr>
          <a:xfrm>
            <a:off x="8503920" y="1554480"/>
            <a:ext cx="29260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자기보정 방식</a:t>
            </a:r>
            <a:endParaRPr lang="en-US" sz="1600" dirty="0"/>
          </a:p>
        </p:txBody>
      </p:sp>
      <p:sp>
        <p:nvSpPr>
          <p:cNvPr id="7" name="Text 3"/>
          <p:cNvSpPr txBox="1"/>
          <p:nvPr/>
        </p:nvSpPr>
        <p:spPr>
          <a:xfrm>
            <a:off x="8503920" y="1965960"/>
            <a:ext cx="292608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처음 몇 창을 3자유도로 돌려 (θ, tx, ty)를 모으고, t = (R(θ)−I)·u 를 최소제곱으로 맞춰 피벗 u를 구함. 설명도 r²가 0.9 이상이면 1자유도로 고정.</a:t>
            </a:r>
            <a:endParaRPr lang="en-US" sz="1200" dirty="0"/>
          </a:p>
        </p:txBody>
      </p:sp>
      <p:sp>
        <p:nvSpPr>
          <p:cNvPr id="8" name="Shape 4"/>
          <p:cNvSpPr/>
          <p:nvPr/>
        </p:nvSpPr>
        <p:spPr>
          <a:xfrm>
            <a:off x="8321040" y="3566160"/>
            <a:ext cx="3291840" cy="2743200"/>
          </a:xfrm>
          <a:prstGeom prst="roundRect">
            <a:avLst>
              <a:gd name="adj" fmla="val 4000"/>
            </a:avLst>
          </a:prstGeom>
          <a:solidFill>
            <a:srgbClr val="FFFFFF"/>
          </a:solidFill>
          <a:ln w="9525">
            <a:solidFill>
              <a:srgbClr val="E0E0E0"/>
            </a:solidFill>
            <a:prstDash val="solid"/>
          </a:ln>
        </p:spPr>
        <p:txBody>
          <a:bodyPr/>
          <a:lstStyle/>
          <a:p>
            <a:endParaRPr lang="ko-KR" altLang="en-US"/>
          </a:p>
        </p:txBody>
      </p:sp>
      <p:sp>
        <p:nvSpPr>
          <p:cNvPr id="9" name="Text 5"/>
          <p:cNvSpPr txBox="1"/>
          <p:nvPr/>
        </p:nvSpPr>
        <p:spPr>
          <a:xfrm>
            <a:off x="8503920" y="3703320"/>
            <a:ext cx="29260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 (현수 문서)</a:t>
            </a:r>
            <a:endParaRPr lang="en-US" sz="1600" dirty="0"/>
          </a:p>
        </p:txBody>
      </p:sp>
      <p:sp>
        <p:nvSpPr>
          <p:cNvPr id="3" name="Text 6"/>
          <p:cNvSpPr txBox="1"/>
          <p:nvPr/>
        </p:nvSpPr>
        <p:spPr>
          <a:xfrm>
            <a:off x="8503920" y="4114800"/>
            <a:ext cx="2926080" cy="205740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1.6초 동안 θ가 거의 안 변해 R을 못 구해 13.9 px에 머문다. 칩 RTL에는 아직 없고 float 모델에서만 검증됨.</a:t>
            </a:r>
            <a:endParaRPr lang="en-US" sz="1200" dirty="0"/>
          </a:p>
        </p:txBody>
      </p:sp>
      <p:sp>
        <p:nvSpPr>
          <p:cNvPr id="11" name="Shape 7"/>
          <p:cNvSpPr/>
          <p:nvPr/>
        </p:nvSpPr>
        <p:spPr>
          <a:xfrm>
            <a:off x="548640" y="4572000"/>
            <a:ext cx="7498080" cy="1737360"/>
          </a:xfrm>
          <a:prstGeom prst="roundRect">
            <a:avLst>
              <a:gd name="adj" fmla="val 6316"/>
            </a:avLst>
          </a:prstGeom>
          <a:solidFill>
            <a:srgbClr val="F5F5F7"/>
          </a:solidFill>
          <a:ln w="9525">
            <a:solidFill>
              <a:srgbClr val="E0E0E0"/>
            </a:solidFill>
            <a:prstDash val="solid"/>
          </a:ln>
        </p:spPr>
        <p:txBody>
          <a:bodyPr/>
          <a:lstStyle/>
          <a:p>
            <a:endParaRPr lang="ko-KR" altLang="en-US"/>
          </a:p>
        </p:txBody>
      </p:sp>
      <p:sp>
        <p:nvSpPr>
          <p:cNvPr id="12" name="Text 8"/>
          <p:cNvSpPr txBox="1"/>
          <p:nvPr/>
        </p:nvSpPr>
        <p:spPr>
          <a:xfrm>
            <a:off x="731520" y="4709160"/>
            <a:ext cx="71323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13" name="Text 9"/>
          <p:cNvSpPr txBox="1"/>
          <p:nvPr/>
        </p:nvSpPr>
        <p:spPr>
          <a:xfrm>
            <a:off x="731520" y="5120640"/>
            <a:ext cx="7132320" cy="10515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녹화에 맞춘 상수를 "데이터에서 구하는 알고리즘"으로 바꾸면 붕괴(61°)가 사라진다. 대가는 roll에서 0.2° 정도의 정확도다.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우리가 정답 있는 합성 장면에서 자기보정을 독립 검증했다</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2651760">
                  <a:extLst>
                    <a:ext uri="{9D8B030D-6E8A-4147-A177-3AD203B41FA5}">
                      <a16:colId xmlns:a16="http://schemas.microsoft.com/office/drawing/2014/main" val="20005"/>
                    </a:ext>
                  </a:extLst>
                </a:gridCol>
              </a:tblGrid>
              <a:tr h="56692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피벗 R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회전각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복원된 R (시드 3개)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자기보정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프리즈 (칩 roll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50~150 (주 시험 G1~G4)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오차 0.7~6.9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0.7~2.6° (거의 무해)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1,552 (V1)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1,516 / 1,525 / 1,611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0.25°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8.3°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6,000 (V2)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5,689 / 6,078 / 7,710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18.1°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20,025 (V3, pan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14,137 / 22,397 / 31,072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115.9°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txBody>
          <a:bodyPr/>
          <a:lstStyle/>
          <a:p>
            <a:endParaRPr lang="ko-KR" altLang="en-US"/>
          </a:p>
        </p:txBody>
      </p:sp>
      <p:sp>
        <p:nvSpPr>
          <p:cNvPr id="6" name="Text 2"/>
          <p:cNvSpPr txBox="1"/>
          <p:nvPr/>
        </p:nvSpPr>
        <p:spPr>
          <a:xfrm>
            <a:off x="731520" y="470916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결론</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자기보정은 피벗을 데이터에서 복원해 붕괴(프리즈 8~116°)를 0.2~1.7°로 막는다. 기준은 코드보다 먼저 커밋했고, 실패한 기준(P3, V3의 Q2)도 그대로 보고한다.</a:t>
            </a:r>
            <a:endParaRPr lang="en-US" sz="13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txBody>
          <a:bodyPr/>
          <a:lstStyle/>
          <a:p>
            <a:endParaRPr lang="ko-KR" altLang="en-US"/>
          </a:p>
        </p:txBody>
      </p:sp>
      <p:sp>
        <p:nvSpPr>
          <p:cNvPr id="9" name="Text 5"/>
          <p:cNvSpPr txBox="1"/>
          <p:nvPr/>
        </p:nvSpPr>
        <p:spPr>
          <a:xfrm>
            <a:off x="6400800" y="470916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합성은 단일 깊이·한 방향 회전·시차 없음, float 복제 모델. pan 크기의 먼 피벗은 R 정밀도가 제한적(오차 1.7°).</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자기보정을 칩에 넣는 중: 정수 기준모델에서 먼저 확인했다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단계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상태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재현 (현수 EstS)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0.467° / 0.462° 그대로 재현, 4초에 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3자유도 부트스트랩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전체 5초, θ 오차 0.88~1.17°, 최종 각도 323.7° (ECC 323.1°)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최소제곱 (정수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 26~39 px (float 49 px), 설명도 r² 0.87~0.93 — 임계 0.9의 경계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민감도 (roll 모드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자기보정 피벗 0.405° &lt; 칩 튜닝 피벗 0.467° &lt; 중심 0.529° &lt; 정수 3자유도 추정 피벗 1.1° (중심화 0.53°) ≪ 100 px 어긋남 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자기보정 모델 + RTL 블록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미완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est_core에 부트스트랩 구간 추가, 기준모델과 비트 일치 확인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수정 칩 풀칩 재실행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미완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합성+P&amp;R 약 1.5시간 + signoff·게이트 시뮬 수 시간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txBody>
          <a:bodyPr/>
          <a:lstStyle/>
          <a:p>
            <a:endParaRPr lang="ko-KR" altLang="en-US"/>
          </a:p>
        </p:txBody>
      </p:sp>
      <p:sp>
        <p:nvSpPr>
          <p:cNvPr id="6" name="Text 2"/>
          <p:cNvSpPr txBox="1"/>
          <p:nvPr/>
        </p:nvSpPr>
        <p:spPr>
          <a:xfrm>
            <a:off x="731520" y="470916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발견: 튜닝한 상수가 최선이 아니었다</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데이터에서 구한 피벗(float)이 손으로 맞춘 칩 피벗보다 roll 각도 오차가 작다(0.405° 대 0.467°). 상수를 알고리즘으로 바꾸는 쪽이 일반화뿐 아니라 정확도에도 이득일 수 있다.</a:t>
            </a:r>
            <a:endParaRPr lang="en-US" sz="12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txBody>
          <a:bodyPr/>
          <a:lstStyle/>
          <a:p>
            <a:endParaRPr lang="ko-KR" altLang="en-US"/>
          </a:p>
        </p:txBody>
      </p:sp>
      <p:sp>
        <p:nvSpPr>
          <p:cNvPr id="9" name="Text 5"/>
          <p:cNvSpPr txBox="1"/>
          <p:nvPr/>
        </p:nvSpPr>
        <p:spPr>
          <a:xfrm>
            <a:off x="6400800" y="470916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그래서 지금 칩은</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자기보정은 float 모델 검증과 정수 궤적 분석까지. 제출하는 풀칩은 상수를 레지스터로 설정하는 기존 구성이다. 정수 자기보정 → RTL → 풀칩 재실행은 달성한 단계까지만 적는다.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45720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txBody>
          <a:bodyPr/>
          <a:lstStyle/>
          <a:p>
            <a:endParaRPr lang="ko-KR" altLang="en-US"/>
          </a:p>
        </p:txBody>
      </p:sp>
      <p:sp>
        <p:nvSpPr>
          <p:cNvPr id="6" name="Text 2"/>
          <p:cNvSpPr txBox="1"/>
          <p:nvPr/>
        </p:nvSpPr>
        <p:spPr>
          <a:xfrm>
            <a:off x="73152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a:t>
            </a:r>
            <a:endParaRPr lang="en-US" sz="1300" dirty="0"/>
          </a:p>
        </p:txBody>
      </p:sp>
      <p:sp>
        <p:nvSpPr>
          <p:cNvPr id="8" name="Shape 4"/>
          <p:cNvSpPr/>
          <p:nvPr/>
        </p:nvSpPr>
        <p:spPr>
          <a:xfrm>
            <a:off x="6217920" y="4754880"/>
            <a:ext cx="5394960" cy="1554480"/>
          </a:xfrm>
          <a:prstGeom prst="roundRect">
            <a:avLst>
              <a:gd name="adj" fmla="val 7059"/>
            </a:avLst>
          </a:prstGeom>
          <a:solidFill>
            <a:srgbClr val="F5F5F7"/>
          </a:solidFill>
          <a:ln w="9525">
            <a:solidFill>
              <a:srgbClr val="E0E0E0"/>
            </a:solidFill>
            <a:prstDash val="solid"/>
          </a:ln>
        </p:spPr>
        <p:txBody>
          <a:bodyPr/>
          <a:lstStyle/>
          <a:p>
            <a:endParaRPr lang="ko-KR" altLang="en-US"/>
          </a:p>
        </p:txBody>
      </p:sp>
      <p:sp>
        <p:nvSpPr>
          <p:cNvPr id="9" name="Text 5"/>
          <p:cNvSpPr txBox="1"/>
          <p:nvPr/>
        </p:nvSpPr>
        <p:spPr>
          <a:xfrm>
            <a:off x="640080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조건부 이득의 의미</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곱셈기를 없애는 것이 항상 이득은 아니다 — 입력 형식(8픽셀 그룹)과 맞물릴 때만 이긴다.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5" name="Chart 0"/>
          <p:cNvGraphicFramePr/>
          <p:nvPr/>
        </p:nvGraphicFramePr>
        <p:xfrm>
          <a:off x="7772400" y="1371600"/>
          <a:ext cx="384048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txBody>
          <a:bodyPr/>
          <a:lstStyle/>
          <a:p>
            <a:endParaRPr lang="ko-KR" altLang="en-US"/>
          </a:p>
        </p:txBody>
      </p:sp>
      <p:sp>
        <p:nvSpPr>
          <p:cNvPr id="7" name="Text 2"/>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8" name="Text 3"/>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sp>
        <p:nvSpPr>
          <p:cNvPr id="9" name="Shape 4"/>
          <p:cNvSpPr/>
          <p:nvPr/>
        </p:nvSpPr>
        <p:spPr>
          <a:xfrm>
            <a:off x="548640" y="5074920"/>
            <a:ext cx="6949440" cy="1234440"/>
          </a:xfrm>
          <a:prstGeom prst="roundRect">
            <a:avLst>
              <a:gd name="adj" fmla="val 8889"/>
            </a:avLst>
          </a:prstGeom>
          <a:solidFill>
            <a:srgbClr val="F5F5F7"/>
          </a:solidFill>
          <a:ln w="9525">
            <a:solidFill>
              <a:srgbClr val="E0E0E0"/>
            </a:solidFill>
            <a:prstDash val="solid"/>
          </a:ln>
        </p:spPr>
        <p:txBody>
          <a:bodyPr/>
          <a:lstStyle/>
          <a:p>
            <a:endParaRPr lang="ko-KR" altLang="en-US"/>
          </a:p>
        </p:txBody>
      </p:sp>
      <p:sp>
        <p:nvSpPr>
          <p:cNvPr id="10" name="Text 5"/>
          <p:cNvSpPr txBox="1"/>
          <p:nvPr/>
        </p:nvSpPr>
        <p:spPr>
          <a:xfrm>
            <a:off x="731520" y="5212080"/>
            <a:ext cx="65836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1" name="Text 6"/>
          <p:cNvSpPr txBox="1"/>
          <p:nvPr/>
        </p:nvSpPr>
        <p:spPr>
          <a:xfrm>
            <a:off x="731520" y="5623560"/>
            <a:ext cx="658368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없어 FF 기반이다. 비트당 약 11.8 µm²라 큰 월드로 가려면 SRAM이 필요하다.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txBody>
          <a:bodyPr/>
          <a:lstStyle/>
          <a:p>
            <a:endParaRPr lang="ko-KR" altLang="en-US"/>
          </a:p>
        </p:txBody>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txBody>
          <a:bodyPr/>
          <a:lstStyle/>
          <a:p>
            <a:endParaRPr lang="ko-KR" altLang="en-US"/>
          </a:p>
        </p:txBody>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txBody>
          <a:bodyPr/>
          <a:lstStyle/>
          <a:p>
            <a:endParaRPr lang="ko-KR" altLang="en-US"/>
          </a:p>
        </p:txBody>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프레임당 0.66 ms — 1.16배 여유 (병합 캐시가 roll에서 접근 많음)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txBody>
          <a:bodyPr/>
          <a:lstStyle/>
          <a:p>
            <a:endParaRPr lang="ko-KR" altLang="en-US"/>
          </a:p>
        </p:txBody>
      </p:sp>
      <p:sp>
        <p:nvSpPr>
          <p:cNvPr id="6" name="Text 2"/>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txBody>
          <a:bodyPr/>
          <a:lstStyle/>
          <a:p>
            <a:endParaRPr lang="ko-KR" altLang="en-US"/>
          </a:p>
        </p:txBody>
      </p:sp>
      <p:sp>
        <p:nvSpPr>
          <p:cNvPr id="9" name="Text 5"/>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txBody>
          <a:bodyPr/>
          <a:lstStyle/>
          <a:p>
            <a:endParaRPr lang="ko-KR" altLang="en-US"/>
          </a:p>
        </p:txBody>
      </p:sp>
      <p:sp>
        <p:nvSpPr>
          <p:cNvPr id="12" name="Text 8"/>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7132320">
                  <a:extLst>
                    <a:ext uri="{9D8B030D-6E8A-4147-A177-3AD203B41FA5}">
                      <a16:colId xmlns:a16="http://schemas.microsoft.com/office/drawing/2014/main" val="20002"/>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txBody>
          <a:bodyPr/>
          <a:lstStyle/>
          <a:p>
            <a:endParaRPr lang="ko-KR" altLang="en-US"/>
          </a:p>
        </p:txBody>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txBody>
          <a:bodyPr/>
          <a:lstStyle/>
          <a:p>
            <a:endParaRPr lang="ko-KR" altLang="en-US"/>
          </a:p>
        </p:txBody>
      </p:sp>
      <p:sp>
        <p:nvSpPr>
          <p:cNvPr id="6" name="Text 2"/>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sp>
        <p:nvSpPr>
          <p:cNvPr id="8" name="Shape 4"/>
          <p:cNvSpPr/>
          <p:nvPr/>
        </p:nvSpPr>
        <p:spPr>
          <a:xfrm>
            <a:off x="8549640" y="2971800"/>
            <a:ext cx="3063240" cy="1463040"/>
          </a:xfrm>
          <a:prstGeom prst="roundRect">
            <a:avLst>
              <a:gd name="adj" fmla="val 7500"/>
            </a:avLst>
          </a:prstGeom>
          <a:solidFill>
            <a:srgbClr val="272729"/>
          </a:solidFill>
          <a:ln w="12700">
            <a:solidFill>
              <a:srgbClr val="272729"/>
            </a:solidFill>
            <a:prstDash val="solid"/>
          </a:ln>
        </p:spPr>
        <p:txBody>
          <a:bodyPr/>
          <a:lstStyle/>
          <a:p>
            <a:endParaRPr lang="ko-KR" altLang="en-US"/>
          </a:p>
        </p:txBody>
      </p:sp>
      <p:sp>
        <p:nvSpPr>
          <p:cNvPr id="9" name="Text 5"/>
          <p:cNvSpPr txBox="1"/>
          <p:nvPr/>
        </p:nvSpPr>
        <p:spPr>
          <a:xfrm>
            <a:off x="8732520" y="30632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−71%</a:t>
            </a:r>
            <a:endParaRPr lang="en-US" sz="3600" dirty="0"/>
          </a:p>
        </p:txBody>
      </p:sp>
      <p:sp>
        <p:nvSpPr>
          <p:cNvPr id="10" name="Text 6"/>
          <p:cNvSpPr txBox="1"/>
          <p:nvPr/>
        </p:nvSpPr>
        <p:spPr>
          <a:xfrm>
            <a:off x="8732520" y="37947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blink 유휴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(유휴 긴 시험 입력 한정)</a:t>
            </a:r>
            <a:endParaRPr lang="en-US" sz="1200" dirty="0"/>
          </a:p>
        </p:txBody>
      </p:sp>
      <p:sp>
        <p:nvSpPr>
          <p:cNvPr id="11" name="Shape 7"/>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txBody>
          <a:bodyPr/>
          <a:lstStyle/>
          <a:p>
            <a:endParaRPr lang="ko-KR" altLang="en-US"/>
          </a:p>
        </p:txBody>
      </p:sp>
      <p:sp>
        <p:nvSpPr>
          <p:cNvPr id="12" name="Text 8"/>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3" name="Text 9"/>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4" name="Text 10"/>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txBody>
          <a:bodyPr/>
          <a:lstStyle/>
          <a:p>
            <a:endParaRPr lang="ko-KR" altLang="en-US"/>
          </a:p>
        </p:txBody>
      </p:sp>
      <p:sp>
        <p:nvSpPr>
          <p:cNvPr id="5" name="Text 2"/>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txBody>
          <a:bodyPr/>
          <a:lstStyle/>
          <a:p>
            <a:endParaRPr lang="ko-KR" altLang="en-US"/>
          </a:p>
        </p:txBody>
      </p:sp>
      <p:sp>
        <p:nvSpPr>
          <p:cNvPr id="8" name="Text 5"/>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기하 상수가 녹화에 맞춰져 있음 (자기보정은 float만)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txBody>
          <a:bodyPr/>
          <a:lstStyle/>
          <a:p>
            <a:endParaRPr lang="ko-KR" altLang="en-US"/>
          </a:p>
        </p:txBody>
      </p:sp>
      <p:sp>
        <p:nvSpPr>
          <p:cNvPr id="11" name="Text 8"/>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자기보정(피벗 추정)을 칩에 넣어 녹화별 상수를 없애는 것이 일반화의 핵심이다. float 검증 → 정수 기준모델 → RTL 순서.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5526</Words>
  <Application>Microsoft Office PowerPoint</Application>
  <PresentationFormat>와이드스크린</PresentationFormat>
  <Paragraphs>522</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Arial</vt:lpstr>
      <vt:lpstr>나눔스퀘어 네오 Regular</vt:lpstr>
      <vt:lpstr>나눔스퀘어 네오 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2026-10-30T05:07:14Z</dcterms:created>
  <dcterms:modified xsi:type="dcterms:W3CDTF">2026-10-30T05:15:16Z</dcterms:modified>
</cp:coreProperties>
</file>