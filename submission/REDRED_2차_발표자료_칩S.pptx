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1D21-4531-813C-A7035BB5665A}"/>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1D21-4531-813C-A7035BB5665A}"/>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1D21-4531-813C-A7035BB5665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DF64-40E3-9832-90BEEBF452F8}"/>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DF64-40E3-9832-90BEEBF452F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88A0-4363-8DE1-33DC83A1F9D6}"/>
              </c:ext>
            </c:extLst>
          </c:dPt>
          <c:dPt>
            <c:idx val="1"/>
            <c:invertIfNegative val="0"/>
            <c:bubble3D val="0"/>
            <c:spPr>
              <a:solidFill>
                <a:srgbClr val="7A7A7A"/>
              </a:solidFill>
              <a:effectLst/>
            </c:spPr>
            <c:extLst>
              <c:ext xmlns:c16="http://schemas.microsoft.com/office/drawing/2014/chart" uri="{C3380CC4-5D6E-409C-BE32-E72D297353CC}">
                <c16:uniqueId val="{00000003-88A0-4363-8DE1-33DC83A1F9D6}"/>
              </c:ext>
            </c:extLst>
          </c:dPt>
          <c:dPt>
            <c:idx val="2"/>
            <c:invertIfNegative val="0"/>
            <c:bubble3D val="0"/>
            <c:spPr>
              <a:solidFill>
                <a:srgbClr val="7A7A7A"/>
              </a:solidFill>
              <a:effectLst/>
            </c:spPr>
            <c:extLst>
              <c:ext xmlns:c16="http://schemas.microsoft.com/office/drawing/2014/chart" uri="{C3380CC4-5D6E-409C-BE32-E72D297353CC}">
                <c16:uniqueId val="{00000005-88A0-4363-8DE1-33DC83A1F9D6}"/>
              </c:ext>
            </c:extLst>
          </c:dPt>
          <c:dPt>
            <c:idx val="3"/>
            <c:invertIfNegative val="0"/>
            <c:bubble3D val="0"/>
            <c:spPr>
              <a:solidFill>
                <a:srgbClr val="7A7A7A"/>
              </a:solidFill>
              <a:effectLst/>
            </c:spPr>
            <c:extLst>
              <c:ext xmlns:c16="http://schemas.microsoft.com/office/drawing/2014/chart" uri="{C3380CC4-5D6E-409C-BE32-E72D297353CC}">
                <c16:uniqueId val="{00000007-88A0-4363-8DE1-33DC83A1F9D6}"/>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88A0-4363-8DE1-33DC83A1F9D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069553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카메라의 출력을 하나의 월드 지도로 옮기는 칩을 만들었습니다. 교수님 센서의 원본 데이터를 직접 해독해서 입력으로 쓰고, 합성부터 배치배선과 signoff까지 끝낸 풀칩이고, 그 과정의 시행착오도 함께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핵심 여섯 가지입니다. 첫째, RTL이 기준모델과 한 비트도 다르지 않습니다. 둘째, 8나노초 풀칩 signoff에서 setup 여유 2.4나노초로 통과했습니다. 셋째, 실제 roll 녹화에서 각도 오차가 0.47도입니다. 넷째, 녹화마다 맞춘 상수라는 과적합을 피벗 하나로 규명하고 데이터에서 구하는 알고리즘으로 해결했습니다. 다섯째, 센서 원본 데이터를 그대로 받습니다. 여섯째, 약 60개 후보를 측정으로 걸러냈습니다. 한계도 숨기지 않겠습니다. 출하 클록은 8나노초이고 전력은 활동도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이렇습니다. 이벤트 카메라가 회전하면 이벤트를 그대로 쌓았을 때 왼쪽처럼 소용돌이로 번집니다. 목표는 교수님 센서의 원본 이벤트를 받아 회전을 보정한 월드 맵을 칩 한 개로 만드는 것입니다. 회전은 180도 이내이고 평행 이동은 없다는 Q&amp;A 제약을 따랐습니다. 방법은 회전각 추정, 월드 좌표 계산, 월드 메모리 쓰기 세 단계이고, 오른쪽이 칩 출력입니다. 목표 지표는 실제 데이터 동작, 비트 일치, signoff, 과적합 없는 일반화입니다.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입력은 삼성 센서의 group AER 형식입니다. AER은 이벤트를 주소로 전달하는 방식이고, group은 워드 하나에 최대 16픽셀을 묶었다는 뜻입니다. 프레임 주기는 1000이 아니라 773마이크로초로 실측했습니다. 정답이 없어서 영상 두 장을 맞춰 회전각을 구하는 ECC 정합 결과를 정답 대용으로 썼고, UZH 외부 시퀀스도 같은 디코더로 통과시켰습니다.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구조입니다. 위쪽이 이벤트마다 도는 쓰기 경로이고 아래쪽이 자세 추정입니다. 번호 순서로 보면, 1번 디코더가 센서 워드를 풀고, 2번 같은 픽셀 스트림이 추정기로 가서, 3번 4프레임 창마다 각도를 구하고 CORDIC이 프레임당 한 번 변환 파라미터를 냅니다. 4번 변환 8레인이 픽셀마다 월드 좌표를 계산하고, 5번 직렬화기와 병합 캐시를 거쳐 월드 라이터가 셀의 카운터를 올려 월드 메모리에 씁니다. 각도 추정과 좌표 변환이 한 칩 안에 있어 외부 자세 입력이 필요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즉 제조 직전 최종 타이밍 검사를 했습니다. setup과 hold 여유는 신호가 너무 늦거나 빠르지 않은 시간 여유로, 양수면 통과입니다. 8나노초에서 setup 2.4나노초, hold 7피코초이고 위반은 없습니다. 논리 동등성 검사 LEC는 두 회로가 논리적으로 같음을 증명하는 검사이고 비동등 0입니다. DRC는 제조 설계 규칙 검사로 전원선 10건만 남았습니다. 전력 13밀리와트는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RTL은 회로 설계 코드이고 기준모델은 소프트웨어 정답입니다. 변환과 쓰기 경로는 roll, pan, UZH에서, 추정기는 교수님 네 구간에서, 종단은 roll 32프레임과 pan 64프레임에서 모두 불일치 0이었습니다. LEC와 SDF 게이트 시뮬레이션도 통과했고, 이 과정에서 LEC 첫 실패와 테스트벤치 결함 두 건을 잡았습니다.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정확도입니다. roll 녹화에서 ECC 정답 대비 평균 0.47도이고 최대 1.7도입니다. 왼쪽이 5초 전체의 칩 추정각과 정답 곡선이고 거의 겹칩니다. 오른쪽은 오차 분포로, pan은 평균 12픽셀입니다. 한계도 있습니다. UZH 3축 회전에서 정수 모델은 정확도 수치로 인용하지 않고 하드웨어 일치 검증용으로만 씁니다. 교수님 데이터는 회전 한 자유도라 영향이 없습니다.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칩이 만든 월드 맵입니다. 위쪽 왼쪽은 roll 녹화를 보정 없이 쌓은 소용돌이고, 오른쪽이 칩 출력으로 방의 구조가 보입니다. 응집도, 즉 지도가 얼마나 선명한지의 지표가 1.06에서 2.34로 올랐고, pan도 1.16에서 2.76으로 올랐습니다. 아래는 RTL 시뮬레이션이 월드 메모리에 쓴 값으로, 해상도는 낮지만 같은 장면이 복원됩니다.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다른 결과도 보여 드립니다. pan 녹화로 만든 파노라마, 회전 중심 기준 3D 시점 변환, 그리고 외부 UZH 시퀀스입니다. UZH는 복제 제거 전 응집도 3.18에서 자기보정과 키프레임 앵커를 쓰면 10.03으로 올라 도형이 분리되어 보입니다.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 문제입니다. 다른 녹화의 상수를 그대로 쓰면 roll이 61도 무너졌습니다. 원인은 상수 여러 개가 사실 카메라가 도는 중심, 즉 피벗 하나였다는 점이었습니다. 그래서 처음 몇 창을 3자유도로 돌려 피벗을 최소제곱으로 구하는 자기보정을 만들었고, 상수 없이 0.67도가 나옵니다. 정답 있는 합성 장면에서 독립 검증하면 피벗 반지름이 2만 픽셀이어도 프리즈 116도가 1.7도로 줄었고, 정수 모델에서는 구한 피벗이 손으로 맞춘 값보다 오차가 작았습니다.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비교해서 골랐습니다. 직접 곱셈, 곱셈기 없이 사인과 코사인을 계산하는 CORDIC, 3단 전단 분해, 렌즈 왜곡 보정을 같은 모델에서 쟀고, 곱셈기 없는 증분 변환 8레인이 출력 비트 일치를 지키면서 면적과 전력이 직접 곱셈의 약 0.44배와 0.39배였습니다. 이 이득은 8픽셀 그룹 입력과 맞물릴 때만 성립합니다.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셀에 4비트 로그 카운터를 둡니다. 난수를 이용해 확률적으로 올리기 때문에 4비트로도 큰 수까지 셉니다. 8킬로비트 하드매크로 뱅크 16개이고 약 131킬로비트입니다. 클록 게이팅, 즉 안 쓰는 행의 클록을 꺼서 평균 활성 뱅크는 roll 약 76퍼센트입니다. 교육용 PDK에 SRAM이 없어 플립플롭과 클록 게이팅이 유일하게 모든 검증이 닫힌 구현이었습니다.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시야 범위 1비트 지도 세 장으로 4프레임 창마다 후보 아홉 개를 점수 매기고 포물선으로 보정합니다. 각도가 30도 벌어지면 키프레임을 교체해 누적 오차를 막고, 모두 정수 연산입니다. 종단 처리량은 8나노초에서 프레임당 0.715밀리초로 프레임 주기 0.773 안이지만 여유가 1.08배로 얇습니다.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시행착오는 클록입니다. 5.5나노초를 목표로 했고 정적 타이밍 분석, 즉 계산으로 지연을 검사하는 방법은 통과했지만, 실제 지연값을 넣은 SDF 게이트 시뮬레이션이 느린 코너에서 맞지 않아 8나노초로 물러났습니다. 8과 12나노초에서는 bit-exact입니다. 가설 네 개를 배제했지만 원인은 규명하지 못했고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 약 60개 후보를 측정해서 걸러냈습니다. 월드 표현으로는 8픽셀 격자가 지도 상관 0.92로 가장 높았고, 로그 극좌표 0.71, 블록 부동소수점 0.6 등은 탈락했습니다. 래치 메모리는 배치 후 시뮬레이션이 24퍼센트 불일치해서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셋째, 팀의 병행 설계 라인과 메모리·물리 설계에서 얻은 것입니다. hold 위반 마이너스 30피코초는 클록 게이트 전용 셀로, 마이너스 7피코초는 mux 셀 교체로 풀었습니다. 메모리는 세 방식을 실측해 플립플롭과 클록 게이팅을 골랐고, DRC는 105건에서 10건으로 줄였습니다. 1024각도 변환은 표가 지고 직접 행렬곱이 이겼습니다. 안 닫히는 문제는 이상한 상태에서 측정하지 않았는지부터 의심했습니다.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넷째, 생체 모방입니다. 원칙은 합성 장면에서 좋아 보여도 실제 프레임과 사전 기준으로 다시 확인하는 것이었습니다. 중심와와 클러스터링, 눈 깜빡임 클록 차단, 행 단위 선택 활성화 세 개만 채택했고, 행 게이팅은 실제 DELTA 활동도에서 메모리 전력 65.5퍼센트 절감입니다. 나머지 일곱 개는 기준에 못 미쳐 기각했습니다.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19쪽은 부록으로 용어 풀이를 정리했습니다. 이벤트 카메라, AER, ECC, 피벗, 응집도부터 setup과 hold, LEC, DRC, 클록 게이팅까지 이 발표에 나온 말들이니 필요할 때 참고해 주세요.</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장점은 센서 원본을 직접 받고, 실제 roll 영상에서 0.47도이며, RTL이 기준모델과 비트 단위로 같고 signoff까지 닫혔다는 점입니다. 과적합은 피벗을 데이터에서 구하는 알고리즘으로 해결했습니다. 단점은 출하 클록이 8나노초로 물러났고 전력이 활동도 없는 값이라는 점입니다. 월드를 1024 곱하기 1024로 키우면 메모리가 면적을 지배하므로 SRAM이 필요합니다.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4쪽(생체 모방 포함)을 숨김없이 수록 (15~18쪽)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(18쪽에서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정의와 목표: 센서가 돌아도 지도는 제자리에 있어야 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100" dirty="0"/>
          </a:p>
        </p:txBody>
      </p:sp>
      <p:sp>
        <p:nvSpPr>
          <p:cNvPr id="4" name="Shape 2"/>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600" dirty="0"/>
          </a:p>
        </p:txBody>
      </p:sp>
      <p:sp>
        <p:nvSpPr>
          <p:cNvPr id="6" name="Text 4"/>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교수 센서 원본 이벤트를 받아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월드 맵을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칩 한 개로 만든다 (960×720)</a:t>
            </a:r>
            <a:endParaRPr lang="en-US" sz="1500" dirty="0"/>
          </a:p>
        </p:txBody>
      </p:sp>
      <p:sp>
        <p:nvSpPr>
          <p:cNvPr id="7" name="Shape 5"/>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7"/>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8"/>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달성 방법 (요약, 5쪽)</a:t>
            </a:r>
            <a:endParaRPr lang="en-US" sz="1600" dirty="0"/>
          </a:p>
        </p:txBody>
      </p:sp>
      <p:sp>
        <p:nvSpPr>
          <p:cNvPr id="12" name="Text 10"/>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submission\figs\hs_A1_roll.png"/>
          <p:cNvPicPr>
            <a:picLocks noChangeAspect="1"/>
          </p:cNvPicPr>
          <p:nvPr/>
        </p:nvPicPr>
        <p:blipFill>
          <a:blip r:embed="rId3"/>
          <a:stretch>
            <a:fillRect/>
          </a:stretch>
        </p:blipFill>
        <p:spPr>
          <a:xfrm>
            <a:off x="548640" y="3291840"/>
            <a:ext cx="6492240" cy="3182112"/>
          </a:xfrm>
          <a:prstGeom prst="rect">
            <a:avLst/>
          </a:prstGeom>
        </p:spPr>
      </p:pic>
      <p:sp>
        <p:nvSpPr>
          <p:cNvPr id="14"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5"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목표 지표</a:t>
            </a:r>
            <a:endParaRPr lang="en-US" sz="1700" dirty="0"/>
          </a:p>
        </p:txBody>
      </p:sp>
      <p:sp>
        <p:nvSpPr>
          <p:cNvPr id="16"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 (8쪽)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 (7쪽)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배치배선·signoff까지 닫혔는가 (6쪽)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녹화별 과적합 없이 일반화하는가 (11쪽)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 (20쪽)</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 · 입력</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(이벤트를 주소로 전달하는 AER 방식 중, 워드 1개에 최대 16픽셀을 묶음).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ECC(영상 두 장을 맞춰 회전각을 구하는 방법)로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Shape 2"/>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sp>
      <p:sp>
        <p:nvSpPr>
          <p:cNvPr id="6" name="Text 3"/>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4"/>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하나의 칩 안에서 각도를 구하고, 그 각도로 지도를 쓴다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달성 방법</a:t>
            </a:r>
            <a:endParaRPr lang="en-US" sz="1100" dirty="0"/>
          </a:p>
        </p:txBody>
      </p:sp>
      <p:pic>
        <p:nvPicPr>
          <p:cNvPr id="4" name="Image 0" descr="C:\SNU\포트폴리오\전국AI반도체경진대회\submission\figs\chipS_arch.png"/>
          <p:cNvPicPr>
            <a:picLocks noChangeAspect="1"/>
          </p:cNvPicPr>
          <p:nvPr/>
        </p:nvPicPr>
        <p:blipFill>
          <a:blip r:embed="rId3"/>
          <a:stretch>
            <a:fillRect/>
          </a:stretch>
        </p:blipFill>
        <p:spPr>
          <a:xfrm>
            <a:off x="1097280" y="1234440"/>
            <a:ext cx="9966960" cy="4946904"/>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2"/>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6583680" y="5120640"/>
            <a:ext cx="5029200" cy="7315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용어: setup/hold 여유 = 신호가 너무 늦지(setup)·빠르지(hold) 않은 시간 여유(양수면 통과), LEC = 두 회로가 논리적으로 같음을 증명, DRC = 제조 설계 규칙 검사, signoff = 제조 직전 최종 검사 (19쪽 용어 풀이)</a:t>
            </a:r>
            <a:endParaRPr lang="en-US" sz="1000" dirty="0"/>
          </a:p>
        </p:txBody>
      </p:sp>
      <p:sp>
        <p:nvSpPr>
          <p:cNvPr id="8" name="Text 4"/>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실측(18쪽)으로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(RTL = 회로 설계 코드, 기준모델 = 소프트웨어 정답)</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 (불일치 0 = 한 비트도 다르지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3"/>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4"/>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hs_C3_roll_ecc.png"/>
          <p:cNvPicPr>
            <a:picLocks noChangeAspect="1"/>
          </p:cNvPicPr>
          <p:nvPr/>
        </p:nvPicPr>
        <p:blipFill>
          <a:blip r:embed="rId3"/>
          <a:stretch>
            <a:fillRect/>
          </a:stretch>
        </p:blipFill>
        <p:spPr>
          <a:xfrm>
            <a:off x="548640" y="3611880"/>
            <a:ext cx="4206240" cy="2624328"/>
          </a:xfrm>
          <a:prstGeom prst="rect">
            <a:avLst/>
          </a:prstGeom>
        </p:spPr>
      </p:pic>
      <p:pic>
        <p:nvPicPr>
          <p:cNvPr id="6" name="Image 1" descr="C:\SNU\포트폴리오\전국AI반도체경진대회\submission\figs\hs_C5b_err_hist.png"/>
          <p:cNvPicPr>
            <a:picLocks noChangeAspect="1"/>
          </p:cNvPicPr>
          <p:nvPr/>
        </p:nvPicPr>
        <p:blipFill>
          <a:blip r:embed="rId4"/>
          <a:stretch>
            <a:fillRect/>
          </a:stretch>
        </p:blipFill>
        <p:spPr>
          <a:xfrm>
            <a:off x="4937760" y="3611880"/>
            <a:ext cx="6675120" cy="2368296"/>
          </a:xfrm>
          <a:prstGeom prst="rect">
            <a:avLst/>
          </a:prstGeom>
        </p:spPr>
      </p:pic>
      <p:sp>
        <p:nvSpPr>
          <p:cNvPr id="7" name="Text 2"/>
          <p:cNvSpPr txBox="1"/>
          <p:nvPr/>
        </p:nvSpPr>
        <p:spPr>
          <a:xfrm>
            <a:off x="4937760" y="6016752"/>
            <a:ext cx="667512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있어 교수 데이터와 UZH 정확도는 직접 비교하지 않는다. 빠른 3축 회전에서는 추적을 잃으면 도형이 복제되는 한계가 남아 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 S가 만든 월드 맵: 보정 전 소용돌이가 방의 구조로 바뀐다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hs_A1_roll.png"/>
          <p:cNvPicPr>
            <a:picLocks noChangeAspect="1"/>
          </p:cNvPicPr>
          <p:nvPr/>
        </p:nvPicPr>
        <p:blipFill>
          <a:blip r:embed="rId3"/>
          <a:stretch>
            <a:fillRect/>
          </a:stretch>
        </p:blipFill>
        <p:spPr>
          <a:xfrm>
            <a:off x="548640" y="1188720"/>
            <a:ext cx="5486400" cy="2688336"/>
          </a:xfrm>
          <a:prstGeom prst="rect">
            <a:avLst/>
          </a:prstGeom>
        </p:spPr>
      </p:pic>
      <p:pic>
        <p:nvPicPr>
          <p:cNvPr id="5" name="Image 1" descr="C:\SNU\포트폴리오\전국AI반도체경진대회\submission\figs\hs_A2_pan.png"/>
          <p:cNvPicPr>
            <a:picLocks noChangeAspect="1"/>
          </p:cNvPicPr>
          <p:nvPr/>
        </p:nvPicPr>
        <p:blipFill>
          <a:blip r:embed="rId4"/>
          <a:stretch>
            <a:fillRect/>
          </a:stretch>
        </p:blipFill>
        <p:spPr>
          <a:xfrm>
            <a:off x="6217920" y="1188720"/>
            <a:ext cx="5394960" cy="1325880"/>
          </a:xfrm>
          <a:prstGeom prst="rect">
            <a:avLst/>
          </a:prstGeom>
        </p:spPr>
      </p:pic>
      <p:sp>
        <p:nvSpPr>
          <p:cNvPr id="6" name="Text 2"/>
          <p:cNvSpPr txBox="1"/>
          <p:nvPr/>
        </p:nvSpPr>
        <p:spPr>
          <a:xfrm>
            <a:off x="6217920" y="2560320"/>
            <a:ext cx="5394960" cy="5029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교수님 roll·pan 녹화 전체: 이벤트를 그대로 쌓은 것(왼쪽) 대 칩 S 출력(오른쪽), 동일 스케일. 응집도(지도 선명도, 높을수록 선명) roll 1.06 → 2.34, pan 1.16 → 2.76.</a:t>
            </a:r>
            <a:endParaRPr lang="en-US" sz="1000" dirty="0"/>
          </a:p>
        </p:txBody>
      </p:sp>
      <p:pic>
        <p:nvPicPr>
          <p:cNvPr id="7" name="Image 2" descr="C:\SNU\포트폴리오\전국AI반도체경진대회\submission\figs\chip_roll_world.png"/>
          <p:cNvPicPr>
            <a:picLocks noChangeAspect="1"/>
          </p:cNvPicPr>
          <p:nvPr/>
        </p:nvPicPr>
        <p:blipFill>
          <a:blip r:embed="rId5"/>
          <a:stretch>
            <a:fillRect/>
          </a:stretch>
        </p:blipFill>
        <p:spPr>
          <a:xfrm>
            <a:off x="548640" y="4023360"/>
            <a:ext cx="5120640" cy="1911096"/>
          </a:xfrm>
          <a:prstGeom prst="rect">
            <a:avLst/>
          </a:prstGeom>
        </p:spPr>
      </p:pic>
      <p:sp>
        <p:nvSpPr>
          <p:cNvPr id="8" name="Text 3"/>
          <p:cNvSpPr txBox="1"/>
          <p:nvPr/>
        </p:nvSpPr>
        <p:spPr>
          <a:xfrm>
            <a:off x="548640" y="5961888"/>
            <a:ext cx="512064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RTL 시뮬 roll 32프레임: 보정 없음 / 칩 출력 / 보정 피벗 설정</a:t>
            </a:r>
            <a:endParaRPr lang="en-US" sz="1000" dirty="0"/>
          </a:p>
        </p:txBody>
      </p:sp>
      <p:pic>
        <p:nvPicPr>
          <p:cNvPr id="9" name="Image 3" descr="C:\SNU\포트폴리오\전국AI반도체경진대회\submission\figs\hs_E9_roll.png"/>
          <p:cNvPicPr>
            <a:picLocks noChangeAspect="1"/>
          </p:cNvPicPr>
          <p:nvPr/>
        </p:nvPicPr>
        <p:blipFill>
          <a:blip r:embed="rId6"/>
          <a:stretch>
            <a:fillRect/>
          </a:stretch>
        </p:blipFill>
        <p:spPr>
          <a:xfrm>
            <a:off x="6217920" y="3154680"/>
            <a:ext cx="2286000" cy="2048256"/>
          </a:xfrm>
          <a:prstGeom prst="rect">
            <a:avLst/>
          </a:prstGeom>
        </p:spPr>
      </p:pic>
      <p:sp>
        <p:nvSpPr>
          <p:cNvPr id="10" name="Text 4"/>
          <p:cNvSpPr txBox="1"/>
          <p:nvPr/>
        </p:nvSpPr>
        <p:spPr>
          <a:xfrm>
            <a:off x="6217920" y="5230368"/>
            <a:ext cx="2286000" cy="36576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칩 월드 메모리 내용 (4비트 로그 카운터)</a:t>
            </a:r>
            <a:endParaRPr lang="en-US" sz="1000" dirty="0"/>
          </a:p>
        </p:txBody>
      </p:sp>
      <p:pic>
        <p:nvPicPr>
          <p:cNvPr id="11" name="Image 4" descr="C:\SNU\포트폴리오\전국AI반도체경진대회\submission\figs\chip_map_growth.png"/>
          <p:cNvPicPr>
            <a:picLocks noChangeAspect="1"/>
          </p:cNvPicPr>
          <p:nvPr/>
        </p:nvPicPr>
        <p:blipFill>
          <a:blip r:embed="rId7"/>
          <a:stretch>
            <a:fillRect/>
          </a:stretch>
        </p:blipFill>
        <p:spPr>
          <a:xfrm>
            <a:off x="8686800" y="3200400"/>
            <a:ext cx="2926080" cy="667512"/>
          </a:xfrm>
          <a:prstGeom prst="rect">
            <a:avLst/>
          </a:prstGeom>
        </p:spPr>
      </p:pic>
      <p:sp>
        <p:nvSpPr>
          <p:cNvPr id="12" name="Text 5"/>
          <p:cNvSpPr txBox="1"/>
          <p:nvPr/>
        </p:nvSpPr>
        <p:spPr>
          <a:xfrm>
            <a:off x="8686800" y="3886200"/>
            <a:ext cx="292608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프레임이 쌓이며 지도가 자란다 (2→32프레임)</a:t>
            </a:r>
            <a:endParaRPr lang="en-US" sz="1000" dirty="0"/>
          </a:p>
        </p:txBody>
      </p:sp>
      <p:sp>
        <p:nvSpPr>
          <p:cNvPr id="13" name="Text 6"/>
          <p:cNvSpPr txBox="1"/>
          <p:nvPr/>
        </p:nvSpPr>
        <p:spPr>
          <a:xfrm>
            <a:off x="8686800" y="4297680"/>
            <a:ext cx="2926080" cy="20116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읽는 법: 위쪽 두 그림은 녹화 전체를 칩 모델에 통과시킨 월드 맵이고, 왼쪽 아래 RTL 시뮬 그림은 칩 RTL이 실제로 월드 메모리에 쓴 값(8 px 셀)이다. RTL = 기준모델이 비트 단위로 같아서 같은 장면을 보여 준다.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지도 모음: pan 파노라마, 3D 시점, 외부 UZH 데이터</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2"/>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hs_B_shapes.png"/>
          <p:cNvPicPr>
            <a:picLocks noChangeAspect="1"/>
          </p:cNvPicPr>
          <p:nvPr/>
        </p:nvPicPr>
        <p:blipFill>
          <a:blip r:embed="rId4"/>
          <a:stretch>
            <a:fillRect/>
          </a:stretch>
        </p:blipFill>
        <p:spPr>
          <a:xfrm>
            <a:off x="548640" y="3200400"/>
            <a:ext cx="5486400" cy="2450592"/>
          </a:xfrm>
          <a:prstGeom prst="rect">
            <a:avLst/>
          </a:prstGeom>
        </p:spPr>
      </p:pic>
      <p:sp>
        <p:nvSpPr>
          <p:cNvPr id="7" name="Text 3"/>
          <p:cNvSpPr txBox="1"/>
          <p:nvPr/>
        </p:nvSpPr>
        <p:spPr>
          <a:xfrm>
            <a:off x="548640" y="5687568"/>
            <a:ext cx="548640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외부 UZH shapes_rotation(59초) 칩 S 월드 맵: 복제 제거 전(왼쪽) 대 자기보정+키프레임 앵커(오른쪽), 응집도 3.18 → 10.03</a:t>
            </a:r>
            <a:endParaRPr lang="en-US" sz="10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4"/>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5"/>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3401568"/>
            <a:ext cx="722376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피벗 = 카메라가 도는 중심. 자기보정: 3자유도로 (θ, tx, ty)를 모아 t = (R(θ)−I)·u 최소제곱으로 피벗 u를 구함, r² 0.9 이상이면 1자유도 고정</a:t>
            </a:r>
            <a:endParaRPr lang="en-US" sz="1000" dirty="0"/>
          </a:p>
        </p:txBody>
      </p:sp>
      <p:pic>
        <p:nvPicPr>
          <p:cNvPr id="6" name="Image 0" descr="C:\SNU\포트폴리오\전국AI반도체경진대회\submission\figs\hs_D6_roll.png"/>
          <p:cNvPicPr>
            <a:picLocks noChangeAspect="1"/>
          </p:cNvPicPr>
          <p:nvPr/>
        </p:nvPicPr>
        <p:blipFill>
          <a:blip r:embed="rId3"/>
          <a:stretch>
            <a:fillRect/>
          </a:stretch>
        </p:blipFill>
        <p:spPr>
          <a:xfrm>
            <a:off x="8046720" y="1325880"/>
            <a:ext cx="3566160" cy="1609344"/>
          </a:xfrm>
          <a:prstGeom prst="rect">
            <a:avLst/>
          </a:prstGeom>
        </p:spPr>
      </p:pic>
      <p:sp>
        <p:nvSpPr>
          <p:cNvPr id="7" name="Text 3"/>
          <p:cNvSpPr txBox="1"/>
          <p:nvPr/>
        </p:nvSpPr>
        <p:spPr>
          <a:xfrm>
            <a:off x="8046720" y="2953512"/>
            <a:ext cx="356616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다른 녹화의 상수를 쓰면(왼쪽) 번지고, 자기 녹화 상수(오른쪽)면 방이 보인다. roll, 응집도 1.28 대 2.34</a:t>
            </a:r>
            <a:endParaRPr lang="en-US" sz="1000" dirty="0"/>
          </a:p>
        </p:txBody>
      </p:sp>
      <p:graphicFrame>
        <p:nvGraphicFramePr>
          <p:cNvPr id="8" name="Chart 0"/>
          <p:cNvGraphicFramePr/>
          <p:nvPr/>
        </p:nvGraphicFramePr>
        <p:xfrm>
          <a:off x="548640" y="3749040"/>
          <a:ext cx="73152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4"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 (곱셈기 없이 사인·코사인 계산)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3"/>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4"/>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(난수 LFSR로 확률적으로 올려 큰 수까지 셈),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(평균 활성 뱅크 roll 약 76%, pan 약 97%, 행우선 선형 배치 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2"/>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3"/>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4"/>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5"/>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6"/>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sp>
        <p:nvSpPr>
          <p:cNvPr id="4" name="Shape 2"/>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4"/>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5"/>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7"/>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8"/>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10"/>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앵커(기준 프레임):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1"/>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 계산으로 지연 검사)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 실제 지연값 시뮬)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3"/>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4"/>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5"/>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6"/>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7"/>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8"/>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9"/>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10"/>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병행 설계 라인과 메모리·물리 설계에서 겪은 것들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548640">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셀(클록 게이트 전용 셀)로 +0.080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CTS(클록 트리 합성)가 래치를 말단으로 보고 AND보다 0.2 ns 일찍 엶</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FF+클록 게이팅 11.8 µm²/bit만 레이아웃·추출·게이트 시뮬이 모두 닫힘 (게이팅 없음 15.5, 래치는 배치 후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교육용 PDK 제약 안에서 실측으로 고름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객체까지 지워 전원 오픈 발생 → 사전 검사 후 한 번만 적용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안 닫히면 이상한 상태에서 측정했는지부터 의심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생체 모방은 실제 데이터로 이긴 3개만 남겼다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2"/>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3"/>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4"/>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5"/>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6"/>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7"/>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8"/>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9"/>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용어 풀이: 이 발표에서 쓰는 말들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부록</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6692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용어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뜻</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이벤트 카메라 (DVS)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밝기가 변한 픽셀만 (주소, 극성)으로 내보내는 센서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AER / group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이벤트를 주소로 전달하는 방식. group AER는 한 워드에 최대 16픽셀을 묶음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ECC 정합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영상 두 장을 맞춰 회전각을 구하는 방법 (정답 대용)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피벗 (회전 중심)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카메라가 도는 중심점. 이 위치가 틀리면 지도가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응집도 (Cocc)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월드 맵이 얼마나 선명하게 쌓였는지의 지표 (높을수록 선명)</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월드 메모리 / 월드 맵</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좌표에 이벤트를 쌓아 만든 지도 (칩 안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Morris 로그 카운터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확률적으로 올려 4비트로 큰 수까지 세는 카운터 (LFSR = 난수 발생기)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없이 사인·코사인을 계산하는 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56692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용어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뜻</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 bit-exact</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회로 설계 코드 / 소프트웨어 정답 모델 / 한 비트도 다르지 않음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P&amp;R · signoff</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배치배선 / 제조 직전 최종 타이밍·규칙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setup · hold 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신호가 너무 늦지 않고(setup) 너무 빠르지 않은(hold) 시간 여유. 양수면 통과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STA / SDF 게이트 시뮬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계산으로 지연을 검사 / 실제 지연값을 넣은 회로 시뮬레이션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두 넷리스트가 논리적으로 같음을 증명하는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제조 설계 규칙 검사 · 제조 중 전하 손상 규칙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클록 게이팅</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안 쓰는 부분의 클록을 꺼서 전력을 줄이는 기법 (ICG = 게이트 전용 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 / 프리즈</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기준이 되는 프레임(각도가 벌어지면 교체) / 다른 녹화의 상수를 그대로 고정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장단점 · 고려 사항</a:t>
            </a:r>
            <a:endParaRPr lang="en-US" sz="1100" dirty="0"/>
          </a:p>
        </p:txBody>
      </p:sp>
      <p:sp>
        <p:nvSpPr>
          <p:cNvPr id="4" name="Shape 2"/>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3"/>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4"/>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5"/>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6"/>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7"/>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8"/>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9"/>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10"/>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4749</Words>
  <Application>Microsoft Office PowerPoint</Application>
  <PresentationFormat>와이드스크린</PresentationFormat>
  <Paragraphs>481</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Bold</vt:lpstr>
      <vt:lpstr>Arial</vt:lpstr>
      <vt:lpstr>나눔스퀘어 네오 Regular</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2026-10-30T07:29:41Z</dcterms:created>
  <dcterms:modified xsi:type="dcterms:W3CDTF">2026-10-30T07:29:52Z</dcterms:modified>
</cp:coreProperties>
</file>