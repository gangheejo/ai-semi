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정답 있는 합성 장면: 각도 오차 (°)</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567E-4D1B-A4E2-454C5C1F7EDD}"/>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567E-4D1B-A4E2-454C5C1F7EDD}"/>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567E-4D1B-A4E2-454C5C1F7EDD}"/>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직접 곱셈 대비 상대값 (작을수록 좋음)</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1E5E-40FC-8073-21241D53B19F}"/>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1E5E-40FC-8073-21241D53B19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월드 표현별 지도 상관 (높을수록 좋음)</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625D-4678-9BB1-BC8BFBF24915}"/>
              </c:ext>
            </c:extLst>
          </c:dPt>
          <c:dPt>
            <c:idx val="1"/>
            <c:invertIfNegative val="0"/>
            <c:bubble3D val="0"/>
            <c:spPr>
              <a:solidFill>
                <a:srgbClr val="7A7A7A"/>
              </a:solidFill>
              <a:effectLst/>
            </c:spPr>
            <c:extLst>
              <c:ext xmlns:c16="http://schemas.microsoft.com/office/drawing/2014/chart" uri="{C3380CC4-5D6E-409C-BE32-E72D297353CC}">
                <c16:uniqueId val="{00000003-625D-4678-9BB1-BC8BFBF24915}"/>
              </c:ext>
            </c:extLst>
          </c:dPt>
          <c:dPt>
            <c:idx val="2"/>
            <c:invertIfNegative val="0"/>
            <c:bubble3D val="0"/>
            <c:spPr>
              <a:solidFill>
                <a:srgbClr val="7A7A7A"/>
              </a:solidFill>
              <a:effectLst/>
            </c:spPr>
            <c:extLst>
              <c:ext xmlns:c16="http://schemas.microsoft.com/office/drawing/2014/chart" uri="{C3380CC4-5D6E-409C-BE32-E72D297353CC}">
                <c16:uniqueId val="{00000005-625D-4678-9BB1-BC8BFBF24915}"/>
              </c:ext>
            </c:extLst>
          </c:dPt>
          <c:dPt>
            <c:idx val="3"/>
            <c:invertIfNegative val="0"/>
            <c:bubble3D val="0"/>
            <c:spPr>
              <a:solidFill>
                <a:srgbClr val="7A7A7A"/>
              </a:solidFill>
              <a:effectLst/>
            </c:spPr>
            <c:extLst>
              <c:ext xmlns:c16="http://schemas.microsoft.com/office/drawing/2014/chart" uri="{C3380CC4-5D6E-409C-BE32-E72D297353CC}">
                <c16:uniqueId val="{00000007-625D-4678-9BB1-BC8BFBF24915}"/>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625D-4678-9BB1-BC8BFBF2491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39049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해결 알고리즘으로 61도 붕괴가 0.67도로 줄어드는 것을 정답 있는 합성 장면에서 독립적으로 확인했습니다. 칩은 이 상수를 설정 레지스터로 받는 구조입니다. 다섯째, 교수님 센서의 원본 데이터를 직접 해독해서 칩이 그대로 받습니다. 여섯째, 후보 약 60개를 측정으로 걸러냈고 안 된 것과 고친 과정도 다섯 쪽에 걸쳐 모두 적었습니다. 그리고 한계도 있습니다. 출하 클록은 8나노초이고,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보정 없이 센서 좌표에 그대로 쌓은 결과이고, 가운데는 칩 RTL 시뮬레이션이 실제 roll 녹화 32프레임을 받아 월드 메모리에 쓴 결과입니다. 8픽셀 셀에 4비트 로그 카운터라 해상도는 낮지만 방의 구조가 복원됩니다. 오른쪽은 같은 칩에 자기보정이 구한 피벗을 설정한 결과로, 같은 모양이 나옵니다.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위쪽은 pan 녹화로 만든 월드 지도 파노라마이고, 방과 광학 테이블의 구조가 이어져 보입니다. 아래는 회전만으로 복원한 월드 지도를 회전 중심 기준 상대 3D 점구름으로 보고, 수직축으로 마이너스 35도와 플러스 35도 돌려 본 것입니다. 이 그림들은 우리 소프트웨어 모델로 만든 시각화이고 칩의 출력 형식과 같은 월드 좌표를 씁니다.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과적합의 원인은 녹화마다 손으로 맞춘 상수가 사실 피벗 하나라는 점이었습니다. 다른 녹화의 상수를 그대로 쓰면 roll이 61도 무너지지만, 피벗을 데이터에서 구하는 자기보정으로 0.67도가 됩니다. 처음 몇 창을 3자유도로 돌려 각도와 이동량을 모으고 최소제곱으로 피벗을 구한 뒤 한 자유도로 고정합니다. 정수 기준모델에서도 확인했고, 구한 피벗의 각도 오차 0.405도는 손으로 맞춘 피벗의 0.467도보다 작았습니다. 아래 표는 정답 있는 합성 장면에서 독립적으로 검증한 결과입니다. 피벗 반지름이 50에서 20,000픽셀까지 변해도 프리즈 방식은 8도에서 116도로 무너지는 반면 자기보정은 0.2에서 1.7도를 유지합니다. 기준은 코드보다 먼저 커밋했고 실패한 기준도 그대로 보고합니다.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과적합은 피벗을 데이터에서 구하는 알고리즘으로 해결했습니다. 단점은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icPr>
            <a:picLocks noChangeAspect="1"/>
          </p:cNvPicPr>
          <p:nvPr/>
        </p:nvPicPr>
        <p:blipFill>
          <a:blip r:embed="rId3"/>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36576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4206240"/>
            <a:ext cx="649224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731520" y="4343400"/>
            <a:ext cx="6126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4754880"/>
            <a:ext cx="6126480" cy="1417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입력은 회전 중에 프레임당 수십만~수백만 이벤트가 몰리는 실제 센서 데이터다 (오른쪽: roll 녹화 100 ms 간격 이벤트 프레임).</a:t>
            </a:r>
            <a:endParaRPr lang="en-US" sz="1300" dirty="0"/>
          </a:p>
        </p:txBody>
      </p:sp>
      <p:pic>
        <p:nvPicPr>
          <p:cNvPr id="8" name="Image 0" descr="C:\SNU\포트폴리오\전국AI반도체경진대회\submission\figs\raw_frames_roll.png"/>
          <p:cNvPicPr>
            <a:picLocks noChangeAspect="1"/>
          </p:cNvPicPr>
          <p:nvPr/>
        </p:nvPicPr>
        <p:blipFill>
          <a:blip r:embed="rId3"/>
          <a:stretch>
            <a:fillRect/>
          </a:stretch>
        </p:blipFill>
        <p:spPr>
          <a:xfrm>
            <a:off x="7269480" y="4160520"/>
            <a:ext cx="4343400" cy="2240280"/>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5" name="Image 0" descr="C:\SNU\포트폴리오\전국AI반도체경진대회\submission\figs\chip_theta_vs_ecc.png"/>
          <p:cNvPicPr>
            <a:picLocks noChangeAspect="1"/>
          </p:cNvPicPr>
          <p:nvPr/>
        </p:nvPicPr>
        <p:blipFill>
          <a:blip r:embed="rId3"/>
          <a:stretch>
            <a:fillRect/>
          </a:stretch>
        </p:blipFill>
        <p:spPr>
          <a:xfrm>
            <a:off x="548640" y="3657600"/>
            <a:ext cx="7772400" cy="2569464"/>
          </a:xfrm>
          <a:prstGeom prst="rect">
            <a:avLst/>
          </a:prstGeom>
        </p:spPr>
      </p:pic>
      <p:sp>
        <p:nvSpPr>
          <p:cNvPr id="6" name="Shape 1"/>
          <p:cNvSpPr/>
          <p:nvPr/>
        </p:nvSpPr>
        <p:spPr>
          <a:xfrm>
            <a:off x="8503920" y="3657600"/>
            <a:ext cx="3108960" cy="1280160"/>
          </a:xfrm>
          <a:prstGeom prst="roundRect">
            <a:avLst>
              <a:gd name="adj" fmla="val 8571"/>
            </a:avLst>
          </a:prstGeom>
          <a:solidFill>
            <a:srgbClr val="FFFFFF"/>
          </a:solidFill>
          <a:ln w="9525">
            <a:solidFill>
              <a:srgbClr val="E0E0E0"/>
            </a:solidFill>
            <a:prstDash val="solid"/>
          </a:ln>
        </p:spPr>
      </p:sp>
      <p:sp>
        <p:nvSpPr>
          <p:cNvPr id="7" name="Text 2"/>
          <p:cNvSpPr txBox="1"/>
          <p:nvPr/>
        </p:nvSpPr>
        <p:spPr>
          <a:xfrm>
            <a:off x="8686800" y="3794760"/>
            <a:ext cx="2743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8" name="Text 3"/>
          <p:cNvSpPr txBox="1"/>
          <p:nvPr/>
        </p:nvSpPr>
        <p:spPr>
          <a:xfrm>
            <a:off x="8686800" y="4206240"/>
            <a:ext cx="2743200" cy="5943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100" dirty="0"/>
          </a:p>
        </p:txBody>
      </p:sp>
      <p:sp>
        <p:nvSpPr>
          <p:cNvPr id="3" name="Shape 4"/>
          <p:cNvSpPr/>
          <p:nvPr/>
        </p:nvSpPr>
        <p:spPr>
          <a:xfrm>
            <a:off x="8503920" y="5029200"/>
            <a:ext cx="3108960" cy="1280160"/>
          </a:xfrm>
          <a:prstGeom prst="roundRect">
            <a:avLst>
              <a:gd name="adj" fmla="val 8571"/>
            </a:avLst>
          </a:prstGeom>
          <a:solidFill>
            <a:srgbClr val="FFFFFF"/>
          </a:solidFill>
          <a:ln w="9525">
            <a:solidFill>
              <a:srgbClr val="E0E0E0"/>
            </a:solidFill>
            <a:prstDash val="solid"/>
          </a:ln>
        </p:spPr>
      </p:sp>
      <p:sp>
        <p:nvSpPr>
          <p:cNvPr id="10" name="Text 5"/>
          <p:cNvSpPr txBox="1"/>
          <p:nvPr/>
        </p:nvSpPr>
        <p:spPr>
          <a:xfrm>
            <a:off x="8686800" y="5166360"/>
            <a:ext cx="2743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1" name="Text 6"/>
          <p:cNvSpPr txBox="1"/>
          <p:nvPr/>
        </p:nvSpPr>
        <p:spPr>
          <a:xfrm>
            <a:off x="8686800" y="5577840"/>
            <a:ext cx="2743200" cy="5943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칩이 쓴 월드 메모리: 보정 없이 쌓으면 번지고, 칩 출력에는 방이 보인다</a:t>
            </a:r>
            <a:endParaRPr lang="en-US" sz="2600" dirty="0"/>
          </a:p>
        </p:txBody>
      </p:sp>
      <p:pic>
        <p:nvPicPr>
          <p:cNvPr id="4" name="Image 0" descr="C:\SNU\포트폴리오\전국AI반도체경진대회\submission\figs\chip_roll_world.png"/>
          <p:cNvPicPr>
            <a:picLocks noChangeAspect="1"/>
          </p:cNvPicPr>
          <p:nvPr/>
        </p:nvPicPr>
        <p:blipFill>
          <a:blip r:embed="rId3"/>
          <a:stretch>
            <a:fillRect/>
          </a:stretch>
        </p:blipFill>
        <p:spPr>
          <a:xfrm>
            <a:off x="548640" y="1234440"/>
            <a:ext cx="7772400" cy="2898648"/>
          </a:xfrm>
          <a:prstGeom prst="rect">
            <a:avLst/>
          </a:prstGeom>
        </p:spPr>
      </p:pic>
      <p:pic>
        <p:nvPicPr>
          <p:cNvPr id="5" name="Image 1" descr="C:\SNU\포트폴리오\전국AI반도체경진대회\submission\figs\chip_map_growth.png"/>
          <p:cNvPicPr>
            <a:picLocks noChangeAspect="1"/>
          </p:cNvPicPr>
          <p:nvPr/>
        </p:nvPicPr>
        <p:blipFill>
          <a:blip r:embed="rId4"/>
          <a:stretch>
            <a:fillRect/>
          </a:stretch>
        </p:blipFill>
        <p:spPr>
          <a:xfrm>
            <a:off x="1097280" y="4206240"/>
            <a:ext cx="9509760" cy="2157984"/>
          </a:xfrm>
          <a:prstGeom prst="rect">
            <a:avLst/>
          </a:prstGeom>
        </p:spPr>
      </p:pic>
      <p:sp>
        <p:nvSpPr>
          <p:cNvPr id="6" name="Shape 1"/>
          <p:cNvSpPr/>
          <p:nvPr/>
        </p:nvSpPr>
        <p:spPr>
          <a:xfrm>
            <a:off x="8503920" y="1280160"/>
            <a:ext cx="3108960" cy="1417320"/>
          </a:xfrm>
          <a:prstGeom prst="roundRect">
            <a:avLst>
              <a:gd name="adj" fmla="val 7742"/>
            </a:avLst>
          </a:prstGeom>
          <a:solidFill>
            <a:srgbClr val="FFFFFF"/>
          </a:solidFill>
          <a:ln w="9525">
            <a:solidFill>
              <a:srgbClr val="E0E0E0"/>
            </a:solidFill>
            <a:prstDash val="solid"/>
          </a:ln>
        </p:spPr>
      </p:sp>
      <p:sp>
        <p:nvSpPr>
          <p:cNvPr id="7" name="Text 2"/>
          <p:cNvSpPr txBox="1"/>
          <p:nvPr/>
        </p:nvSpPr>
        <p:spPr>
          <a:xfrm>
            <a:off x="8686800" y="1417320"/>
            <a:ext cx="2743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무엇을 본 것인가</a:t>
            </a:r>
            <a:endParaRPr lang="en-US" sz="1600" dirty="0"/>
          </a:p>
        </p:txBody>
      </p:sp>
      <p:sp>
        <p:nvSpPr>
          <p:cNvPr id="8" name="Text 3"/>
          <p:cNvSpPr txBox="1"/>
          <p:nvPr/>
        </p:nvSpPr>
        <p:spPr>
          <a:xfrm>
            <a:off x="8686800" y="1828800"/>
            <a:ext cx="2743200" cy="73152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roll 녹화 32프레임 → 칩 RTL 시뮬레이션이 쓴 월드 메모리 내용(8 px 셀, 4비트).</a:t>
            </a:r>
            <a:endParaRPr lang="en-US" sz="1100" dirty="0"/>
          </a:p>
        </p:txBody>
      </p:sp>
      <p:sp>
        <p:nvSpPr>
          <p:cNvPr id="9" name="Shape 4"/>
          <p:cNvSpPr/>
          <p:nvPr/>
        </p:nvSpPr>
        <p:spPr>
          <a:xfrm>
            <a:off x="8503920" y="2788920"/>
            <a:ext cx="3108960" cy="1371600"/>
          </a:xfrm>
          <a:prstGeom prst="roundRect">
            <a:avLst>
              <a:gd name="adj" fmla="val 8000"/>
            </a:avLst>
          </a:prstGeom>
          <a:solidFill>
            <a:srgbClr val="FFFFFF"/>
          </a:solidFill>
          <a:ln w="9525">
            <a:solidFill>
              <a:srgbClr val="E0E0E0"/>
            </a:solidFill>
            <a:prstDash val="solid"/>
          </a:ln>
        </p:spPr>
      </p:sp>
      <p:sp>
        <p:nvSpPr>
          <p:cNvPr id="10" name="Text 5"/>
          <p:cNvSpPr txBox="1"/>
          <p:nvPr/>
        </p:nvSpPr>
        <p:spPr>
          <a:xfrm>
            <a:off x="8686800" y="2926080"/>
            <a:ext cx="2743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11" name="Text 6"/>
          <p:cNvSpPr txBox="1"/>
          <p:nvPr/>
        </p:nvSpPr>
        <p:spPr>
          <a:xfrm>
            <a:off x="8686800" y="3337560"/>
            <a:ext cx="2743200" cy="68580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왼쪽은 같은 이벤트를 회전 보정 없이 쌓은 것. 가운데·오른쪽은 칩 출력으로, 보정 피벗 설정만 다르다.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같은 센서 데이터로 만든 월드 지도: 파노라마와 3D 시점 변환</a:t>
            </a:r>
            <a:endParaRPr lang="en-US" sz="26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1"/>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worldmap_stages.png"/>
          <p:cNvPicPr>
            <a:picLocks noChangeAspect="1"/>
          </p:cNvPicPr>
          <p:nvPr/>
        </p:nvPicPr>
        <p:blipFill>
          <a:blip r:embed="rId4"/>
          <a:stretch>
            <a:fillRect/>
          </a:stretch>
        </p:blipFill>
        <p:spPr>
          <a:xfrm>
            <a:off x="548640" y="3246120"/>
            <a:ext cx="5486400" cy="1371600"/>
          </a:xfrm>
          <a:prstGeom prst="rect">
            <a:avLst/>
          </a:prstGeom>
        </p:spPr>
      </p:pic>
      <p:sp>
        <p:nvSpPr>
          <p:cNvPr id="7" name="Text 2"/>
          <p:cNvSpPr txBox="1"/>
          <p:nvPr/>
        </p:nvSpPr>
        <p:spPr>
          <a:xfrm>
            <a:off x="548640" y="46634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월드 지도의 개선 단계: 첫 결과 → 보정 → 정리 → 참조 프레임</a:t>
            </a:r>
            <a:endParaRPr lang="en-US" sz="11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3"/>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4"/>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12" name="Text 5"/>
          <p:cNvSpPr txBox="1"/>
          <p:nvPr/>
        </p:nvSpPr>
        <p:spPr>
          <a:xfrm>
            <a:off x="548640" y="5120640"/>
            <a:ext cx="5486400" cy="45720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실제 DELTA 센서 영상 · 회전만 보정</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8046720" y="1371600"/>
            <a:ext cx="356616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8229600" y="150876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229600" y="1920240"/>
            <a:ext cx="3200400" cy="141732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 0.9 이상이면 1자유도로 고정.</a:t>
            </a:r>
            <a:endParaRPr lang="en-US" sz="1200" dirty="0"/>
          </a:p>
        </p:txBody>
      </p:sp>
      <p:graphicFrame>
        <p:nvGraphicFramePr>
          <p:cNvPr id="8" name="Chart 0"/>
          <p:cNvGraphicFramePr/>
          <p:nvPr/>
        </p:nvGraphicFramePr>
        <p:xfrm>
          <a:off x="548640" y="3611880"/>
          <a:ext cx="73152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4"/>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sp>
      <p:sp>
        <p:nvSpPr>
          <p:cNvPr id="10" name="Text 5"/>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6"/>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3" name="Shape 7"/>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sp>
      <p:sp>
        <p:nvSpPr>
          <p:cNvPr id="13" name="Text 8"/>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9"/>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7" name="Text 2"/>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3"/>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420624">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5" name="Image 0" descr="C:\SNU\포트폴리오\전국AI반도체경진대회\submission\figs\wave_row_gating.png"/>
          <p:cNvPicPr>
            <a:picLocks noChangeAspect="1"/>
          </p:cNvPicPr>
          <p:nvPr/>
        </p:nvPicPr>
        <p:blipFill>
          <a:blip r:embed="rId3"/>
          <a:stretch>
            <a:fillRect/>
          </a:stretch>
        </p:blipFill>
        <p:spPr>
          <a:xfrm>
            <a:off x="7726680" y="1371600"/>
            <a:ext cx="3886200" cy="2075688"/>
          </a:xfrm>
          <a:prstGeom prst="rect">
            <a:avLst/>
          </a:prstGeom>
        </p:spPr>
      </p:pic>
      <p:sp>
        <p:nvSpPr>
          <p:cNvPr id="6" name="Text 1"/>
          <p:cNvSpPr txBox="1"/>
          <p:nvPr/>
        </p:nvSpPr>
        <p:spPr>
          <a:xfrm>
            <a:off x="7726680" y="3474720"/>
            <a:ext cx="3886200" cy="64008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행 단위 클록 게이팅 파형: 쓰는 행의 게이트 클록만 토글, 나머지 행은 꺼짐 (RTL 시뮬)</a:t>
            </a:r>
            <a:endParaRPr lang="en-US" sz="1100" dirty="0"/>
          </a:p>
        </p:txBody>
      </p:sp>
      <p:sp>
        <p:nvSpPr>
          <p:cNvPr id="7" name="Shape 2"/>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8" name="Text 3"/>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9" name="Text 4"/>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pic>
        <p:nvPicPr>
          <p:cNvPr id="10" name="Image 1" descr="C:\SNU\포트폴리오\전국AI반도체경진대회\submission\figs\chip_bank_hist.png"/>
          <p:cNvPicPr>
            <a:picLocks noChangeAspect="1"/>
          </p:cNvPicPr>
          <p:nvPr/>
        </p:nvPicPr>
        <p:blipFill>
          <a:blip r:embed="rId4"/>
          <a:stretch>
            <a:fillRect/>
          </a:stretch>
        </p:blipFill>
        <p:spPr>
          <a:xfrm>
            <a:off x="548640" y="4069080"/>
            <a:ext cx="6949440" cy="1938528"/>
          </a:xfrm>
          <a:prstGeom prst="rect">
            <a:avLst/>
          </a:prstGeom>
        </p:spPr>
      </p:pic>
      <p:sp>
        <p:nvSpPr>
          <p:cNvPr id="11" name="Text 5"/>
          <p:cNvSpPr txBox="1"/>
          <p:nvPr/>
        </p:nvSpPr>
        <p:spPr>
          <a:xfrm>
            <a:off x="548640" y="6035040"/>
            <a:ext cx="694944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한계: 교육용 PDK에는 SRAM 매크로가 없어 FF 기반(비트당 약 11.8 µm²). 큰 월드로 가려면 SRAM이 필요하다.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1"/>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pic>
        <p:nvPicPr>
          <p:cNvPr id="8" name="Image 0" descr="C:\SNU\포트폴리오\전국AI반도체경진대회\submission\figs\wave_blink.png"/>
          <p:cNvPicPr>
            <a:picLocks noChangeAspect="1"/>
          </p:cNvPicPr>
          <p:nvPr/>
        </p:nvPicPr>
        <p:blipFill>
          <a:blip r:embed="rId3"/>
          <a:stretch>
            <a:fillRect/>
          </a:stretch>
        </p:blipFill>
        <p:spPr>
          <a:xfrm>
            <a:off x="8549640" y="2971800"/>
            <a:ext cx="3063240" cy="1097280"/>
          </a:xfrm>
          <a:prstGeom prst="rect">
            <a:avLst/>
          </a:prstGeom>
        </p:spPr>
      </p:pic>
      <p:sp>
        <p:nvSpPr>
          <p:cNvPr id="9" name="Text 4"/>
          <p:cNvSpPr txBox="1"/>
          <p:nvPr/>
        </p:nvSpPr>
        <p:spPr>
          <a:xfrm>
            <a:off x="8549640" y="4087368"/>
            <a:ext cx="3063240" cy="457200"/>
          </a:xfrm>
          <a:prstGeom prst="rect">
            <a:avLst/>
          </a:prstGeom>
          <a:noFill/>
          <a:ln/>
        </p:spPr>
        <p:txBody>
          <a:bodyPr wrap="square" lIns="0" tIns="0" rIns="0" bIns="0" rtlCol="0" anchor="t"/>
          <a:lstStyle/>
          <a:p>
            <a:pPr marL="0" indent="0" eaLnBrk="0">
              <a:buNone/>
            </a:pPr>
            <a:r>
              <a:rPr lang="en-US" sz="900" dirty="0">
                <a:solidFill>
                  <a:srgbClr val="7A7A7A"/>
                </a:solidFill>
                <a:latin typeface="나눔스퀘어 네오 Regular" pitchFamily="34" charset="0"/>
                <a:ea typeface="나눔스퀘어 네오 Regular" pitchFamily="34" charset="-122"/>
                <a:cs typeface="나눔스퀘어 네오 Regular" pitchFamily="34" charset="-120"/>
              </a:rPr>
              <a:t>Blink 파형: 입력이 끊기면 코어 클록 차단, 새 입력에 다시 켬. 유휴 전력 −71% (유휴 긴 시험 입력 한정)</a:t>
            </a:r>
            <a:endParaRPr lang="en-US" sz="900" dirty="0"/>
          </a:p>
        </p:txBody>
      </p:sp>
      <p:sp>
        <p:nvSpPr>
          <p:cNvPr id="10" name="Shape 5"/>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1" name="Text 6"/>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2" name="Text 7"/>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3" name="Text 8"/>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5182</Words>
  <Application>Microsoft Office PowerPoint</Application>
  <PresentationFormat>와이드스크린</PresentationFormat>
  <Paragraphs>469</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Regular</vt:lpstr>
      <vt:lpstr>나눔스퀘어 네오 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2026-10-30T06:06:10Z</dcterms:created>
  <dcterms:modified xsi:type="dcterms:W3CDTF">2026-10-30T06:06:16Z</dcterms:modified>
</cp:coreProperties>
</file>