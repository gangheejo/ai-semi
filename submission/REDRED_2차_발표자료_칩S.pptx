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roll 각도 오차 (°): 피벗 위치에 따른 변화</a:t>
            </a:r>
          </a:p>
        </c:rich>
      </c:tx>
      <c:overlay val="0"/>
    </c:title>
    <c:autoTitleDeleted val="0"/>
    <c:plotArea>
      <c:layout/>
      <c:barChart>
        <c:barDir val="col"/>
        <c:grouping val="clustered"/>
        <c:varyColors val="0"/>
        <c:ser>
          <c:idx val="0"/>
          <c:order val="0"/>
          <c:tx>
            <c:strRef>
              <c:f>Sheet1!$B$1</c:f>
              <c:strCache>
                <c:ptCount val="1"/>
                <c:pt idx="0">
                  <c:v>roll 각도 오차</c:v>
                </c:pt>
              </c:strCache>
            </c:strRef>
          </c:tx>
          <c:spPr>
            <a:solidFill>
              <a:srgbClr val="0066CC"/>
            </a:solidFill>
            <a:effectLst/>
          </c:spPr>
          <c:invertIfNegative val="0"/>
          <c:dLbls>
            <c:numFmt formatCode="0.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구한 피벗</c:v>
                </c:pt>
                <c:pt idx="1">
                  <c:v>손으로 맞춘 피벗</c:v>
                </c:pt>
                <c:pt idx="2">
                  <c:v>영상 중심</c:v>
                </c:pt>
                <c:pt idx="3">
                  <c:v>100 px 어긋남</c:v>
                </c:pt>
              </c:strCache>
            </c:strRef>
          </c:cat>
          <c:val>
            <c:numRef>
              <c:f>Sheet1!$B$2:$B$5</c:f>
              <c:numCache>
                <c:formatCode>General</c:formatCode>
                <c:ptCount val="4"/>
                <c:pt idx="0">
                  <c:v>0.40500000000000003</c:v>
                </c:pt>
                <c:pt idx="1">
                  <c:v>0.46700000000000003</c:v>
                </c:pt>
                <c:pt idx="2">
                  <c:v>0.52900000000000003</c:v>
                </c:pt>
                <c:pt idx="3">
                  <c:v>6.7</c:v>
                </c:pt>
              </c:numCache>
            </c:numRef>
          </c:val>
          <c:extLst>
            <c:ext xmlns:c16="http://schemas.microsoft.com/office/drawing/2014/chart" uri="{C3380CC4-5D6E-409C-BE32-E72D297353CC}">
              <c16:uniqueId val="{00000000-720F-4766-90B6-8214FFDB513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8"/>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59B6-40BD-843D-30AAE8050D07}"/>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59B6-40BD-843D-30AAE8050D07}"/>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59B6-40BD-843D-30AAE8050D0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E610-4721-B365-6A84FB1B5808}"/>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E610-4721-B365-6A84FB1B580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C80F-42A4-A66E-7AA9FECFA1EB}"/>
              </c:ext>
            </c:extLst>
          </c:dPt>
          <c:dPt>
            <c:idx val="1"/>
            <c:invertIfNegative val="0"/>
            <c:bubble3D val="0"/>
            <c:spPr>
              <a:solidFill>
                <a:srgbClr val="7A7A7A"/>
              </a:solidFill>
              <a:effectLst/>
            </c:spPr>
            <c:extLst>
              <c:ext xmlns:c16="http://schemas.microsoft.com/office/drawing/2014/chart" uri="{C3380CC4-5D6E-409C-BE32-E72D297353CC}">
                <c16:uniqueId val="{00000003-C80F-42A4-A66E-7AA9FECFA1EB}"/>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C80F-42A4-A66E-7AA9FECFA1EB}"/>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E554-4D9C-B262-3F0EEF482917}"/>
              </c:ext>
            </c:extLst>
          </c:dPt>
          <c:dPt>
            <c:idx val="1"/>
            <c:invertIfNegative val="0"/>
            <c:bubble3D val="0"/>
            <c:spPr>
              <a:solidFill>
                <a:srgbClr val="7A7A7A"/>
              </a:solidFill>
              <a:effectLst/>
            </c:spPr>
            <c:extLst>
              <c:ext xmlns:c16="http://schemas.microsoft.com/office/drawing/2014/chart" uri="{C3380CC4-5D6E-409C-BE32-E72D297353CC}">
                <c16:uniqueId val="{00000003-E554-4D9C-B262-3F0EEF482917}"/>
              </c:ext>
            </c:extLst>
          </c:dPt>
          <c:dPt>
            <c:idx val="2"/>
            <c:invertIfNegative val="0"/>
            <c:bubble3D val="0"/>
            <c:spPr>
              <a:solidFill>
                <a:srgbClr val="7A7A7A"/>
              </a:solidFill>
              <a:effectLst/>
            </c:spPr>
            <c:extLst>
              <c:ext xmlns:c16="http://schemas.microsoft.com/office/drawing/2014/chart" uri="{C3380CC4-5D6E-409C-BE32-E72D297353CC}">
                <c16:uniqueId val="{00000005-E554-4D9C-B262-3F0EEF482917}"/>
              </c:ext>
            </c:extLst>
          </c:dPt>
          <c:dPt>
            <c:idx val="3"/>
            <c:invertIfNegative val="0"/>
            <c:bubble3D val="0"/>
            <c:spPr>
              <a:solidFill>
                <a:srgbClr val="7A7A7A"/>
              </a:solidFill>
              <a:effectLst/>
            </c:spPr>
            <c:extLst>
              <c:ext xmlns:c16="http://schemas.microsoft.com/office/drawing/2014/chart" uri="{C3380CC4-5D6E-409C-BE32-E72D297353CC}">
                <c16:uniqueId val="{00000007-E554-4D9C-B262-3F0EEF482917}"/>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E554-4D9C-B262-3F0EEF48291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678649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보정 없이 센서 좌표에 그대로 쌓은 결과이고, 가운데는 칩 RTL 시뮬레이션이 실제 roll 녹화 32프레임을 받아 월드 메모리에 쓴 결과입니다. 8픽셀 셀에 4비트 로그 카운터라 해상도는 낮지만 방의 구조가 복원됩니다. 오른쪽은 같은 칩에 자기보정이 구한 피벗을 설정한 결과로, 같은 모양이 나옵니다.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 name="Chart 0"/>
          <p:cNvGraphicFramePr/>
          <p:nvPr/>
        </p:nvGraphicFramePr>
        <p:xfrm>
          <a:off x="548640" y="3840480"/>
          <a:ext cx="5852160" cy="25603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6675120" y="3931920"/>
            <a:ext cx="4937760" cy="1097280"/>
          </a:xfrm>
          <a:prstGeom prst="roundRect">
            <a:avLst>
              <a:gd name="adj" fmla="val 10000"/>
            </a:avLst>
          </a:prstGeom>
          <a:solidFill>
            <a:srgbClr val="FFFFFF"/>
          </a:solidFill>
          <a:ln w="9525">
            <a:solidFill>
              <a:srgbClr val="E0E0E0"/>
            </a:solidFill>
            <a:prstDash val="solid"/>
          </a:ln>
        </p:spPr>
      </p:sp>
      <p:sp>
        <p:nvSpPr>
          <p:cNvPr id="7" name="Text 2"/>
          <p:cNvSpPr txBox="1"/>
          <p:nvPr/>
        </p:nvSpPr>
        <p:spPr>
          <a:xfrm>
            <a:off x="6858000" y="4069080"/>
            <a:ext cx="45720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8" name="Text 3"/>
          <p:cNvSpPr txBox="1"/>
          <p:nvPr/>
        </p:nvSpPr>
        <p:spPr>
          <a:xfrm>
            <a:off x="6858000" y="4480560"/>
            <a:ext cx="4572000" cy="4114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200" dirty="0"/>
          </a:p>
        </p:txBody>
      </p:sp>
      <p:sp>
        <p:nvSpPr>
          <p:cNvPr id="3" name="Shape 4"/>
          <p:cNvSpPr/>
          <p:nvPr/>
        </p:nvSpPr>
        <p:spPr>
          <a:xfrm>
            <a:off x="6675120" y="5120640"/>
            <a:ext cx="4937760" cy="1234440"/>
          </a:xfrm>
          <a:prstGeom prst="roundRect">
            <a:avLst>
              <a:gd name="adj" fmla="val 8889"/>
            </a:avLst>
          </a:prstGeom>
          <a:solidFill>
            <a:srgbClr val="FFFFFF"/>
          </a:solidFill>
          <a:ln w="9525">
            <a:solidFill>
              <a:srgbClr val="E0E0E0"/>
            </a:solidFill>
            <a:prstDash val="solid"/>
          </a:ln>
        </p:spPr>
      </p:sp>
      <p:sp>
        <p:nvSpPr>
          <p:cNvPr id="10" name="Text 5"/>
          <p:cNvSpPr txBox="1"/>
          <p:nvPr/>
        </p:nvSpPr>
        <p:spPr>
          <a:xfrm>
            <a:off x="6858000" y="5257800"/>
            <a:ext cx="45720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1" name="Text 6"/>
          <p:cNvSpPr txBox="1"/>
          <p:nvPr/>
        </p:nvSpPr>
        <p:spPr>
          <a:xfrm>
            <a:off x="6858000" y="5669280"/>
            <a:ext cx="4572000" cy="54864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칩이 쓴 월드 메모리: 보정 없이 쌓으면 번지고, 칩 출력에는 방이 보인다</a:t>
            </a:r>
            <a:endParaRPr lang="en-US" sz="2600" dirty="0"/>
          </a:p>
        </p:txBody>
      </p:sp>
      <p:pic>
        <p:nvPicPr>
          <p:cNvPr id="4" name="Image 0" descr="C:\SNU\포트폴리오\전국AI반도체경진대회\submission\figs\chip_roll_world.png"/>
          <p:cNvPicPr>
            <a:picLocks noChangeAspect="1"/>
          </p:cNvPicPr>
          <p:nvPr/>
        </p:nvPicPr>
        <p:blipFill>
          <a:blip r:embed="rId3"/>
          <a:stretch>
            <a:fillRect/>
          </a:stretch>
        </p:blipFill>
        <p:spPr>
          <a:xfrm>
            <a:off x="868680" y="1234440"/>
            <a:ext cx="10424160" cy="3895344"/>
          </a:xfrm>
          <a:prstGeom prst="rect">
            <a:avLst/>
          </a:prstGeom>
        </p:spPr>
      </p:pic>
      <p:sp>
        <p:nvSpPr>
          <p:cNvPr id="5" name="Shape 1"/>
          <p:cNvSpPr/>
          <p:nvPr/>
        </p:nvSpPr>
        <p:spPr>
          <a:xfrm>
            <a:off x="548640" y="5212080"/>
            <a:ext cx="5394960" cy="1143000"/>
          </a:xfrm>
          <a:prstGeom prst="roundRect">
            <a:avLst>
              <a:gd name="adj" fmla="val 9600"/>
            </a:avLst>
          </a:prstGeom>
          <a:solidFill>
            <a:srgbClr val="FFFFFF"/>
          </a:solidFill>
          <a:ln w="9525">
            <a:solidFill>
              <a:srgbClr val="E0E0E0"/>
            </a:solidFill>
            <a:prstDash val="solid"/>
          </a:ln>
        </p:spPr>
      </p:sp>
      <p:sp>
        <p:nvSpPr>
          <p:cNvPr id="6" name="Text 2"/>
          <p:cNvSpPr txBox="1"/>
          <p:nvPr/>
        </p:nvSpPr>
        <p:spPr>
          <a:xfrm>
            <a:off x="73152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무엇을 본 것인가</a:t>
            </a:r>
            <a:endParaRPr lang="en-US" sz="1600" dirty="0"/>
          </a:p>
        </p:txBody>
      </p:sp>
      <p:sp>
        <p:nvSpPr>
          <p:cNvPr id="7" name="Text 3"/>
          <p:cNvSpPr txBox="1"/>
          <p:nvPr/>
        </p:nvSpPr>
        <p:spPr>
          <a:xfrm>
            <a:off x="73152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실제 DELTA roll 녹화 32프레임 → 칩 RTL 시뮬레이션이 쓴 월드 메모리 내용(8 px 셀, 4비트).</a:t>
            </a:r>
            <a:endParaRPr lang="en-US" sz="1200" dirty="0"/>
          </a:p>
        </p:txBody>
      </p:sp>
      <p:sp>
        <p:nvSpPr>
          <p:cNvPr id="8" name="Shape 4"/>
          <p:cNvSpPr/>
          <p:nvPr/>
        </p:nvSpPr>
        <p:spPr>
          <a:xfrm>
            <a:off x="6217920" y="5212080"/>
            <a:ext cx="5394960" cy="1143000"/>
          </a:xfrm>
          <a:prstGeom prst="roundRect">
            <a:avLst>
              <a:gd name="adj" fmla="val 9600"/>
            </a:avLst>
          </a:prstGeom>
          <a:solidFill>
            <a:srgbClr val="FFFFFF"/>
          </a:solidFill>
          <a:ln w="9525">
            <a:solidFill>
              <a:srgbClr val="E0E0E0"/>
            </a:solidFill>
            <a:prstDash val="solid"/>
          </a:ln>
        </p:spPr>
      </p:sp>
      <p:sp>
        <p:nvSpPr>
          <p:cNvPr id="9" name="Text 5"/>
          <p:cNvSpPr txBox="1"/>
          <p:nvPr/>
        </p:nvSpPr>
        <p:spPr>
          <a:xfrm>
            <a:off x="640080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10" name="Text 6"/>
          <p:cNvSpPr txBox="1"/>
          <p:nvPr/>
        </p:nvSpPr>
        <p:spPr>
          <a:xfrm>
            <a:off x="640080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왼쪽은 같은 이벤트를 회전 보정 없이 쌓은 것. 가운데·오른쪽은 칩 출력으로, 보정 피벗 설정만 다르다.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같은 센서 데이터로 만든 월드 지도: 파노라마와 3D 시점 변환</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worldmap_stages.png"/>
          <p:cNvPicPr>
            <a:picLocks noChangeAspect="1"/>
          </p:cNvPicPr>
          <p:nvPr/>
        </p:nvPicPr>
        <p:blipFill>
          <a:blip r:embed="rId4"/>
          <a:stretch>
            <a:fillRect/>
          </a:stretch>
        </p:blipFill>
        <p:spPr>
          <a:xfrm>
            <a:off x="548640" y="3246120"/>
            <a:ext cx="5486400" cy="1371600"/>
          </a:xfrm>
          <a:prstGeom prst="rect">
            <a:avLst/>
          </a:prstGeom>
        </p:spPr>
      </p:pic>
      <p:sp>
        <p:nvSpPr>
          <p:cNvPr id="7" name="Text 2"/>
          <p:cNvSpPr txBox="1"/>
          <p:nvPr/>
        </p:nvSpPr>
        <p:spPr>
          <a:xfrm>
            <a:off x="548640" y="46634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월드 지도의 개선 단계: 첫 결과 → 보정 → 정리 → 참조 프레임</a:t>
            </a:r>
            <a:endParaRPr lang="en-US" sz="11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12" name="Text 5"/>
          <p:cNvSpPr txBox="1"/>
          <p:nvPr/>
        </p:nvSpPr>
        <p:spPr>
          <a:xfrm>
            <a:off x="548640" y="5120640"/>
            <a:ext cx="5486400" cy="45720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실제 DELTA 센서 영상 · 회전만 보정</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8046720" y="1371600"/>
            <a:ext cx="356616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8229600" y="150876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229600" y="1920240"/>
            <a:ext cx="3200400" cy="141732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 0.9 이상이면 1자유도로 고정.</a:t>
            </a:r>
            <a:endParaRPr lang="en-US" sz="1200" dirty="0"/>
          </a:p>
        </p:txBody>
      </p:sp>
      <p:graphicFrame>
        <p:nvGraphicFramePr>
          <p:cNvPr id="8" name="Chart 0"/>
          <p:cNvGraphicFramePr/>
          <p:nvPr/>
        </p:nvGraphicFramePr>
        <p:xfrm>
          <a:off x="548640" y="3611880"/>
          <a:ext cx="73152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3"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1"/>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5143</Words>
  <Application>Microsoft Office PowerPoint</Application>
  <PresentationFormat>와이드스크린</PresentationFormat>
  <Paragraphs>472</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Arial</vt:lpstr>
      <vt:lpstr>나눔스퀘어 네오 Regular</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2026-10-30T06:00:08Z</dcterms:created>
  <dcterms:modified xsi:type="dcterms:W3CDTF">2026-10-30T06:00:14Z</dcterms:modified>
</cp:coreProperties>
</file>