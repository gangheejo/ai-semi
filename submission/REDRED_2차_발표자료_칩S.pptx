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메모리 비트당 면적 (µm²/bit)</a:t>
            </a:r>
          </a:p>
        </c:rich>
      </c:tx>
      <c:overlay val="0"/>
    </c:title>
    <c:autoTitleDeleted val="0"/>
    <c:plotArea>
      <c:layout/>
      <c:barChart>
        <c:barDir val="col"/>
        <c:grouping val="clustered"/>
        <c:varyColors val="0"/>
        <c:ser>
          <c:idx val="0"/>
          <c:order val="0"/>
          <c:tx>
            <c:strRef>
              <c:f>Sheet1!$B$1</c:f>
              <c:strCache>
                <c:ptCount val="1"/>
                <c:pt idx="0">
                  <c:v>비트당 면적</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D7EC-4350-82ED-197525EC39C1}"/>
              </c:ext>
            </c:extLst>
          </c:dPt>
          <c:dPt>
            <c:idx val="1"/>
            <c:invertIfNegative val="0"/>
            <c:bubble3D val="0"/>
            <c:spPr>
              <a:solidFill>
                <a:srgbClr val="7A7A7A"/>
              </a:solidFill>
              <a:effectLst/>
            </c:spPr>
            <c:extLst>
              <c:ext xmlns:c16="http://schemas.microsoft.com/office/drawing/2014/chart" uri="{C3380CC4-5D6E-409C-BE32-E72D297353CC}">
                <c16:uniqueId val="{00000003-D7EC-4350-82ED-197525EC39C1}"/>
              </c:ext>
            </c:extLst>
          </c:dPt>
          <c:dLbls>
            <c:numFmt formatCode="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FF+클록게이팅</c:v>
                </c:pt>
                <c:pt idx="1">
                  <c:v>FF(게이팅 없음)</c:v>
                </c:pt>
              </c:strCache>
            </c:strRef>
          </c:cat>
          <c:val>
            <c:numRef>
              <c:f>Sheet1!$B$2:$B$3</c:f>
              <c:numCache>
                <c:formatCode>General</c:formatCode>
                <c:ptCount val="2"/>
                <c:pt idx="0">
                  <c:v>11.8</c:v>
                </c:pt>
                <c:pt idx="1">
                  <c:v>15.5</c:v>
                </c:pt>
              </c:numCache>
            </c:numRef>
          </c:val>
          <c:extLst>
            <c:ext xmlns:c16="http://schemas.microsoft.com/office/drawing/2014/chart" uri="{C3380CC4-5D6E-409C-BE32-E72D297353CC}">
              <c16:uniqueId val="{00000004-D7EC-4350-82ED-197525EC39C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10041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해결 알고리즘으로 61도 붕괴가 0.67도로 줄어드는 것을 정답 있는 합성 장면에서 독립적으로 확인했습니다. 칩은 이 상수를 설정 레지스터로 받는 구조입니다. 다섯째, 교수님 센서의 원본 데이터를 직접 해독해서 칩이 그대로 받습니다. 여섯째, 후보 약 60개를 측정으로 걸러냈고 안 된 것과 고친 과정도 다섯 쪽에 걸쳐 모두 적었습니다. 그리고 한계도 있습니다. 출하 클록은 8나노초이고,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가장 중요하게 본 약점입니다. 칩에는 녹화에서 맞춘 상수가 있었습니다. roll의 회전 중심, pan의 회전·이동 연동 상수 네 개입니다. 그런데 이 네 상수를 분석해 보니 사실 먼 피벗을 중심으로 한 회전 하나였습니다. 센서가 봉 주위를 도는 것이라서, roll과 pan은 같은 모델에서 피벗 반지름만 다릅니다. roll은 약 50픽셀, pan은 약 2만 픽셀입니다. 그래서 한 녹화의 상수를 다른 녹화에 쓰면 roll은 61도가 틀어지고 pan은 470픽셀이 틀어집니다. 상수를 데이터에서 직접 구하는 자기보정을 float 모델로 만들었더니, roll은 0.67도로 다시 맞춘 값과 거의 같아졌습니다.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현수의 자기보정이 정말 일반화되는지, 저희는 정답을 아는 합성 장면에서 다시 확인했습니다. 센서가 피벗 주위로 도는 장면을 만들고 피벗 위치를 바꿔 가며 현수의 코드를 수정 없이 돌렸습니다. 먼저 평가 기준을 코드 작성 전에 커밋했습니다. 피벗이 150픽셀 이하인 주 시험에서는 피벗 복원 오차가 0.7에서 6.9픽셀이었습니다. 다만 이 범위에서는 상수를 잘못 써도 손해가 거의 없어서, 상수가 중요하다는 기준은 실패했습니다. 그래서 먼 피벗 변형을 따로 등록해서 돌렸습니다. 피벗이 1500에서 6000픽셀이면 복원이 정확하고 프리즈는 8도에서 18도로 무너졌습니다. pan 크기인 2만 픽셀에서는 반지름 추정이 29퍼센트에서 55퍼센트 흔들려 오차가 1.7도 남았지만, 프리즈의 116도보다는 훨씬 낫습니다.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과적합의 원인은 녹화마다 손으로 맞춘 상수가 사실 피벗 하나라는 점이었고, 이 피벗을 데이터에서 구하는 알고리즘으로 해결했습니다. 정수 기준모델에서 roll 0.467도가 그대로 재현되고, 3자유도 모드로 roll 전체를 5초에 돌려 각도와 이동량 궤적을 얻으면 최종 각도는 323.7도로 정답 323.1도와 거의 같습니다. 이 궤적에 피벗 최소제곱을 걸어 구한 피벗을 쓰면 각도 오차가 0.405도로, 손으로 맞춘 피벗의 0.467도보다 작습니다. 상수를 알고리즘으로 바꾸는 쪽이 일반화뿐 아니라 정확도에도 이득입니다.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과적합은 피벗을 데이터에서 구하는 알고리즘으로 해결했습니다. 단점은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(9~11쪽)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icPr>
            <a:picLocks noChangeAspect="1"/>
          </p:cNvPicPr>
          <p:nvPr/>
        </p:nvPicPr>
        <p:blipFill>
          <a:blip r:embed="rId3"/>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566928">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64008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400" dirty="0"/>
          </a:p>
        </p:txBody>
      </p:sp>
      <p:sp>
        <p:nvSpPr>
          <p:cNvPr id="8" name="Shape 4"/>
          <p:cNvSpPr/>
          <p:nvPr/>
        </p:nvSpPr>
        <p:spPr>
          <a:xfrm>
            <a:off x="6217920" y="4754880"/>
            <a:ext cx="5394960" cy="1554480"/>
          </a:xfrm>
          <a:prstGeom prst="roundRect">
            <a:avLst>
              <a:gd name="adj" fmla="val 7059"/>
            </a:avLst>
          </a:prstGeom>
          <a:solidFill>
            <a:srgbClr val="FFFFFF"/>
          </a:solidFill>
          <a:ln w="9525">
            <a:solidFill>
              <a:srgbClr val="E0E0E0"/>
            </a:solidFill>
            <a:prstDash val="solid"/>
          </a:ln>
        </p:spPr>
      </p:sp>
      <p:sp>
        <p:nvSpPr>
          <p:cNvPr id="3"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상수 여러 개는 사실 "피벗 하나"였다</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49808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12064">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피벗 반지름 R (ECC 체인에서 구함)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45~65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21,700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추가 시 8.0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(상수 고정)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0.46°</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8321040" y="1417320"/>
            <a:ext cx="3291840" cy="2011680"/>
          </a:xfrm>
          <a:prstGeom prst="roundRect">
            <a:avLst>
              <a:gd name="adj" fmla="val 5455"/>
            </a:avLst>
          </a:prstGeom>
          <a:solidFill>
            <a:srgbClr val="FFFFFF"/>
          </a:solidFill>
          <a:ln w="9525">
            <a:solidFill>
              <a:srgbClr val="E0E0E0"/>
            </a:solidFill>
            <a:prstDash val="solid"/>
          </a:ln>
        </p:spPr>
      </p:sp>
      <p:sp>
        <p:nvSpPr>
          <p:cNvPr id="6" name="Text 2"/>
          <p:cNvSpPr txBox="1"/>
          <p:nvPr/>
        </p:nvSpPr>
        <p:spPr>
          <a:xfrm>
            <a:off x="8503920" y="1554480"/>
            <a:ext cx="29260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503920" y="1965960"/>
            <a:ext cx="292608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r²가 0.9 이상이면 1자유도로 고정.</a:t>
            </a:r>
            <a:endParaRPr lang="en-US" sz="1200" dirty="0"/>
          </a:p>
        </p:txBody>
      </p:sp>
      <p:sp>
        <p:nvSpPr>
          <p:cNvPr id="8" name="Shape 4"/>
          <p:cNvSpPr/>
          <p:nvPr/>
        </p:nvSpPr>
        <p:spPr>
          <a:xfrm>
            <a:off x="8321040" y="3566160"/>
            <a:ext cx="3291840" cy="2743200"/>
          </a:xfrm>
          <a:prstGeom prst="roundRect">
            <a:avLst>
              <a:gd name="adj" fmla="val 4000"/>
            </a:avLst>
          </a:prstGeom>
          <a:solidFill>
            <a:srgbClr val="FFFFFF"/>
          </a:solidFill>
          <a:ln w="9525">
            <a:solidFill>
              <a:srgbClr val="E0E0E0"/>
            </a:solidFill>
            <a:prstDash val="solid"/>
          </a:ln>
        </p:spPr>
      </p:sp>
      <p:sp>
        <p:nvSpPr>
          <p:cNvPr id="9" name="Text 5"/>
          <p:cNvSpPr txBox="1"/>
          <p:nvPr/>
        </p:nvSpPr>
        <p:spPr>
          <a:xfrm>
            <a:off x="8503920" y="3703320"/>
            <a:ext cx="29260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 (현수 문서)</a:t>
            </a:r>
            <a:endParaRPr lang="en-US" sz="1600" dirty="0"/>
          </a:p>
        </p:txBody>
      </p:sp>
      <p:sp>
        <p:nvSpPr>
          <p:cNvPr id="3" name="Text 6"/>
          <p:cNvSpPr txBox="1"/>
          <p:nvPr/>
        </p:nvSpPr>
        <p:spPr>
          <a:xfrm>
            <a:off x="8503920" y="4114800"/>
            <a:ext cx="2926080" cy="20574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1.6초 동안 θ가 거의 안 변해 R을 못 구해 13.9 px에 머문다.</a:t>
            </a:r>
            <a:endParaRPr lang="en-US" sz="1200" dirty="0"/>
          </a:p>
        </p:txBody>
      </p:sp>
      <p:sp>
        <p:nvSpPr>
          <p:cNvPr id="11" name="Shape 7"/>
          <p:cNvSpPr/>
          <p:nvPr/>
        </p:nvSpPr>
        <p:spPr>
          <a:xfrm>
            <a:off x="548640" y="4572000"/>
            <a:ext cx="7498080" cy="1737360"/>
          </a:xfrm>
          <a:prstGeom prst="roundRect">
            <a:avLst>
              <a:gd name="adj" fmla="val 6316"/>
            </a:avLst>
          </a:prstGeom>
          <a:solidFill>
            <a:srgbClr val="F5F5F7"/>
          </a:solidFill>
          <a:ln w="9525">
            <a:solidFill>
              <a:srgbClr val="E0E0E0"/>
            </a:solidFill>
            <a:prstDash val="solid"/>
          </a:ln>
        </p:spPr>
      </p:sp>
      <p:sp>
        <p:nvSpPr>
          <p:cNvPr id="12" name="Text 8"/>
          <p:cNvSpPr txBox="1"/>
          <p:nvPr/>
        </p:nvSpPr>
        <p:spPr>
          <a:xfrm>
            <a:off x="731520" y="4709160"/>
            <a:ext cx="71323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13" name="Text 9"/>
          <p:cNvSpPr txBox="1"/>
          <p:nvPr/>
        </p:nvSpPr>
        <p:spPr>
          <a:xfrm>
            <a:off x="731520" y="5120640"/>
            <a:ext cx="7132320" cy="10515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녹화에 맞춘 상수를 "데이터에서 구하는 알고리즘"으로 바꾸면 붕괴(61°)가 사라진다. 대가는 roll에서 0.2° 정도의 정확도다.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우리가 정답 있는 합성 장면에서 자기보정을 독립 검증했다</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2651760">
                  <a:extLst>
                    <a:ext uri="{9D8B030D-6E8A-4147-A177-3AD203B41FA5}">
                      <a16:colId xmlns:a16="http://schemas.microsoft.com/office/drawing/2014/main" val="20005"/>
                    </a:ext>
                  </a:extLst>
                </a:gridCol>
              </a:tblGrid>
              <a:tr h="56692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피벗 R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회전각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복원된 R (시드 3개)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자기보정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프리즈 (칩 roll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50~150 (주 시험 G1~G4)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오차 0.7~6.9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0.7~2.6° (거의 무해)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1,552 (V1)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1,516 / 1,525 / 1,611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0.25°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8.3°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6,000 (V2)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5,689 / 6,078 / 7,710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18.1°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20,025 (V3, pan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14,137 / 22,397 / 31,072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115.9°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결론</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자기보정은 피벗을 데이터에서 복원해 붕괴(프리즈 8~116°)를 0.2~1.7°로 막는다. 기준은 코드보다 먼저 커밋했고, 실패한 기준(P3, V3의 Q2)도 그대로 보고한다.</a:t>
            </a:r>
            <a:endParaRPr lang="en-US" sz="13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합성은 단일 깊이·한 방향 회전·시차 없음, float 복제 모델. pan 크기의 먼 피벗은 R 정밀도가 제한적(오차 1.7°).</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녹화별 상수를 데이터에서 구한다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56692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확인 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상태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재현 (현수 EstS)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0.467° / 0.462° 그대로 재현, 4초에 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3자유도 부트스트랩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전체 5초, θ 오차 0.88~1.17°, 최종 각도 323.7° (ECC 323.1°)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최소제곱 (정수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 26~39 px (float 49 px), 설명도 r² 0.87~0.93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민감도 (roll 모드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구한 피벗 0.405° &lt; 손으로 맞춘 피벗 0.467° &lt; 영상 중심 0.529° ≪ 100 px 어긋남 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6" name="Text 2"/>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결과: 61° → 0.67°</a:t>
            </a:r>
            <a:endParaRPr lang="en-US" sz="1600" dirty="0"/>
          </a:p>
        </p:txBody>
      </p:sp>
      <p:sp>
        <p:nvSpPr>
          <p:cNvPr id="7" name="Text 3"/>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녹화에 맞춘 상수로 다른 녹화를 돌리면 61° 틀어지던 것이, 피벗을 데이터에서 구하면 0.67°로 줄어든다. 정답 있는 합성 장면에서 독립 검증했다.</a:t>
            </a:r>
            <a:endParaRPr lang="en-US" sz="1300" dirty="0"/>
          </a:p>
        </p:txBody>
      </p:sp>
      <p:sp>
        <p:nvSpPr>
          <p:cNvPr id="8" name="Shape 4"/>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튜닝한 상수가 최선이 아니었다</a:t>
            </a:r>
            <a:endParaRPr lang="en-US" sz="1600" dirty="0"/>
          </a:p>
        </p:txBody>
      </p:sp>
      <p:sp>
        <p:nvSpPr>
          <p:cNvPr id="10" name="Text 6"/>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구한 피벗이 손으로 맞춘 피벗보다 roll 각도 오차가 작다(0.405° 대 0.467°). 상수를 알고리즘으로 바꾸면 일반화와 정확도가 함께 좋아진다.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a:t>
            </a:r>
            <a:endParaRPr lang="en-US" sz="1300" dirty="0"/>
          </a:p>
        </p:txBody>
      </p:sp>
      <p:sp>
        <p:nvSpPr>
          <p:cNvPr id="8" name="Shape 4"/>
          <p:cNvSpPr/>
          <p:nvPr/>
        </p:nvSpPr>
        <p:spPr>
          <a:xfrm>
            <a:off x="6217920" y="4754880"/>
            <a:ext cx="5394960" cy="1554480"/>
          </a:xfrm>
          <a:prstGeom prst="roundRect">
            <a:avLst>
              <a:gd name="adj" fmla="val 7059"/>
            </a:avLst>
          </a:prstGeom>
          <a:solidFill>
            <a:srgbClr val="F5F5F7"/>
          </a:solidFill>
          <a:ln w="9525">
            <a:solidFill>
              <a:srgbClr val="E0E0E0"/>
            </a:solidFill>
            <a:prstDash val="solid"/>
          </a:ln>
        </p:spPr>
      </p:sp>
      <p:sp>
        <p:nvSpPr>
          <p:cNvPr id="9"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조건부 이득의 의미</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곱셈기를 없애는 것이 항상 이득은 아니다 — 입력 형식(8픽셀 그룹)과 맞물릴 때만 이긴다.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5" name="Chart 0"/>
          <p:cNvGraphicFramePr/>
          <p:nvPr/>
        </p:nvGraphicFramePr>
        <p:xfrm>
          <a:off x="7772400" y="1371600"/>
          <a:ext cx="38404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7" name="Text 2"/>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8" name="Text 3"/>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9" name="Shape 4"/>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sp>
      <p:sp>
        <p:nvSpPr>
          <p:cNvPr id="10" name="Text 5"/>
          <p:cNvSpPr txBox="1"/>
          <p:nvPr/>
        </p:nvSpPr>
        <p:spPr>
          <a:xfrm>
            <a:off x="731520" y="5212080"/>
            <a:ext cx="65836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1" name="Text 6"/>
          <p:cNvSpPr txBox="1"/>
          <p:nvPr/>
        </p:nvSpPr>
        <p:spPr>
          <a:xfrm>
            <a:off x="731520" y="5623560"/>
            <a:ext cx="658368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7132320">
                  <a:extLst>
                    <a:ext uri="{9D8B030D-6E8A-4147-A177-3AD203B41FA5}">
                      <a16:colId xmlns:a16="http://schemas.microsoft.com/office/drawing/2014/main" val="20002"/>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sp>
        <p:nvSpPr>
          <p:cNvPr id="8" name="Shape 4"/>
          <p:cNvSpPr/>
          <p:nvPr/>
        </p:nvSpPr>
        <p:spPr>
          <a:xfrm>
            <a:off x="8549640" y="2971800"/>
            <a:ext cx="3063240" cy="1463040"/>
          </a:xfrm>
          <a:prstGeom prst="roundRect">
            <a:avLst>
              <a:gd name="adj" fmla="val 7500"/>
            </a:avLst>
          </a:prstGeom>
          <a:solidFill>
            <a:srgbClr val="272729"/>
          </a:solidFill>
          <a:ln w="12700">
            <a:solidFill>
              <a:srgbClr val="272729"/>
            </a:solidFill>
            <a:prstDash val="solid"/>
          </a:ln>
        </p:spPr>
      </p:sp>
      <p:sp>
        <p:nvSpPr>
          <p:cNvPr id="9" name="Text 5"/>
          <p:cNvSpPr txBox="1"/>
          <p:nvPr/>
        </p:nvSpPr>
        <p:spPr>
          <a:xfrm>
            <a:off x="8732520" y="30632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−71%</a:t>
            </a:r>
            <a:endParaRPr lang="en-US" sz="3600" dirty="0"/>
          </a:p>
        </p:txBody>
      </p:sp>
      <p:sp>
        <p:nvSpPr>
          <p:cNvPr id="10" name="Text 6"/>
          <p:cNvSpPr txBox="1"/>
          <p:nvPr/>
        </p:nvSpPr>
        <p:spPr>
          <a:xfrm>
            <a:off x="8732520" y="37947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blink 유휴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(유휴 긴 시험 입력 한정)</a:t>
            </a:r>
            <a:endParaRPr lang="en-US" sz="1200" dirty="0"/>
          </a:p>
        </p:txBody>
      </p:sp>
      <p:sp>
        <p:nvSpPr>
          <p:cNvPr id="11" name="Shape 7"/>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2" name="Text 8"/>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3" name="Text 9"/>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4" name="Text 10"/>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5413</Words>
  <Application>Microsoft Office PowerPoint</Application>
  <PresentationFormat>와이드스크린</PresentationFormat>
  <Paragraphs>516</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Regular</vt:lpstr>
      <vt:lpstr>Arial</vt:lpstr>
      <vt:lpstr>나눔스퀘어 네오 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2026-10-30T05:46:11Z</dcterms:created>
  <dcterms:modified xsi:type="dcterms:W3CDTF">2026-10-30T05:46:19Z</dcterms:modified>
</cp:coreProperties>
</file>