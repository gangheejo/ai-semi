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AE02-489A-B03F-F56B8410840D}"/>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AE02-489A-B03F-F56B8410840D}"/>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AE02-489A-B03F-F56B8410840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C4CA-4A7E-9053-EC2A61C0596D}"/>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C4CA-4A7E-9053-EC2A61C0596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3D14-43CE-A433-5D822096439C}"/>
              </c:ext>
            </c:extLst>
          </c:dPt>
          <c:dPt>
            <c:idx val="1"/>
            <c:invertIfNegative val="0"/>
            <c:bubble3D val="0"/>
            <c:spPr>
              <a:solidFill>
                <a:srgbClr val="7A7A7A"/>
              </a:solidFill>
              <a:effectLst/>
            </c:spPr>
            <c:extLst>
              <c:ext xmlns:c16="http://schemas.microsoft.com/office/drawing/2014/chart" uri="{C3380CC4-5D6E-409C-BE32-E72D297353CC}">
                <c16:uniqueId val="{00000003-3D14-43CE-A433-5D822096439C}"/>
              </c:ext>
            </c:extLst>
          </c:dPt>
          <c:dPt>
            <c:idx val="2"/>
            <c:invertIfNegative val="0"/>
            <c:bubble3D val="0"/>
            <c:spPr>
              <a:solidFill>
                <a:srgbClr val="7A7A7A"/>
              </a:solidFill>
              <a:effectLst/>
            </c:spPr>
            <c:extLst>
              <c:ext xmlns:c16="http://schemas.microsoft.com/office/drawing/2014/chart" uri="{C3380CC4-5D6E-409C-BE32-E72D297353CC}">
                <c16:uniqueId val="{00000005-3D14-43CE-A433-5D822096439C}"/>
              </c:ext>
            </c:extLst>
          </c:dPt>
          <c:dPt>
            <c:idx val="3"/>
            <c:invertIfNegative val="0"/>
            <c:bubble3D val="0"/>
            <c:spPr>
              <a:solidFill>
                <a:srgbClr val="7A7A7A"/>
              </a:solidFill>
              <a:effectLst/>
            </c:spPr>
            <c:extLst>
              <c:ext xmlns:c16="http://schemas.microsoft.com/office/drawing/2014/chart" uri="{C3380CC4-5D6E-409C-BE32-E72D297353CC}">
                <c16:uniqueId val="{00000007-3D14-43CE-A433-5D822096439C}"/>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3D14-43CE-A433-5D822096439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124168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해결 알고리즘으로 61도 붕괴가 0.67도로 줄어드는 것을 정답 있는 합성 장면에서 독립적으로 확인했습니다. 칩은 이 상수를 설정 레지스터로 받는 구조입니다. 다섯째, 교수님 센서의 원본 데이터를 직접 해독해서 칩이 그대로 받습니다. 여섯째, 후보 약 60개를 측정으로 걸러냈고 안 된 것과 고친 과정도 다섯 쪽에 걸쳐 모두 적었습니다. 그리고 한계도 있습니다. 출하 클록은 8나노초이고,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교수님 roll과 pan 녹화 전체를 칩 모델에 통과시킨 결과입니다. 왼쪽은 이벤트를 그대로 쌓은 것이고 오른쪽이 칩 출력입니다. roll은 응집도가 1.06에서 2.34로, pan은 1.16에서 2.76으로 올랐습니다. 아래쪽은 칩 RTL 시뮬레이션이 roll 32프레임을 받아 실제 월드 메모리에 쓴 값입니다. 8픽셀 셀에 4비트 로그 카운터라 해상도는 낮지만 같은 장면이 복원되고, 같은 칩에 자기보정 피벗을 설정해도 같은 지도가 나옵니다. 가장 아래 줄은 프레임이 쌓이며 지도가 자라는 과정입니다.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pan 녹화로 만든 월드 지도 파노라마이고, 방과 광학 테이블의 구조가 이어져 보입니다. 아래는 회전만으로 복원한 월드 지도를 회전 중심 기준 상대 3D 점구름으로 보고, 수직축으로 마이너스 35도와 플러스 35도 돌려 본 것입니다. 이 그림들은 우리 소프트웨어 모델로 만든 시각화이고 칩의 출력 형식과 같은 월드 좌표를 씁니다.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과적합의 원인은 녹화마다 손으로 맞춘 상수가 사실 피벗 하나라는 점이었습니다. 다른 녹화의 상수를 그대로 쓰면 roll이 61도 무너지지만, 피벗을 데이터에서 구하는 자기보정으로 0.67도가 됩니다. 처음 몇 창을 3자유도로 돌려 각도와 이동량을 모으고 최소제곱으로 피벗을 구한 뒤 한 자유도로 고정합니다. 정수 기준모델에서도 확인했고, 구한 피벗의 각도 오차 0.405도는 손으로 맞춘 피벗의 0.467도보다 작았습니다. 아래 표는 정답 있는 합성 장면에서 독립적으로 검증한 결과입니다. 피벗 반지름이 50에서 20,000픽셀까지 변해도 프리즈 방식은 8도에서 116도로 무너지는 반면 자기보정은 0.2에서 1.7도를 유지합니다. 기준은 코드보다 먼저 커밋했고 실패한 기준도 그대로 보고합니다.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과적합은 피벗을 데이터에서 구하는 알고리즘으로 해결했습니다. 단점은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submission\figs\hs_A1_roll.png"/>
          <p:cNvPicPr>
            <a:picLocks noChangeAspect="1"/>
          </p:cNvPicPr>
          <p:nvPr/>
        </p:nvPicPr>
        <p:blipFill>
          <a:blip r:embed="rId3"/>
          <a:stretch>
            <a:fillRect/>
          </a:stretch>
        </p:blipFill>
        <p:spPr>
          <a:xfrm>
            <a:off x="548640" y="3291840"/>
            <a:ext cx="6492240" cy="3182112"/>
          </a:xfrm>
          <a:prstGeom prst="rect">
            <a:avLst/>
          </a:prstGeom>
        </p:spPr>
      </p:pic>
      <p:sp>
        <p:nvSpPr>
          <p:cNvPr id="14" name="Shape 10"/>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5" name="Text 11"/>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6" name="Text 12"/>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36576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4206240"/>
            <a:ext cx="64922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731520" y="4343400"/>
            <a:ext cx="6126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4754880"/>
            <a:ext cx="6126480" cy="1417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입력은 회전 중에 프레임당 수십만~수백만 이벤트가 몰리는 실제 센서 데이터다 (오른쪽: roll 녹화 100 ms 간격 이벤트 프레임).</a:t>
            </a:r>
            <a:endParaRPr lang="en-US" sz="1300" dirty="0"/>
          </a:p>
        </p:txBody>
      </p:sp>
      <p:pic>
        <p:nvPicPr>
          <p:cNvPr id="8" name="Image 0" descr="C:\SNU\포트폴리오\전국AI반도체경진대회\submission\figs\raw_frames_roll.png"/>
          <p:cNvPicPr>
            <a:picLocks noChangeAspect="1"/>
          </p:cNvPicPr>
          <p:nvPr/>
        </p:nvPicPr>
        <p:blipFill>
          <a:blip r:embed="rId3"/>
          <a:stretch>
            <a:fillRect/>
          </a:stretch>
        </p:blipFill>
        <p:spPr>
          <a:xfrm>
            <a:off x="7269480" y="4160520"/>
            <a:ext cx="4343400" cy="2240280"/>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5" name="Image 0" descr="C:\SNU\포트폴리오\전국AI반도체경진대회\submission\figs\hs_C3_roll_ecc.png"/>
          <p:cNvPicPr>
            <a:picLocks noChangeAspect="1"/>
          </p:cNvPicPr>
          <p:nvPr/>
        </p:nvPicPr>
        <p:blipFill>
          <a:blip r:embed="rId3"/>
          <a:stretch>
            <a:fillRect/>
          </a:stretch>
        </p:blipFill>
        <p:spPr>
          <a:xfrm>
            <a:off x="548640" y="3611880"/>
            <a:ext cx="4206240" cy="2624328"/>
          </a:xfrm>
          <a:prstGeom prst="rect">
            <a:avLst/>
          </a:prstGeom>
        </p:spPr>
      </p:pic>
      <p:pic>
        <p:nvPicPr>
          <p:cNvPr id="6" name="Image 1" descr="C:\SNU\포트폴리오\전국AI반도체경진대회\submission\figs\hs_C5b_err_hist.png"/>
          <p:cNvPicPr>
            <a:picLocks noChangeAspect="1"/>
          </p:cNvPicPr>
          <p:nvPr/>
        </p:nvPicPr>
        <p:blipFill>
          <a:blip r:embed="rId4"/>
          <a:stretch>
            <a:fillRect/>
          </a:stretch>
        </p:blipFill>
        <p:spPr>
          <a:xfrm>
            <a:off x="4937760" y="3611880"/>
            <a:ext cx="6675120" cy="2368296"/>
          </a:xfrm>
          <a:prstGeom prst="rect">
            <a:avLst/>
          </a:prstGeom>
        </p:spPr>
      </p:pic>
      <p:sp>
        <p:nvSpPr>
          <p:cNvPr id="7" name="Text 1"/>
          <p:cNvSpPr txBox="1"/>
          <p:nvPr/>
        </p:nvSpPr>
        <p:spPr>
          <a:xfrm>
            <a:off x="4937760" y="6016752"/>
            <a:ext cx="667512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있어 교수 데이터와 UZH 정확도는 직접 비교하지 않는다. 빠른 3축 회전에서는 추적을 잃으면 도형이 복제되는 한계가 남아 있다.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 S가 만든 월드 맵: 보정 전 소용돌이가 방의 구조로 바뀐다</a:t>
            </a:r>
            <a:endParaRPr lang="en-US" sz="2600" dirty="0"/>
          </a:p>
        </p:txBody>
      </p:sp>
      <p:pic>
        <p:nvPicPr>
          <p:cNvPr id="4" name="Image 0" descr="C:\SNU\포트폴리오\전국AI반도체경진대회\submission\figs\hs_A1_roll.png"/>
          <p:cNvPicPr>
            <a:picLocks noChangeAspect="1"/>
          </p:cNvPicPr>
          <p:nvPr/>
        </p:nvPicPr>
        <p:blipFill>
          <a:blip r:embed="rId3"/>
          <a:stretch>
            <a:fillRect/>
          </a:stretch>
        </p:blipFill>
        <p:spPr>
          <a:xfrm>
            <a:off x="548640" y="1188720"/>
            <a:ext cx="5486400" cy="2688336"/>
          </a:xfrm>
          <a:prstGeom prst="rect">
            <a:avLst/>
          </a:prstGeom>
        </p:spPr>
      </p:pic>
      <p:pic>
        <p:nvPicPr>
          <p:cNvPr id="5" name="Image 1" descr="C:\SNU\포트폴리오\전국AI반도체경진대회\submission\figs\hs_A2_pan.png"/>
          <p:cNvPicPr>
            <a:picLocks noChangeAspect="1"/>
          </p:cNvPicPr>
          <p:nvPr/>
        </p:nvPicPr>
        <p:blipFill>
          <a:blip r:embed="rId4"/>
          <a:stretch>
            <a:fillRect/>
          </a:stretch>
        </p:blipFill>
        <p:spPr>
          <a:xfrm>
            <a:off x="6217920" y="1188720"/>
            <a:ext cx="5394960" cy="1325880"/>
          </a:xfrm>
          <a:prstGeom prst="rect">
            <a:avLst/>
          </a:prstGeom>
        </p:spPr>
      </p:pic>
      <p:sp>
        <p:nvSpPr>
          <p:cNvPr id="6" name="Text 1"/>
          <p:cNvSpPr txBox="1"/>
          <p:nvPr/>
        </p:nvSpPr>
        <p:spPr>
          <a:xfrm>
            <a:off x="6217920" y="2560320"/>
            <a:ext cx="5394960" cy="5029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교수님 roll·pan 녹화 전체: 이벤트를 그대로 쌓은 것(왼쪽) 대 칩 S 출력(오른쪽), 동일 스케일. 응집도 roll 1.06 → 2.34, pan 1.16 → 2.76.</a:t>
            </a:r>
            <a:endParaRPr lang="en-US" sz="1000" dirty="0"/>
          </a:p>
        </p:txBody>
      </p:sp>
      <p:pic>
        <p:nvPicPr>
          <p:cNvPr id="7" name="Image 2" descr="C:\SNU\포트폴리오\전국AI반도체경진대회\submission\figs\chip_roll_world.png"/>
          <p:cNvPicPr>
            <a:picLocks noChangeAspect="1"/>
          </p:cNvPicPr>
          <p:nvPr/>
        </p:nvPicPr>
        <p:blipFill>
          <a:blip r:embed="rId5"/>
          <a:stretch>
            <a:fillRect/>
          </a:stretch>
        </p:blipFill>
        <p:spPr>
          <a:xfrm>
            <a:off x="548640" y="4023360"/>
            <a:ext cx="5120640" cy="1911096"/>
          </a:xfrm>
          <a:prstGeom prst="rect">
            <a:avLst/>
          </a:prstGeom>
        </p:spPr>
      </p:pic>
      <p:sp>
        <p:nvSpPr>
          <p:cNvPr id="8" name="Text 2"/>
          <p:cNvSpPr txBox="1"/>
          <p:nvPr/>
        </p:nvSpPr>
        <p:spPr>
          <a:xfrm>
            <a:off x="548640" y="5961888"/>
            <a:ext cx="512064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RTL 시뮬 roll 32프레임: 보정 없음 / 칩 출력 / 보정 피벗 설정</a:t>
            </a:r>
            <a:endParaRPr lang="en-US" sz="1000" dirty="0"/>
          </a:p>
        </p:txBody>
      </p:sp>
      <p:pic>
        <p:nvPicPr>
          <p:cNvPr id="9" name="Image 3" descr="C:\SNU\포트폴리오\전국AI반도체경진대회\submission\figs\hs_E9_roll.png"/>
          <p:cNvPicPr>
            <a:picLocks noChangeAspect="1"/>
          </p:cNvPicPr>
          <p:nvPr/>
        </p:nvPicPr>
        <p:blipFill>
          <a:blip r:embed="rId6"/>
          <a:stretch>
            <a:fillRect/>
          </a:stretch>
        </p:blipFill>
        <p:spPr>
          <a:xfrm>
            <a:off x="6217920" y="3154680"/>
            <a:ext cx="2286000" cy="2048256"/>
          </a:xfrm>
          <a:prstGeom prst="rect">
            <a:avLst/>
          </a:prstGeom>
        </p:spPr>
      </p:pic>
      <p:sp>
        <p:nvSpPr>
          <p:cNvPr id="10" name="Text 3"/>
          <p:cNvSpPr txBox="1"/>
          <p:nvPr/>
        </p:nvSpPr>
        <p:spPr>
          <a:xfrm>
            <a:off x="6217920" y="5230368"/>
            <a:ext cx="2286000" cy="36576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칩 월드 메모리 내용 (4비트 로그 카운터)</a:t>
            </a:r>
            <a:endParaRPr lang="en-US" sz="1000" dirty="0"/>
          </a:p>
        </p:txBody>
      </p:sp>
      <p:pic>
        <p:nvPicPr>
          <p:cNvPr id="11" name="Image 4" descr="C:\SNU\포트폴리오\전국AI반도체경진대회\submission\figs\chip_map_growth.png"/>
          <p:cNvPicPr>
            <a:picLocks noChangeAspect="1"/>
          </p:cNvPicPr>
          <p:nvPr/>
        </p:nvPicPr>
        <p:blipFill>
          <a:blip r:embed="rId7"/>
          <a:stretch>
            <a:fillRect/>
          </a:stretch>
        </p:blipFill>
        <p:spPr>
          <a:xfrm>
            <a:off x="8686800" y="3200400"/>
            <a:ext cx="2926080" cy="667512"/>
          </a:xfrm>
          <a:prstGeom prst="rect">
            <a:avLst/>
          </a:prstGeom>
        </p:spPr>
      </p:pic>
      <p:sp>
        <p:nvSpPr>
          <p:cNvPr id="12" name="Text 4"/>
          <p:cNvSpPr txBox="1"/>
          <p:nvPr/>
        </p:nvSpPr>
        <p:spPr>
          <a:xfrm>
            <a:off x="8686800" y="3886200"/>
            <a:ext cx="292608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프레임이 쌓이며 지도가 자란다 (2→32프레임)</a:t>
            </a:r>
            <a:endParaRPr lang="en-US" sz="1000" dirty="0"/>
          </a:p>
        </p:txBody>
      </p:sp>
      <p:sp>
        <p:nvSpPr>
          <p:cNvPr id="13" name="Text 5"/>
          <p:cNvSpPr txBox="1"/>
          <p:nvPr/>
        </p:nvSpPr>
        <p:spPr>
          <a:xfrm>
            <a:off x="8686800" y="4297680"/>
            <a:ext cx="2926080" cy="20116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읽는 법: 위쪽 두 그림은 녹화 전체를 칩 모델에 통과시킨 월드 맵이고, 왼쪽 아래 RTL 시뮬 그림은 칩 RTL이 실제로 월드 메모리에 쓴 값(8 px 셀)이다. RTL = 기준모델이 비트 단위로 같아서 같은 장면을 보여 준다.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지도 모음: pan 파노라마, 3D 시점, 외부 UZH 데이터</a:t>
            </a:r>
            <a:endParaRPr lang="en-US" sz="26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1"/>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hs_B_shapes.png"/>
          <p:cNvPicPr>
            <a:picLocks noChangeAspect="1"/>
          </p:cNvPicPr>
          <p:nvPr/>
        </p:nvPicPr>
        <p:blipFill>
          <a:blip r:embed="rId4"/>
          <a:stretch>
            <a:fillRect/>
          </a:stretch>
        </p:blipFill>
        <p:spPr>
          <a:xfrm>
            <a:off x="548640" y="3200400"/>
            <a:ext cx="5486400" cy="2450592"/>
          </a:xfrm>
          <a:prstGeom prst="rect">
            <a:avLst/>
          </a:prstGeom>
        </p:spPr>
      </p:pic>
      <p:sp>
        <p:nvSpPr>
          <p:cNvPr id="7" name="Text 2"/>
          <p:cNvSpPr txBox="1"/>
          <p:nvPr/>
        </p:nvSpPr>
        <p:spPr>
          <a:xfrm>
            <a:off x="548640" y="5687568"/>
            <a:ext cx="548640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외부 UZH shapes_rotation(59초) 칩 S 월드 맵: 복제 제거 전(왼쪽) 대 자기보정+키프레임 앵커(오른쪽), 응집도 3.18 → 10.03</a:t>
            </a:r>
            <a:endParaRPr lang="en-US" sz="10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3"/>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4"/>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548640" y="3401568"/>
            <a:ext cx="722376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자기보정: 3자유도로 (θ, tx, ty)를 모아 t = (R(θ)−I)·u 최소제곱으로 피벗 u를 구함, r² 0.9 이상이면 1자유도 고정</a:t>
            </a:r>
            <a:endParaRPr lang="en-US" sz="1000" dirty="0"/>
          </a:p>
        </p:txBody>
      </p:sp>
      <p:pic>
        <p:nvPicPr>
          <p:cNvPr id="6" name="Image 0" descr="C:\SNU\포트폴리오\전국AI반도체경진대회\submission\figs\hs_D6_roll.png"/>
          <p:cNvPicPr>
            <a:picLocks noChangeAspect="1"/>
          </p:cNvPicPr>
          <p:nvPr/>
        </p:nvPicPr>
        <p:blipFill>
          <a:blip r:embed="rId3"/>
          <a:stretch>
            <a:fillRect/>
          </a:stretch>
        </p:blipFill>
        <p:spPr>
          <a:xfrm>
            <a:off x="8046720" y="1325880"/>
            <a:ext cx="3566160" cy="1609344"/>
          </a:xfrm>
          <a:prstGeom prst="rect">
            <a:avLst/>
          </a:prstGeom>
        </p:spPr>
      </p:pic>
      <p:sp>
        <p:nvSpPr>
          <p:cNvPr id="7" name="Text 2"/>
          <p:cNvSpPr txBox="1"/>
          <p:nvPr/>
        </p:nvSpPr>
        <p:spPr>
          <a:xfrm>
            <a:off x="8046720" y="2953512"/>
            <a:ext cx="356616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다른 녹화의 상수를 쓰면(왼쪽) 번지고, 자기 녹화 상수(오른쪽)면 방이 보인다. roll, 응집도 1.28 대 2.34</a:t>
            </a:r>
            <a:endParaRPr lang="en-US" sz="1000" dirty="0"/>
          </a:p>
        </p:txBody>
      </p:sp>
      <p:graphicFrame>
        <p:nvGraphicFramePr>
          <p:cNvPr id="8" name="Chart 0"/>
          <p:cNvGraphicFramePr/>
          <p:nvPr/>
        </p:nvGraphicFramePr>
        <p:xfrm>
          <a:off x="548640" y="3749040"/>
          <a:ext cx="731520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3"/>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4"/>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5"/>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3" name="Shape 6"/>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7"/>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8"/>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2"/>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3"/>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420624">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1"/>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2"/>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8" name="Text 3"/>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4"/>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pic>
        <p:nvPicPr>
          <p:cNvPr id="10" name="Image 1" descr="C:\SNU\포트폴리오\전국AI반도체경진대회\submission\figs\chip_bank_hist.png"/>
          <p:cNvPicPr>
            <a:picLocks noChangeAspect="1"/>
          </p:cNvPicPr>
          <p:nvPr/>
        </p:nvPicPr>
        <p:blipFill>
          <a:blip r:embed="rId4"/>
          <a:stretch>
            <a:fillRect/>
          </a:stretch>
        </p:blipFill>
        <p:spPr>
          <a:xfrm>
            <a:off x="548640" y="4069080"/>
            <a:ext cx="6949440" cy="1938528"/>
          </a:xfrm>
          <a:prstGeom prst="rect">
            <a:avLst/>
          </a:prstGeom>
        </p:spPr>
      </p:pic>
      <p:sp>
        <p:nvSpPr>
          <p:cNvPr id="11" name="Text 5"/>
          <p:cNvSpPr txBox="1"/>
          <p:nvPr/>
        </p:nvSpPr>
        <p:spPr>
          <a:xfrm>
            <a:off x="548640" y="6035040"/>
            <a:ext cx="694944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한계: 교육용 PDK에는 SRAM 매크로가 없어 FF 기반(비트당 약 11.8 µm²). 큰 월드로 가려면 SRAM이 필요하다.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1"/>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4"/>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5"/>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1" name="Text 6"/>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7"/>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8"/>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5265</Words>
  <Application>Microsoft Office PowerPoint</Application>
  <PresentationFormat>와이드스크린</PresentationFormat>
  <Paragraphs>465</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Regular</vt:lpstr>
      <vt:lpstr>Arial</vt:lpstr>
      <vt:lpstr>나눔스퀘어 네오 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2026-10-30T06:53:57Z</dcterms:created>
  <dcterms:modified xsi:type="dcterms:W3CDTF">2026-10-30T06:54:07Z</dcterms:modified>
</cp:coreProperties>
</file>