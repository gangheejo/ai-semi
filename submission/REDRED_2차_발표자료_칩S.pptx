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3.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정답 있는 합성 장면: 각도 오차 (°)</a:t>
            </a:r>
          </a:p>
        </c:rich>
      </c:tx>
      <c:overlay val="0"/>
    </c:title>
    <c:autoTitleDeleted val="0"/>
    <c:plotArea>
      <c:layout/>
      <c:barChart>
        <c:barDir val="col"/>
        <c:grouping val="clustered"/>
        <c:varyColors val="0"/>
        <c:ser>
          <c:idx val="0"/>
          <c:order val="0"/>
          <c:tx>
            <c:strRef>
              <c:f>Sheet1!$B$1</c:f>
              <c:strCache>
                <c:ptCount val="1"/>
                <c:pt idx="0">
                  <c:v>자기보정</c:v>
                </c:pt>
              </c:strCache>
            </c:strRef>
          </c:tx>
          <c:spPr>
            <a:solidFill>
              <a:srgbClr val="0066CC"/>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Sheet1!$B$2:$B$4</c:f>
              <c:numCache>
                <c:formatCode>General</c:formatCode>
                <c:ptCount val="3"/>
                <c:pt idx="0">
                  <c:v>0.28999999999999998</c:v>
                </c:pt>
                <c:pt idx="1">
                  <c:v>0.22</c:v>
                </c:pt>
                <c:pt idx="2">
                  <c:v>1.68</c:v>
                </c:pt>
              </c:numCache>
            </c:numRef>
          </c:val>
          <c:extLst>
            <c:ext xmlns:c16="http://schemas.microsoft.com/office/drawing/2014/chart" uri="{C3380CC4-5D6E-409C-BE32-E72D297353CC}">
              <c16:uniqueId val="{00000000-4F52-4276-8134-119E2A74F53F}"/>
            </c:ext>
          </c:extLst>
        </c:ser>
        <c:ser>
          <c:idx val="1"/>
          <c:order val="1"/>
          <c:tx>
            <c:strRef>
              <c:f>Sheet1!$C$1</c:f>
              <c:strCache>
                <c:ptCount val="1"/>
                <c:pt idx="0">
                  <c:v>재맞춤</c:v>
                </c:pt>
              </c:strCache>
            </c:strRef>
          </c:tx>
          <c:spPr>
            <a:solidFill>
              <a:srgbClr val="7A7A7A"/>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Sheet1!$C$2:$C$4</c:f>
              <c:numCache>
                <c:formatCode>General</c:formatCode>
                <c:ptCount val="3"/>
                <c:pt idx="0">
                  <c:v>0.25</c:v>
                </c:pt>
                <c:pt idx="1">
                  <c:v>0.1</c:v>
                </c:pt>
                <c:pt idx="2">
                  <c:v>0.06</c:v>
                </c:pt>
              </c:numCache>
            </c:numRef>
          </c:val>
          <c:extLst>
            <c:ext xmlns:c16="http://schemas.microsoft.com/office/drawing/2014/chart" uri="{C3380CC4-5D6E-409C-BE32-E72D297353CC}">
              <c16:uniqueId val="{00000001-4F52-4276-8134-119E2A74F53F}"/>
            </c:ext>
          </c:extLst>
        </c:ser>
        <c:ser>
          <c:idx val="2"/>
          <c:order val="2"/>
          <c:tx>
            <c:strRef>
              <c:f>Sheet1!$D$1</c:f>
              <c:strCache>
                <c:ptCount val="1"/>
                <c:pt idx="0">
                  <c:v>프리즈 (다른 녹화 상수)</c:v>
                </c:pt>
              </c:strCache>
            </c:strRef>
          </c:tx>
          <c:spPr>
            <a:solidFill>
              <a:srgbClr val="1D1D1F"/>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Sheet1!$D$2:$D$4</c:f>
              <c:numCache>
                <c:formatCode>General</c:formatCode>
                <c:ptCount val="3"/>
                <c:pt idx="0">
                  <c:v>8.3000000000000007</c:v>
                </c:pt>
                <c:pt idx="1">
                  <c:v>18.100000000000001</c:v>
                </c:pt>
                <c:pt idx="2">
                  <c:v>115.9</c:v>
                </c:pt>
              </c:numCache>
            </c:numRef>
          </c:val>
          <c:extLst>
            <c:ext xmlns:c16="http://schemas.microsoft.com/office/drawing/2014/chart" uri="{C3380CC4-5D6E-409C-BE32-E72D297353CC}">
              <c16:uniqueId val="{00000002-4F52-4276-8134-119E2A74F53F}"/>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30"/>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b"/>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직접 곱셈 대비 상대값 (작을수록 좋음)</a:t>
            </a:r>
          </a:p>
        </c:rich>
      </c:tx>
      <c:overlay val="0"/>
    </c:title>
    <c:autoTitleDeleted val="0"/>
    <c:plotArea>
      <c:layout/>
      <c:barChart>
        <c:barDir val="col"/>
        <c:grouping val="clustered"/>
        <c:varyColors val="0"/>
        <c:ser>
          <c:idx val="0"/>
          <c:order val="0"/>
          <c:tx>
            <c:strRef>
              <c:f>Sheet1!$B$1</c:f>
              <c:strCache>
                <c:ptCount val="1"/>
                <c:pt idx="0">
                  <c:v>직접 곱셈</c:v>
                </c:pt>
              </c:strCache>
            </c:strRef>
          </c:tx>
          <c:spPr>
            <a:solidFill>
              <a:srgbClr val="7A7A7A"/>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Sheet1!$B$2:$B$3</c:f>
              <c:numCache>
                <c:formatCode>General</c:formatCode>
                <c:ptCount val="2"/>
                <c:pt idx="0">
                  <c:v>1</c:v>
                </c:pt>
                <c:pt idx="1">
                  <c:v>1</c:v>
                </c:pt>
              </c:numCache>
            </c:numRef>
          </c:val>
          <c:extLst>
            <c:ext xmlns:c16="http://schemas.microsoft.com/office/drawing/2014/chart" uri="{C3380CC4-5D6E-409C-BE32-E72D297353CC}">
              <c16:uniqueId val="{00000000-F465-407F-89E5-A16853E62E70}"/>
            </c:ext>
          </c:extLst>
        </c:ser>
        <c:ser>
          <c:idx val="1"/>
          <c:order val="1"/>
          <c:tx>
            <c:strRef>
              <c:f>Sheet1!$C$1</c:f>
              <c:strCache>
                <c:ptCount val="1"/>
                <c:pt idx="0">
                  <c:v>증분 변환 8레인 (채택)</c:v>
                </c:pt>
              </c:strCache>
            </c:strRef>
          </c:tx>
          <c:spPr>
            <a:solidFill>
              <a:srgbClr val="0066CC"/>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Sheet1!$C$2:$C$3</c:f>
              <c:numCache>
                <c:formatCode>General</c:formatCode>
                <c:ptCount val="2"/>
                <c:pt idx="0">
                  <c:v>0.44</c:v>
                </c:pt>
                <c:pt idx="1">
                  <c:v>0.39</c:v>
                </c:pt>
              </c:numCache>
            </c:numRef>
          </c:val>
          <c:extLst>
            <c:ext xmlns:c16="http://schemas.microsoft.com/office/drawing/2014/chart" uri="{C3380CC4-5D6E-409C-BE32-E72D297353CC}">
              <c16:uniqueId val="{00000001-F465-407F-89E5-A16853E62E70}"/>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r"/>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월드 표현별 지도 상관 (높을수록 좋음)</a:t>
            </a:r>
          </a:p>
        </c:rich>
      </c:tx>
      <c:overlay val="0"/>
    </c:title>
    <c:autoTitleDeleted val="0"/>
    <c:plotArea>
      <c:layout/>
      <c:barChart>
        <c:barDir val="bar"/>
        <c:grouping val="clustered"/>
        <c:varyColors val="0"/>
        <c:ser>
          <c:idx val="0"/>
          <c:order val="0"/>
          <c:tx>
            <c:strRef>
              <c:f>Sheet1!$B$1</c:f>
              <c:strCache>
                <c:ptCount val="1"/>
                <c:pt idx="0">
                  <c:v>지도 상관</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31A2-4287-8DCB-40ECAF9EE073}"/>
              </c:ext>
            </c:extLst>
          </c:dPt>
          <c:dPt>
            <c:idx val="1"/>
            <c:invertIfNegative val="0"/>
            <c:bubble3D val="0"/>
            <c:spPr>
              <a:solidFill>
                <a:srgbClr val="7A7A7A"/>
              </a:solidFill>
              <a:effectLst/>
            </c:spPr>
            <c:extLst>
              <c:ext xmlns:c16="http://schemas.microsoft.com/office/drawing/2014/chart" uri="{C3380CC4-5D6E-409C-BE32-E72D297353CC}">
                <c16:uniqueId val="{00000003-31A2-4287-8DCB-40ECAF9EE073}"/>
              </c:ext>
            </c:extLst>
          </c:dPt>
          <c:dPt>
            <c:idx val="2"/>
            <c:invertIfNegative val="0"/>
            <c:bubble3D val="0"/>
            <c:spPr>
              <a:solidFill>
                <a:srgbClr val="7A7A7A"/>
              </a:solidFill>
              <a:effectLst/>
            </c:spPr>
            <c:extLst>
              <c:ext xmlns:c16="http://schemas.microsoft.com/office/drawing/2014/chart" uri="{C3380CC4-5D6E-409C-BE32-E72D297353CC}">
                <c16:uniqueId val="{00000005-31A2-4287-8DCB-40ECAF9EE073}"/>
              </c:ext>
            </c:extLst>
          </c:dPt>
          <c:dPt>
            <c:idx val="3"/>
            <c:invertIfNegative val="0"/>
            <c:bubble3D val="0"/>
            <c:spPr>
              <a:solidFill>
                <a:srgbClr val="7A7A7A"/>
              </a:solidFill>
              <a:effectLst/>
            </c:spPr>
            <c:extLst>
              <c:ext xmlns:c16="http://schemas.microsoft.com/office/drawing/2014/chart" uri="{C3380CC4-5D6E-409C-BE32-E72D297353CC}">
                <c16:uniqueId val="{00000007-31A2-4287-8DCB-40ECAF9EE073}"/>
              </c:ext>
            </c:extLst>
          </c:dPt>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8 px 격자 (채택)</c:v>
                </c:pt>
                <c:pt idx="1">
                  <c:v>선형 극좌표</c:v>
                </c:pt>
                <c:pt idx="2">
                  <c:v>로그 극좌표</c:v>
                </c:pt>
                <c:pt idx="3">
                  <c:v>블록 부동소수점</c:v>
                </c:pt>
              </c:strCache>
            </c:strRef>
          </c:cat>
          <c:val>
            <c:numRef>
              <c:f>Sheet1!$B$2:$B$5</c:f>
              <c:numCache>
                <c:formatCode>General</c:formatCode>
                <c:ptCount val="4"/>
                <c:pt idx="0">
                  <c:v>0.92</c:v>
                </c:pt>
                <c:pt idx="1">
                  <c:v>0.87</c:v>
                </c:pt>
                <c:pt idx="2">
                  <c:v>0.71</c:v>
                </c:pt>
                <c:pt idx="3">
                  <c:v>0.6</c:v>
                </c:pt>
              </c:numCache>
            </c:numRef>
          </c:val>
          <c:extLst>
            <c:ext xmlns:c16="http://schemas.microsoft.com/office/drawing/2014/chart" uri="{C3380CC4-5D6E-409C-BE32-E72D297353CC}">
              <c16:uniqueId val="{00000008-31A2-4287-8DCB-40ECAF9EE07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
          <c:min val="0"/>
        </c:scaling>
        <c:delete val="0"/>
        <c:axPos val="b"/>
        <c:majorGridlines>
          <c:spPr>
            <a:ln w="6350" cap="flat">
              <a:solidFill>
                <a:srgbClr val="E8E8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3650397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카메라가 내보내는 이벤트를 하나의 월드 지도에 쌓는 칩을 만들었습니다. 교수님 센서의 원본 데이터 형식을 직접 해독해서 칩 입력으로 쓰고, 설계부터 배치배선과 검증까지 끝낸 풀칩입니다. 이 발표에서는 결과뿐 아니라 안 된 것과 고친 과정, 그리고 아직 남은 한계도 숨기지 않고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발표의 핵심 특장점 여섯 가지를 먼저 말씀드립니다. 첫째, 설계한 RTL이 기준모델과 한 비트도 다르지 않습니다. 변환과 쓰기 경로, 추정기, 종단 시뮬레이션이 모두 불일치 0이고 논리 동등성 검사도 통과했습니다. 둘째, 풀칩을 8나노초에서 배치배선하고 signoff 타이밍 여유 2.4나노초로 통과했습니다. 셋째, 교수님의 실제 roll 영상에서 각도 오차가 평균 0.47도입니다. 넷째, 칩에 녹화에 맞춘 상수가 있었는데 그게 사실 피벗 하나였고, 데이터에서 구하는 해결 알고리즘으로 61도 붕괴가 0.67도로 줄어드는 것을 정답 있는 합성 장면에서 독립적으로 확인했습니다. 칩은 이 상수를 설정 레지스터로 받는 구조입니다. 다섯째, 교수님 센서의 원본 데이터를 직접 해독해서 칩이 그대로 받습니다. 여섯째, 후보 약 60개를 측정으로 걸러냈고 안 된 것과 고친 과정도 다섯 쪽에 걸쳐 모두 적었습니다. 그리고 한계도 있습니다. 출하 클록은 8나노초이고, 전력은 활동도 입력이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센서의 다른 픽셀에서 발화하므로, 이벤트를 그대로 쌓으면 왼쪽처럼 소용돌이로 번집니다. 회전각으로 좌표를 되돌려 쌓으면 오른쪽처럼 방의 구조가 보입니다. 그래서 칩이 해야 할 일은 두 가지입니다. 회전각을 구하고, 그 각도로 이벤트마다 월드 좌표를 계산해 월드 메모리에 쓰는 것입니다. 제약은 교수님 Q&amp;A로 확정됐습니다. 회전은 180도 이내이고 평행 이동은 없습니다.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주신 녹화는 .dvs 파일이고, 삼성 S5KRC1S 센서의 group AER 형식입니다. 이벤트 워드 하나가 최대 16픽셀을 담고, 컬럼 주소는 컬럼마다 한 번, 타임스탬프는 프레임마다 하나입니다. 프레임 주기는 1000fps가 아니라 실측 773마이크로초, 약 1294fps였습니다. 녹화는 두 개입니다. roll은 7500만 이벤트에 총 323도 회전하고, pan은 8700만 이벤트에 수평 1680픽셀 움직입니다. 정답 각도가 없어서 프레임끼리 정합하는 방법으로 정답을 대신 만들었고, 외부 벤치마크로 UZH 회전 시퀀스도 같은 디코더에 넣어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칩의 구조입니다. 위쪽 줄이 쓰기 경로입니다. 센서의 group AER 워드가 디코더로 들어가고, 변환 8레인이 픽셀마다 월드 좌표를 계산하고, 직렬화기와 월드 라이터를 거쳐 월드 메모리 뱅크에 쓰입니다. 아래쪽 줄이 자세 추정기입니다. 같은 워드를 받아 시야 범위의 1비트 지도 세 장으로 회전각을 추정하고, CORDIC으로 만든 프레임 파라미터를 변환 레인에 프레임마다 한 번 넘겨줍니다. 칩 안에서 이벤트만으로 각도를 구하므로 외부에서 각도를 받을 필요가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타이밍을 쟀습니다. 8 ns, 125메가헤르츠에서 setup 여유가 2.4나노초, hold 여유는 7피코초로 위반이 없습니다. 센서의 최악 처리량이 약 112메가헤르츠라서 8나노초면 충족합니다. 8킬로비트 하드매크로 46개가 면적의 대부분이고, 표준셀은 0.33제곱밀리미터뿐입니다. DRC는 전원선 via 스택 10건만 남았는데, 신호선과 표준셀 위반은 없습니다. 이 10건을 없애려면 전원 배선부터 다시 만드는 풀 P&amp;R이 필요해서 타이밍 클로저 위험 때문에 하지 않았습니다. 전력 13밀리와트는 벡터 없는 기본 활동도 값이고 매크로 내부 전력이 0으로 잡혀 있어 절대값 신뢰도는 낮습니다.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교수 roll, pan과 UZH 세 데이터에서 픽셀마다 좌표와 뱅크, 주소, 니블을 비교하고, 끝에 월드 메모리 전체를 비교했는데 불일치가 없었습니다. 추정기는 교수 데이터 네 구간에서 프레임 파라미터와 창 상태, 점수, 끝 평면이 전부 일치했습니다. 칩 전체를 이은 종단 시뮬레이션도 프레임 파라미터, 창 상태, 최종 월드 메모리 2048워드까지 일치했습니다. 논리 동등성 검사는 합성 결과와 최종 넷리스트가 같은지 확인해 통과했고, 처음 시도한 평면 비교는 중단돼서 두 단계로 나눠 풀었습니다.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정수 기준모델의 정확도입니다. roll 녹화에서 ECC 정답 대비 평균 0.47도, pan에서 평균 14픽셀입니다. 이 정수 모델은 RTL의 사양이고, RTL과 비트 단위로 일치합니다. 다만 UZH 회전 시퀀스에서 3자유도 정수 모델의 정확도는 좋지 않았습니다. 5초 간격 중복 지표가 91픽셀로, float 기준 15픽셀에 한참 못 미칩니다. 원인은 이동량 차이를 기준 평면 각도로 돌려 주지 않는 근사로 의심되고, 교수님 데이터는 회전 한 자유도라 영향이 없습니다. 그래서 UZH에서의 RTL은 하드웨어 일치 검증용으로만 쓰고 정확도 수치로는 인용하지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위쪽은 교수님 roll과 pan 녹화 전체를 칩 모델에 통과시킨 결과입니다. 왼쪽은 이벤트를 그대로 쌓은 것이고 오른쪽이 칩 출력입니다. roll은 응집도가 1.06에서 2.34로, pan은 1.16에서 2.76으로 올랐습니다. 아래쪽은 칩 RTL 시뮬레이션이 roll 32프레임을 받아 실제 월드 메모리에 쓴 값입니다. 8픽셀 셀에 4비트 로그 카운터라 해상도는 낮지만 같은 장면이 복원되고, 같은 칩에 자기보정 피벗을 설정해도 같은 지도가 나옵니다. 가장 아래 줄은 프레임이 쌓이며 지도가 자라는 과정입니다.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위쪽은 pan 녹화로 만든 월드 지도 파노라마이고, 방과 광학 테이블의 구조가 이어져 보입니다. 아래는 회전만으로 복원한 월드 지도를 회전 중심 기준 상대 3D 점구름으로 보고, 수직축으로 마이너스 35도와 플러스 35도 돌려 본 것입니다. 이 그림들은 우리 소프트웨어 모델로 만든 시각화이고 칩의 출력 형식과 같은 월드 좌표를 씁니다.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과적합의 원인은 녹화마다 손으로 맞춘 상수가 사실 피벗 하나라는 점이었습니다. 다른 녹화의 상수를 그대로 쓰면 roll이 61도 무너지지만, 피벗을 데이터에서 구하는 자기보정으로 0.67도가 됩니다. 처음 몇 창을 3자유도로 돌려 각도와 이동량을 모으고 최소제곱으로 피벗을 구한 뒤 한 자유도로 고정합니다. 정수 기준모델에서도 확인했고, 구한 피벗의 각도 오차 0.405도는 손으로 맞춘 피벗의 0.467도보다 작았습니다. 아래 표는 정답 있는 합성 장면에서 독립적으로 검증한 결과입니다. 피벗 반지름이 50에서 20,000픽셀까지 변해도 프리즈 방식은 8도에서 116도로 무너지는 반면 자기보정은 0.2에서 1.7도를 유지합니다. 기준은 코드보다 먼저 커밋했고 실패한 기준도 그대로 보고합니다.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넓게 비교해서 골랐습니다. 직접 곱셈, CORDIC, 3단 전단 분해, 그리고 이번에 채택한 증분 변환을 같은 통합 모델에서 비교했습니다. 증분 변환 8레인은 곱셈기가 없고, 직접 곱셈과 출력이 한 비트도 다르지 않으면서 합성 면적은 2.29분의 1, 전력은 2.54분의 1입니다. 단, 이 이득은 센서가 8픽셀 묶음으로 데이터를 줄 때만 납니다. 한 픽셀씩 직렬로 처리하면 오히려 1.9배 큽니다. 교수님 센서가 group AER라서 맞아떨어진 선택입니다. CORDIC은 면적이 커서, 3단 전단은 정수 픽셀 전단이 비트 일치가 아니어서 탈락했습니다.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단위 셀에 4비트짜리 확률적 로그 카운터를 둡니다. 이벤트가 들어올 때마다 셀 값을 올리는데, LFSR 난수로 확률적으로 올려서 4비트로도 넓은 범위를 셉니다. 2비트 극성은 셀의 96퍼센트가 포화돼서 장면이 거의 안 남아 탈락했습니다. 메모리는 8킬로비트 하드매크로 뱅크로 쪼개서 공간 타일로 배치했고, 시야 아래쪽 뱅크만 클록을 켭니다. 읽기와 쓰기 횟수를 줄이려고 프레임 단위로 비우는 64칸 병합 캐시를 앞에 두었는데, 64칸이면 프레임당 서로 다른 워드 수와 정확히 같아서 이상적인 병합입니다. 면적은 사실상 메모리가 결정합니다.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이벤트만으로 회전각을 구합니다. 시야 범위를 3픽셀 셀로 나눈 1비트 지도를 세 장 둡니다. 직전 창, 현재 창, 그리고 키프레임 앵커입니다. 창의 이벤트를 후보 각도 아홉 개로 돌려서 직전 지도와 겹치는 정도를 점수로 매기고, 가장 높은 후보를 포물선으로 보정합니다. 느릴 때만 창을 8프레임으로 늘리고, 속도는 이전 값과 섞습니다. 키프레임은 각도가 30도 이상 벌어지면 교체해서 누적 오차를 줄입니다. 이 구조를 정수 기준모델로 먼저 만들고, 같은 동작을 RTL로 구현해 비트 단위로 맞췄습니다.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시행착오입니다. 5.5나노초를 목표로 배치배선했고 정적 타이밍 분석은 여유가 25피코초로 통과했습니다. 그런데 느린 코너 SDF로 게이트 시뮬레이션을 돌리면 5.5나노초에서 정지했고 6나노초에서는 불일치가 났습니다. 8나노초와 12나노초에서는 완주해서 비트 단위로 일치합니다. 같은 넷리스트가 정적 분석에서는 위반이 없는데 시뮬에서만 이상해서 원인을 추적했습니다. 매크로 모델의 경주, 입력 인가 지연, 셀 모델의 타이밍 검사를 하나씩 배제했지만 끝내 규명하지 못했습니다. 그래서 출하 클록을 8나노초로 고정하고, 규명하지 못했다는 사실을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설계는 후보를 먼저 넓게 모으고 측정으로 걸러서 정했습니다. 약 60개 후보가 있었고, 후보마다 측정 결과와 탈락 사유를 문서로 남겼습니다. 월드 표현에서는 해시 스케치, 블록 부동소수점, 희소 월드, 로그 극좌표를 시험했는데 모두 상관이나 비트 비용에서 졌습니다. 추정기에서는 셀별 깊이 지도가 정답 궤적에서는 10퍼센트 좋아 보였지만 칩 안 추정 궤적에서는 틀린 방향 대조군이 더 높게 나와서 추정 오차를 흡수하는 것으로 판단하고 뺐습니다. 래치 메모리는 배치 후 시뮬에서 24퍼센트가 불일치해서 탈락했습니다. 무엇을 안 했는지도 설계의 일부라고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메모리 구현과 물리 설계에서 많이 막혔습니다. 교육용 PDK에는 SRAM이 없어서 32킬로비트 뱅크로 세 방식을 실측했습니다. 플립플롭과 클록 게이팅은 레이아웃, 추출, 배치 후 시뮬이 전부 닫히는 유일한 방식이었고, 래치는 시뮬이 맞지 않았고, 오픈 소스 메모리는 GDS 병합이 안 됐습니다. 추정기 평면은 비트마다 유지용 선택기가 붙어서 면적이 0.55제곱밀리미터 늘고 클록 게이팅이 안 걸려서 단어 단위 쓰기로 다시 만들었습니다. 풀칩 DRC는 전원선 via 스택 105건에서 시작해 26건, 10건으로 줄였는데, 고치는 스크립트의 버그로 전원 연결이 끊긴 곳이 15에서 36곳 생겨서 사전 검사 방식으로 바꿨습니다.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안에서 저희는 다른 설계 라인도 병행해서 만들었습니다. 이 라인에서 얻은 시행착오를 함께 적습니다. 첫째, 클록 게이팅 hold 위반이 마이너스 30피코초였는데, 원인이 클록 트리가 래치를 일찍 여는 것임을 찾아 라이브러리 클록 게이트 셀로 바꿔 해결했습니다. 남은 7피코초 위반은 버퍼를 넣는 방법이 밀집 영역에서 멀리 밀려나 실패했고, 선택 회로를 한 단계 느린 셀로 교체하는 방법으로 풀었습니다. 둘째, 키프레임과 루프 클로저를 쓰는 SLAM식 지도는 합성과 실제 영상 모두에서 이득이 없어 기각했습니다. 셋째, 1024각도 좌표 변환은 표 방식이 배선이 안 풀려 직접 행렬곱이 맞았습니다. 넷째, 추정기를 플립플롭 메모리로 단독 배치배선하면 타이밍이 17나노초 모자라 SRAM이 필요하다는 근거가 되었습니다.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병행 설계 라인에서 저희는 생체 모방 아이디어를 여러 개 시도했습니다. 원칙은 합성 장면에서 좋아 보여도 실제 프레임과 사전에 정한 기준으로 다시 확인하는 것이었습니다. 채택한 것은 세 가지입니다. 이벤트를 열 단위로 묶는 중심와식 클러스터링은 손실을 57.6퍼센트에서 6.9퍼센트로 줄였고, 눈 깜빡임을 본뜬 유휴 시 코어 클록 차단은 유휴가 긴 입력에서 전력을 71퍼센트 줄였으며, 메모리 행 단위 선택적 활성화는 실제 DELTA 활동도에서 전력을 65.5퍼센트 줄였습니다. 반대로 이득 조절은 합성 장면에서만 이득이 있어 정정했고, 원심성 복사는 UZH에서는 23.4도에서 8.5도로 좋아졌지만 RobotEvt에서는 기준을 못 넘어 기각했습니다. 희소 행 할당과 기억 소멸, 키프레임 지도도 사전 기준을 넘지 못했습니다. 칩 S의 전력 13밀리와트는 활동도 입력이 없는 값이라서, 절감 효과는 이 병행 실측으로 보강합니다. 단 blink의 71퍼센트는 유휴가 길도록 만든 시험 입력의 값이고, 실제 DELTA에서 칩이 일하는 시간은 3에서 25퍼센트입니다.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칩의 장점은 교수님 센서의 원본 데이터를 직접 받아 실제 영상에서 동작하고, 기준모델과 비트 단위로 같고, 배치배선과 signoff까지 닫혔다는 점입니다. 과적합은 피벗을 데이터에서 구하는 알고리즘으로 해결했습니다. 단점은 출하 클록이 8나노초로 물러났고, 느린 코너 시뮬이 5.5나노초에서 맞지 않는 이유를 규명하지 못했습니다. 고려할 점으로, 월드를 1024 곱하기 1024로 키우면 메모리가 지배하므로 SRAM이 필요하고, 전력은 활동도 기반 측정이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과적합 해결 알고리즘 (검증 완료)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합성 정답에서 독립 검증, 칩은 상수를 레지스터로 받음 (11쪽)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5쪽(생체 모방 포함)을 숨김없이 수록 (15~19쪽)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출하 클록은 8 ns · 전력은 활동도 입력 없는 값 (19쪽에서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 극성</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프레임당 타임스탬프 1개</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칩이 하는 일</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submission\figs\hs_A1_roll.png"/>
          <p:cNvPicPr>
            <a:picLocks noChangeAspect="1"/>
          </p:cNvPicPr>
          <p:nvPr/>
        </p:nvPicPr>
        <p:blipFill>
          <a:blip r:embed="rId3"/>
          <a:stretch>
            <a:fillRect/>
          </a:stretch>
        </p:blipFill>
        <p:spPr>
          <a:xfrm>
            <a:off x="548640" y="3291840"/>
            <a:ext cx="6492240" cy="3182112"/>
          </a:xfrm>
          <a:prstGeom prst="rect">
            <a:avLst/>
          </a:prstGeom>
        </p:spPr>
      </p:pic>
      <p:sp>
        <p:nvSpPr>
          <p:cNvPr id="14" name="Shape 10"/>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5" name="Text 11"/>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6" name="Text 12"/>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배치배선까지 닫혔는가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36576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3" name="Shape 1"/>
          <p:cNvSpPr/>
          <p:nvPr/>
        </p:nvSpPr>
        <p:spPr>
          <a:xfrm>
            <a:off x="548640" y="4206240"/>
            <a:ext cx="649224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731520" y="4343400"/>
            <a:ext cx="6126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3"/>
          <p:cNvSpPr txBox="1"/>
          <p:nvPr/>
        </p:nvSpPr>
        <p:spPr>
          <a:xfrm>
            <a:off x="731520" y="4754880"/>
            <a:ext cx="6126480" cy="1417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300" dirty="0"/>
          </a:p>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입력은 회전 중에 프레임당 수십만~수백만 이벤트가 몰리는 실제 센서 데이터다 (오른쪽: roll 녹화 100 ms 간격 이벤트 프레임).</a:t>
            </a:r>
            <a:endParaRPr lang="en-US" sz="1300" dirty="0"/>
          </a:p>
        </p:txBody>
      </p:sp>
      <p:pic>
        <p:nvPicPr>
          <p:cNvPr id="8" name="Image 0" descr="C:\SNU\포트폴리오\전국AI반도체경진대회\submission\figs\raw_frames_roll.png"/>
          <p:cNvPicPr>
            <a:picLocks noChangeAspect="1"/>
          </p:cNvPicPr>
          <p:nvPr/>
        </p:nvPicPr>
        <p:blipFill>
          <a:blip r:embed="rId3"/>
          <a:stretch>
            <a:fillRect/>
          </a:stretch>
        </p:blipFill>
        <p:spPr>
          <a:xfrm>
            <a:off x="7269480" y="4160520"/>
            <a:ext cx="4343400" cy="2240280"/>
          </a:xfrm>
          <a:prstGeom prst="rect">
            <a:avLst/>
          </a:prstGeom>
        </p:spPr>
      </p:pic>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4" name="Shape 1"/>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2"/>
          <p:cNvSpPr txBox="1"/>
          <p:nvPr/>
        </p:nvSpPr>
        <p:spPr>
          <a:xfrm>
            <a:off x="62179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3"/>
          <p:cNvSpPr txBox="1"/>
          <p:nvPr/>
        </p:nvSpPr>
        <p:spPr>
          <a:xfrm>
            <a:off x="62179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4"/>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5"/>
          <p:cNvSpPr txBox="1"/>
          <p:nvPr/>
        </p:nvSpPr>
        <p:spPr>
          <a:xfrm>
            <a:off x="2770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6"/>
          <p:cNvSpPr txBox="1"/>
          <p:nvPr/>
        </p:nvSpPr>
        <p:spPr>
          <a:xfrm>
            <a:off x="2770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7"/>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8"/>
          <p:cNvSpPr txBox="1"/>
          <p:nvPr/>
        </p:nvSpPr>
        <p:spPr>
          <a:xfrm>
            <a:off x="4919472" y="162763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9"/>
          <p:cNvSpPr txBox="1"/>
          <p:nvPr/>
        </p:nvSpPr>
        <p:spPr>
          <a:xfrm>
            <a:off x="4919472" y="201168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0"/>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1"/>
          <p:cNvSpPr txBox="1"/>
          <p:nvPr/>
        </p:nvSpPr>
        <p:spPr>
          <a:xfrm>
            <a:off x="7342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2"/>
          <p:cNvSpPr txBox="1"/>
          <p:nvPr/>
        </p:nvSpPr>
        <p:spPr>
          <a:xfrm>
            <a:off x="7342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3"/>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4"/>
          <p:cNvSpPr txBox="1"/>
          <p:nvPr/>
        </p:nvSpPr>
        <p:spPr>
          <a:xfrm>
            <a:off x="9491472" y="1627632"/>
            <a:ext cx="20482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5"/>
          <p:cNvSpPr txBox="1"/>
          <p:nvPr/>
        </p:nvSpPr>
        <p:spPr>
          <a:xfrm>
            <a:off x="9491472" y="2011680"/>
            <a:ext cx="20482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6"/>
          <p:cNvSpPr/>
          <p:nvPr/>
        </p:nvSpPr>
        <p:spPr>
          <a:xfrm>
            <a:off x="2286000" y="2240280"/>
            <a:ext cx="411480" cy="0"/>
          </a:xfrm>
          <a:prstGeom prst="line">
            <a:avLst/>
          </a:prstGeom>
          <a:noFill/>
          <a:ln w="19050">
            <a:solidFill>
              <a:srgbClr val="7A7A7A"/>
            </a:solidFill>
            <a:prstDash val="solid"/>
            <a:tailEnd type="triangle"/>
          </a:ln>
        </p:spPr>
      </p:sp>
      <p:sp>
        <p:nvSpPr>
          <p:cNvPr id="20" name="Shape 17"/>
          <p:cNvSpPr/>
          <p:nvPr/>
        </p:nvSpPr>
        <p:spPr>
          <a:xfrm>
            <a:off x="4434840" y="2240280"/>
            <a:ext cx="411480" cy="0"/>
          </a:xfrm>
          <a:prstGeom prst="line">
            <a:avLst/>
          </a:prstGeom>
          <a:noFill/>
          <a:ln w="19050">
            <a:solidFill>
              <a:srgbClr val="7A7A7A"/>
            </a:solidFill>
            <a:prstDash val="solid"/>
            <a:tailEnd type="triangle"/>
          </a:ln>
        </p:spPr>
      </p:sp>
      <p:sp>
        <p:nvSpPr>
          <p:cNvPr id="21" name="Shape 18"/>
          <p:cNvSpPr/>
          <p:nvPr/>
        </p:nvSpPr>
        <p:spPr>
          <a:xfrm>
            <a:off x="6858000" y="2240280"/>
            <a:ext cx="411480" cy="0"/>
          </a:xfrm>
          <a:prstGeom prst="line">
            <a:avLst/>
          </a:prstGeom>
          <a:noFill/>
          <a:ln w="19050">
            <a:solidFill>
              <a:srgbClr val="7A7A7A"/>
            </a:solidFill>
            <a:prstDash val="solid"/>
            <a:tailEnd type="triangle"/>
          </a:ln>
        </p:spPr>
      </p:sp>
      <p:sp>
        <p:nvSpPr>
          <p:cNvPr id="22" name="Shape 19"/>
          <p:cNvSpPr/>
          <p:nvPr/>
        </p:nvSpPr>
        <p:spPr>
          <a:xfrm>
            <a:off x="9006840" y="2240280"/>
            <a:ext cx="411480" cy="0"/>
          </a:xfrm>
          <a:prstGeom prst="line">
            <a:avLst/>
          </a:prstGeom>
          <a:noFill/>
          <a:ln w="19050">
            <a:solidFill>
              <a:srgbClr val="7A7A7A"/>
            </a:solidFill>
            <a:prstDash val="solid"/>
            <a:tailEnd type="triangle"/>
          </a:ln>
        </p:spPr>
      </p:sp>
      <p:sp>
        <p:nvSpPr>
          <p:cNvPr id="23" name="Shape 20"/>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1"/>
          <p:cNvSpPr txBox="1"/>
          <p:nvPr/>
        </p:nvSpPr>
        <p:spPr>
          <a:xfrm>
            <a:off x="2770632" y="386791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2"/>
          <p:cNvSpPr txBox="1"/>
          <p:nvPr/>
        </p:nvSpPr>
        <p:spPr>
          <a:xfrm>
            <a:off x="2770632" y="425196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3"/>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4"/>
          <p:cNvSpPr txBox="1"/>
          <p:nvPr/>
        </p:nvSpPr>
        <p:spPr>
          <a:xfrm>
            <a:off x="4919472" y="3867912"/>
            <a:ext cx="25054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5"/>
          <p:cNvSpPr txBox="1"/>
          <p:nvPr/>
        </p:nvSpPr>
        <p:spPr>
          <a:xfrm>
            <a:off x="4919472" y="4251960"/>
            <a:ext cx="25054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6"/>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7"/>
          <p:cNvSpPr txBox="1"/>
          <p:nvPr/>
        </p:nvSpPr>
        <p:spPr>
          <a:xfrm>
            <a:off x="7982712" y="386791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8"/>
          <p:cNvSpPr txBox="1"/>
          <p:nvPr/>
        </p:nvSpPr>
        <p:spPr>
          <a:xfrm>
            <a:off x="7982712" y="425196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29"/>
          <p:cNvSpPr/>
          <p:nvPr/>
        </p:nvSpPr>
        <p:spPr>
          <a:xfrm>
            <a:off x="3566160" y="2926080"/>
            <a:ext cx="0" cy="868680"/>
          </a:xfrm>
          <a:prstGeom prst="line">
            <a:avLst/>
          </a:prstGeom>
          <a:noFill/>
          <a:ln w="19050">
            <a:solidFill>
              <a:srgbClr val="7A7A7A"/>
            </a:solidFill>
            <a:prstDash val="solid"/>
            <a:tailEnd type="triangle"/>
          </a:ln>
        </p:spPr>
      </p:sp>
      <p:sp>
        <p:nvSpPr>
          <p:cNvPr id="33" name="Shape 30"/>
          <p:cNvSpPr/>
          <p:nvPr/>
        </p:nvSpPr>
        <p:spPr>
          <a:xfrm>
            <a:off x="4434840" y="4480560"/>
            <a:ext cx="411480" cy="0"/>
          </a:xfrm>
          <a:prstGeom prst="line">
            <a:avLst/>
          </a:prstGeom>
          <a:noFill/>
          <a:ln w="19050">
            <a:solidFill>
              <a:srgbClr val="7A7A7A"/>
            </a:solidFill>
            <a:prstDash val="solid"/>
            <a:tailEnd type="triangle"/>
          </a:ln>
        </p:spPr>
      </p:sp>
      <p:sp>
        <p:nvSpPr>
          <p:cNvPr id="34" name="Shape 31"/>
          <p:cNvSpPr/>
          <p:nvPr/>
        </p:nvSpPr>
        <p:spPr>
          <a:xfrm>
            <a:off x="7498080" y="4480560"/>
            <a:ext cx="411480" cy="0"/>
          </a:xfrm>
          <a:prstGeom prst="line">
            <a:avLst/>
          </a:prstGeom>
          <a:noFill/>
          <a:ln w="19050">
            <a:solidFill>
              <a:srgbClr val="7A7A7A"/>
            </a:solidFill>
            <a:prstDash val="solid"/>
            <a:tailEnd type="triangle"/>
          </a:ln>
        </p:spPr>
      </p:sp>
      <p:sp>
        <p:nvSpPr>
          <p:cNvPr id="35" name="Shape 32"/>
          <p:cNvSpPr/>
          <p:nvPr/>
        </p:nvSpPr>
        <p:spPr>
          <a:xfrm>
            <a:off x="5852160" y="2926080"/>
            <a:ext cx="3063240" cy="868680"/>
          </a:xfrm>
          <a:prstGeom prst="line">
            <a:avLst/>
          </a:prstGeom>
          <a:noFill/>
          <a:ln w="19050">
            <a:solidFill>
              <a:srgbClr val="7A7A7A"/>
            </a:solidFill>
            <a:prstDash val="solid"/>
            <a:headEnd type="triangle"/>
          </a:ln>
        </p:spPr>
      </p:sp>
      <p:sp>
        <p:nvSpPr>
          <p:cNvPr id="36" name="Text 33"/>
          <p:cNvSpPr txBox="1"/>
          <p:nvPr/>
        </p:nvSpPr>
        <p:spPr>
          <a:xfrm>
            <a:off x="6583680" y="3200400"/>
            <a:ext cx="3108960" cy="365760"/>
          </a:xfrm>
          <a:prstGeom prst="rect">
            <a:avLst/>
          </a:prstGeom>
          <a:noFill/>
          <a:ln/>
        </p:spPr>
        <p:txBody>
          <a:bodyPr wrap="square" lIns="0" tIns="0" rIns="0" bIns="0" rtlCol="0" anchor="t"/>
          <a:lstStyle/>
          <a:p>
            <a:pPr marL="0" indent="0" eaLnBrk="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4"/>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5"/>
          <p:cNvSpPr txBox="1"/>
          <p:nvPr/>
        </p:nvSpPr>
        <p:spPr>
          <a:xfrm>
            <a:off x="73152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6"/>
          <p:cNvSpPr txBox="1"/>
          <p:nvPr/>
        </p:nvSpPr>
        <p:spPr>
          <a:xfrm>
            <a:off x="73152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7"/>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8"/>
          <p:cNvSpPr txBox="1"/>
          <p:nvPr/>
        </p:nvSpPr>
        <p:spPr>
          <a:xfrm>
            <a:off x="640080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39"/>
          <p:cNvSpPr txBox="1"/>
          <p:nvPr/>
        </p:nvSpPr>
        <p:spPr>
          <a:xfrm>
            <a:off x="640080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3"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1"/>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3" name="Text 2"/>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실측(19쪽)으로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2"/>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3"/>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4114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5" name="Image 0" descr="C:\SNU\포트폴리오\전국AI반도체경진대회\submission\figs\hs_C3_roll_ecc.png"/>
          <p:cNvPicPr>
            <a:picLocks noChangeAspect="1"/>
          </p:cNvPicPr>
          <p:nvPr/>
        </p:nvPicPr>
        <p:blipFill>
          <a:blip r:embed="rId3"/>
          <a:stretch>
            <a:fillRect/>
          </a:stretch>
        </p:blipFill>
        <p:spPr>
          <a:xfrm>
            <a:off x="548640" y="3611880"/>
            <a:ext cx="4206240" cy="2624328"/>
          </a:xfrm>
          <a:prstGeom prst="rect">
            <a:avLst/>
          </a:prstGeom>
        </p:spPr>
      </p:pic>
      <p:pic>
        <p:nvPicPr>
          <p:cNvPr id="6" name="Image 1" descr="C:\SNU\포트폴리오\전국AI반도체경진대회\submission\figs\hs_C5b_err_hist.png"/>
          <p:cNvPicPr>
            <a:picLocks noChangeAspect="1"/>
          </p:cNvPicPr>
          <p:nvPr/>
        </p:nvPicPr>
        <p:blipFill>
          <a:blip r:embed="rId4"/>
          <a:stretch>
            <a:fillRect/>
          </a:stretch>
        </p:blipFill>
        <p:spPr>
          <a:xfrm>
            <a:off x="4937760" y="3611880"/>
            <a:ext cx="6675120" cy="2368296"/>
          </a:xfrm>
          <a:prstGeom prst="rect">
            <a:avLst/>
          </a:prstGeom>
        </p:spPr>
      </p:pic>
      <p:sp>
        <p:nvSpPr>
          <p:cNvPr id="7" name="Text 1"/>
          <p:cNvSpPr txBox="1"/>
          <p:nvPr/>
        </p:nvSpPr>
        <p:spPr>
          <a:xfrm>
            <a:off x="4937760" y="6016752"/>
            <a:ext cx="667512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있어 교수 데이터와 UZH 정확도는 직접 비교하지 않는다. 빠른 3축 회전에서는 추적을 잃으면 도형이 복제되는 한계가 남아 있다.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칩 S가 만든 월드 맵: 보정 전 소용돌이가 방의 구조로 바뀐다</a:t>
            </a:r>
            <a:endParaRPr lang="en-US" sz="2600" dirty="0"/>
          </a:p>
        </p:txBody>
      </p:sp>
      <p:pic>
        <p:nvPicPr>
          <p:cNvPr id="4" name="Image 0" descr="C:\SNU\포트폴리오\전국AI반도체경진대회\submission\figs\hs_A1_roll.png"/>
          <p:cNvPicPr>
            <a:picLocks noChangeAspect="1"/>
          </p:cNvPicPr>
          <p:nvPr/>
        </p:nvPicPr>
        <p:blipFill>
          <a:blip r:embed="rId3"/>
          <a:stretch>
            <a:fillRect/>
          </a:stretch>
        </p:blipFill>
        <p:spPr>
          <a:xfrm>
            <a:off x="548640" y="1188720"/>
            <a:ext cx="5486400" cy="2688336"/>
          </a:xfrm>
          <a:prstGeom prst="rect">
            <a:avLst/>
          </a:prstGeom>
        </p:spPr>
      </p:pic>
      <p:pic>
        <p:nvPicPr>
          <p:cNvPr id="5" name="Image 1" descr="C:\SNU\포트폴리오\전국AI반도체경진대회\submission\figs\hs_A2_pan.png"/>
          <p:cNvPicPr>
            <a:picLocks noChangeAspect="1"/>
          </p:cNvPicPr>
          <p:nvPr/>
        </p:nvPicPr>
        <p:blipFill>
          <a:blip r:embed="rId4"/>
          <a:stretch>
            <a:fillRect/>
          </a:stretch>
        </p:blipFill>
        <p:spPr>
          <a:xfrm>
            <a:off x="6217920" y="1188720"/>
            <a:ext cx="5394960" cy="1325880"/>
          </a:xfrm>
          <a:prstGeom prst="rect">
            <a:avLst/>
          </a:prstGeom>
        </p:spPr>
      </p:pic>
      <p:sp>
        <p:nvSpPr>
          <p:cNvPr id="6" name="Text 1"/>
          <p:cNvSpPr txBox="1"/>
          <p:nvPr/>
        </p:nvSpPr>
        <p:spPr>
          <a:xfrm>
            <a:off x="6217920" y="2560320"/>
            <a:ext cx="5394960" cy="5029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교수님 roll·pan 녹화 전체: 이벤트를 그대로 쌓은 것(왼쪽) 대 칩 S 출력(오른쪽), 동일 스케일. 응집도 roll 1.06 → 2.34, pan 1.16 → 2.76.</a:t>
            </a:r>
            <a:endParaRPr lang="en-US" sz="1000" dirty="0"/>
          </a:p>
        </p:txBody>
      </p:sp>
      <p:pic>
        <p:nvPicPr>
          <p:cNvPr id="7" name="Image 2" descr="C:\SNU\포트폴리오\전국AI반도체경진대회\submission\figs\chip_roll_world.png"/>
          <p:cNvPicPr>
            <a:picLocks noChangeAspect="1"/>
          </p:cNvPicPr>
          <p:nvPr/>
        </p:nvPicPr>
        <p:blipFill>
          <a:blip r:embed="rId5"/>
          <a:stretch>
            <a:fillRect/>
          </a:stretch>
        </p:blipFill>
        <p:spPr>
          <a:xfrm>
            <a:off x="548640" y="4023360"/>
            <a:ext cx="5120640" cy="1911096"/>
          </a:xfrm>
          <a:prstGeom prst="rect">
            <a:avLst/>
          </a:prstGeom>
        </p:spPr>
      </p:pic>
      <p:sp>
        <p:nvSpPr>
          <p:cNvPr id="8" name="Text 2"/>
          <p:cNvSpPr txBox="1"/>
          <p:nvPr/>
        </p:nvSpPr>
        <p:spPr>
          <a:xfrm>
            <a:off x="548640" y="5961888"/>
            <a:ext cx="512064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RTL 시뮬 roll 32프레임: 보정 없음 / 칩 출력 / 보정 피벗 설정</a:t>
            </a:r>
            <a:endParaRPr lang="en-US" sz="1000" dirty="0"/>
          </a:p>
        </p:txBody>
      </p:sp>
      <p:pic>
        <p:nvPicPr>
          <p:cNvPr id="9" name="Image 3" descr="C:\SNU\포트폴리오\전국AI반도체경진대회\submission\figs\hs_E9_roll.png"/>
          <p:cNvPicPr>
            <a:picLocks noChangeAspect="1"/>
          </p:cNvPicPr>
          <p:nvPr/>
        </p:nvPicPr>
        <p:blipFill>
          <a:blip r:embed="rId6"/>
          <a:stretch>
            <a:fillRect/>
          </a:stretch>
        </p:blipFill>
        <p:spPr>
          <a:xfrm>
            <a:off x="6217920" y="3154680"/>
            <a:ext cx="2286000" cy="2048256"/>
          </a:xfrm>
          <a:prstGeom prst="rect">
            <a:avLst/>
          </a:prstGeom>
        </p:spPr>
      </p:pic>
      <p:sp>
        <p:nvSpPr>
          <p:cNvPr id="10" name="Text 3"/>
          <p:cNvSpPr txBox="1"/>
          <p:nvPr/>
        </p:nvSpPr>
        <p:spPr>
          <a:xfrm>
            <a:off x="6217920" y="5230368"/>
            <a:ext cx="2286000" cy="36576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칩 월드 메모리 내용 (4비트 로그 카운터)</a:t>
            </a:r>
            <a:endParaRPr lang="en-US" sz="1000" dirty="0"/>
          </a:p>
        </p:txBody>
      </p:sp>
      <p:pic>
        <p:nvPicPr>
          <p:cNvPr id="11" name="Image 4" descr="C:\SNU\포트폴리오\전국AI반도체경진대회\submission\figs\chip_map_growth.png"/>
          <p:cNvPicPr>
            <a:picLocks noChangeAspect="1"/>
          </p:cNvPicPr>
          <p:nvPr/>
        </p:nvPicPr>
        <p:blipFill>
          <a:blip r:embed="rId7"/>
          <a:stretch>
            <a:fillRect/>
          </a:stretch>
        </p:blipFill>
        <p:spPr>
          <a:xfrm>
            <a:off x="8686800" y="3200400"/>
            <a:ext cx="2926080" cy="667512"/>
          </a:xfrm>
          <a:prstGeom prst="rect">
            <a:avLst/>
          </a:prstGeom>
        </p:spPr>
      </p:pic>
      <p:sp>
        <p:nvSpPr>
          <p:cNvPr id="12" name="Text 4"/>
          <p:cNvSpPr txBox="1"/>
          <p:nvPr/>
        </p:nvSpPr>
        <p:spPr>
          <a:xfrm>
            <a:off x="8686800" y="3886200"/>
            <a:ext cx="292608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프레임이 쌓이며 지도가 자란다 (2→32프레임)</a:t>
            </a:r>
            <a:endParaRPr lang="en-US" sz="1000" dirty="0"/>
          </a:p>
        </p:txBody>
      </p:sp>
      <p:sp>
        <p:nvSpPr>
          <p:cNvPr id="13" name="Text 5"/>
          <p:cNvSpPr txBox="1"/>
          <p:nvPr/>
        </p:nvSpPr>
        <p:spPr>
          <a:xfrm>
            <a:off x="8686800" y="4297680"/>
            <a:ext cx="2926080" cy="20116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읽는 법: 위쪽 두 그림은 녹화 전체를 칩 모델에 통과시킨 월드 맵이고, 왼쪽 아래 RTL 시뮬 그림은 칩 RTL이 실제로 월드 메모리에 쓴 값(8 px 셀)이다. RTL = 기준모델이 비트 단위로 같아서 같은 장면을 보여 준다.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같은 센서 데이터로 만든 월드 지도: 파노라마와 3D 시점 변환</a:t>
            </a:r>
            <a:endParaRPr lang="en-US" sz="2600" dirty="0"/>
          </a:p>
        </p:txBody>
      </p:sp>
      <p:pic>
        <p:nvPicPr>
          <p:cNvPr id="4" name="Image 0" descr="C:\SNU\포트폴리오\전국AI반도체경진대회\submission\figs\panorama_pan.png"/>
          <p:cNvPicPr>
            <a:picLocks noChangeAspect="1"/>
          </p:cNvPicPr>
          <p:nvPr/>
        </p:nvPicPr>
        <p:blipFill>
          <a:blip r:embed="rId3"/>
          <a:stretch>
            <a:fillRect/>
          </a:stretch>
        </p:blipFill>
        <p:spPr>
          <a:xfrm>
            <a:off x="548640" y="1280160"/>
            <a:ext cx="5486400" cy="1527048"/>
          </a:xfrm>
          <a:prstGeom prst="rect">
            <a:avLst/>
          </a:prstGeom>
        </p:spPr>
      </p:pic>
      <p:sp>
        <p:nvSpPr>
          <p:cNvPr id="5" name="Text 1"/>
          <p:cNvSpPr txBox="1"/>
          <p:nvPr/>
        </p:nvSpPr>
        <p:spPr>
          <a:xfrm>
            <a:off x="548640" y="28346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녹화 월드 지도 파노라마 (소프트웨어 모델)</a:t>
            </a:r>
            <a:endParaRPr lang="en-US" sz="1100" dirty="0"/>
          </a:p>
        </p:txBody>
      </p:sp>
      <p:pic>
        <p:nvPicPr>
          <p:cNvPr id="6" name="Image 1" descr="C:\SNU\포트폴리오\전국AI반도체경진대회\submission\figs\worldmap_stages.png"/>
          <p:cNvPicPr>
            <a:picLocks noChangeAspect="1"/>
          </p:cNvPicPr>
          <p:nvPr/>
        </p:nvPicPr>
        <p:blipFill>
          <a:blip r:embed="rId4"/>
          <a:stretch>
            <a:fillRect/>
          </a:stretch>
        </p:blipFill>
        <p:spPr>
          <a:xfrm>
            <a:off x="548640" y="3246120"/>
            <a:ext cx="5486400" cy="1371600"/>
          </a:xfrm>
          <a:prstGeom prst="rect">
            <a:avLst/>
          </a:prstGeom>
        </p:spPr>
      </p:pic>
      <p:sp>
        <p:nvSpPr>
          <p:cNvPr id="7" name="Text 2"/>
          <p:cNvSpPr txBox="1"/>
          <p:nvPr/>
        </p:nvSpPr>
        <p:spPr>
          <a:xfrm>
            <a:off x="548640" y="46634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월드 지도의 개선 단계: 첫 결과 → 보정 → 정리 → 참조 프레임</a:t>
            </a:r>
            <a:endParaRPr lang="en-US" sz="1100" dirty="0"/>
          </a:p>
        </p:txBody>
      </p:sp>
      <p:pic>
        <p:nvPicPr>
          <p:cNvPr id="8" name="Image 2" descr="C:\SNU\포트폴리오\전국AI반도체경진대회\results_delta\ROLL_3D_real_views.png"/>
          <p:cNvPicPr>
            <a:picLocks noChangeAspect="1"/>
          </p:cNvPicPr>
          <p:nvPr/>
        </p:nvPicPr>
        <p:blipFill>
          <a:blip r:embed="rId5"/>
          <a:stretch>
            <a:fillRect/>
          </a:stretch>
        </p:blipFill>
        <p:spPr>
          <a:xfrm>
            <a:off x="6309360" y="1280160"/>
            <a:ext cx="5303520" cy="2121408"/>
          </a:xfrm>
          <a:prstGeom prst="rect">
            <a:avLst/>
          </a:prstGeom>
        </p:spPr>
      </p:pic>
      <p:sp>
        <p:nvSpPr>
          <p:cNvPr id="9" name="Text 3"/>
          <p:cNvSpPr txBox="1"/>
          <p:nvPr/>
        </p:nvSpPr>
        <p:spPr>
          <a:xfrm>
            <a:off x="6309360" y="342900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3D 월드 지도, 시점 −35° / +35°</a:t>
            </a:r>
            <a:endParaRPr lang="en-US" sz="1100" dirty="0"/>
          </a:p>
        </p:txBody>
      </p:sp>
      <p:pic>
        <p:nvPicPr>
          <p:cNvPr id="10" name="Image 3" descr="C:\SNU\포트폴리오\전국AI반도체경진대회\results_delta\PAN_3D_real_views.png"/>
          <p:cNvPicPr>
            <a:picLocks noChangeAspect="1"/>
          </p:cNvPicPr>
          <p:nvPr/>
        </p:nvPicPr>
        <p:blipFill>
          <a:blip r:embed="rId6"/>
          <a:stretch>
            <a:fillRect/>
          </a:stretch>
        </p:blipFill>
        <p:spPr>
          <a:xfrm>
            <a:off x="6309360" y="3840480"/>
            <a:ext cx="5303520" cy="2121408"/>
          </a:xfrm>
          <a:prstGeom prst="rect">
            <a:avLst/>
          </a:prstGeom>
        </p:spPr>
      </p:pic>
      <p:sp>
        <p:nvSpPr>
          <p:cNvPr id="11" name="Text 4"/>
          <p:cNvSpPr txBox="1"/>
          <p:nvPr/>
        </p:nvSpPr>
        <p:spPr>
          <a:xfrm>
            <a:off x="6309360" y="598932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3D 월드 지도, 시점 −35° / +35°</a:t>
            </a:r>
            <a:endParaRPr lang="en-US" sz="1100" dirty="0"/>
          </a:p>
        </p:txBody>
      </p:sp>
      <p:sp>
        <p:nvSpPr>
          <p:cNvPr id="12" name="Text 5"/>
          <p:cNvSpPr txBox="1"/>
          <p:nvPr/>
        </p:nvSpPr>
        <p:spPr>
          <a:xfrm>
            <a:off x="548640" y="5120640"/>
            <a:ext cx="5486400" cy="45720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실제 DELTA 센서 영상 · 회전만 보정</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해결: 상수 여러 개는 "피벗 하나"였고, 데이터에서 구한다</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시 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구한 피벗 / 손으로 맞춘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0.405° / 0.467°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1"/>
          <p:cNvSpPr txBox="1"/>
          <p:nvPr/>
        </p:nvSpPr>
        <p:spPr>
          <a:xfrm>
            <a:off x="548640" y="3401568"/>
            <a:ext cx="722376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자기보정: 3자유도로 (θ, tx, ty)를 모아 t = (R(θ)−I)·u 최소제곱으로 피벗 u를 구함, r² 0.9 이상이면 1자유도 고정</a:t>
            </a:r>
            <a:endParaRPr lang="en-US" sz="1000" dirty="0"/>
          </a:p>
        </p:txBody>
      </p:sp>
      <p:pic>
        <p:nvPicPr>
          <p:cNvPr id="6" name="Image 0" descr="C:\SNU\포트폴리오\전국AI반도체경진대회\submission\figs\hs_D6_roll.png"/>
          <p:cNvPicPr>
            <a:picLocks noChangeAspect="1"/>
          </p:cNvPicPr>
          <p:nvPr/>
        </p:nvPicPr>
        <p:blipFill>
          <a:blip r:embed="rId3"/>
          <a:stretch>
            <a:fillRect/>
          </a:stretch>
        </p:blipFill>
        <p:spPr>
          <a:xfrm>
            <a:off x="8046720" y="1325880"/>
            <a:ext cx="3566160" cy="1609344"/>
          </a:xfrm>
          <a:prstGeom prst="rect">
            <a:avLst/>
          </a:prstGeom>
        </p:spPr>
      </p:pic>
      <p:sp>
        <p:nvSpPr>
          <p:cNvPr id="7" name="Text 2"/>
          <p:cNvSpPr txBox="1"/>
          <p:nvPr/>
        </p:nvSpPr>
        <p:spPr>
          <a:xfrm>
            <a:off x="8046720" y="2953512"/>
            <a:ext cx="3566160" cy="54864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다른 녹화의 상수를 쓰면(왼쪽) 번지고, 자기 녹화 상수(오른쪽)면 방이 보인다. roll, 응집도 1.28 대 2.34</a:t>
            </a:r>
            <a:endParaRPr lang="en-US" sz="1000" dirty="0"/>
          </a:p>
        </p:txBody>
      </p:sp>
      <p:graphicFrame>
        <p:nvGraphicFramePr>
          <p:cNvPr id="8" name="Chart 0"/>
          <p:cNvGraphicFramePr/>
          <p:nvPr/>
        </p:nvGraphicFramePr>
        <p:xfrm>
          <a:off x="548640" y="3749040"/>
          <a:ext cx="731520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9" name="Shape 3"/>
          <p:cNvSpPr/>
          <p:nvPr/>
        </p:nvSpPr>
        <p:spPr>
          <a:xfrm>
            <a:off x="8138160" y="3611880"/>
            <a:ext cx="3474720" cy="1325880"/>
          </a:xfrm>
          <a:prstGeom prst="roundRect">
            <a:avLst>
              <a:gd name="adj" fmla="val 8276"/>
            </a:avLst>
          </a:prstGeom>
          <a:solidFill>
            <a:srgbClr val="272729"/>
          </a:solidFill>
          <a:ln w="12700">
            <a:solidFill>
              <a:srgbClr val="272729"/>
            </a:solidFill>
            <a:prstDash val="solid"/>
          </a:ln>
        </p:spPr>
      </p:sp>
      <p:sp>
        <p:nvSpPr>
          <p:cNvPr id="10" name="Text 4"/>
          <p:cNvSpPr txBox="1"/>
          <p:nvPr/>
        </p:nvSpPr>
        <p:spPr>
          <a:xfrm>
            <a:off x="8321040" y="3703320"/>
            <a:ext cx="3108960" cy="640080"/>
          </a:xfrm>
          <a:prstGeom prst="rect">
            <a:avLst/>
          </a:prstGeom>
          <a:noFill/>
          <a:ln/>
        </p:spPr>
        <p:txBody>
          <a:bodyPr wrap="square" lIns="0" tIns="0" rIns="0" bIns="0" rtlCol="0" anchor="ctr"/>
          <a:lstStyle/>
          <a:p>
            <a:pPr marL="0" indent="0" eaLnBrk="0">
              <a:buNone/>
            </a:pPr>
            <a:r>
              <a:rPr lang="en-US" sz="2800" dirty="0">
                <a:solidFill>
                  <a:srgbClr val="2997FF"/>
                </a:solidFill>
                <a:latin typeface="나눔스퀘어 네오 Bold" pitchFamily="34" charset="0"/>
                <a:ea typeface="나눔스퀘어 네오 Bold" pitchFamily="34" charset="-122"/>
                <a:cs typeface="나눔스퀘어 네오 Bold" pitchFamily="34" charset="-120"/>
              </a:rPr>
              <a:t>115.9° → 1.68°</a:t>
            </a:r>
            <a:endParaRPr lang="en-US" sz="2800" dirty="0"/>
          </a:p>
        </p:txBody>
      </p:sp>
      <p:sp>
        <p:nvSpPr>
          <p:cNvPr id="11" name="Text 5"/>
          <p:cNvSpPr txBox="1"/>
          <p:nvPr/>
        </p:nvSpPr>
        <p:spPr>
          <a:xfrm>
            <a:off x="8321040" y="4389120"/>
            <a:ext cx="3108960" cy="50292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pan 크기 피벗(R 20,025 px): 프리즈 대비 자기보정</a:t>
            </a:r>
            <a:endParaRPr lang="en-US" sz="1200" dirty="0"/>
          </a:p>
        </p:txBody>
      </p:sp>
      <p:sp>
        <p:nvSpPr>
          <p:cNvPr id="3" name="Shape 6"/>
          <p:cNvSpPr/>
          <p:nvPr/>
        </p:nvSpPr>
        <p:spPr>
          <a:xfrm>
            <a:off x="8138160" y="5029200"/>
            <a:ext cx="3474720" cy="1325880"/>
          </a:xfrm>
          <a:prstGeom prst="roundRect">
            <a:avLst>
              <a:gd name="adj" fmla="val 8276"/>
            </a:avLst>
          </a:prstGeom>
          <a:solidFill>
            <a:srgbClr val="FFFFFF"/>
          </a:solidFill>
          <a:ln w="9525">
            <a:solidFill>
              <a:srgbClr val="E0E0E0"/>
            </a:solidFill>
            <a:prstDash val="solid"/>
          </a:ln>
        </p:spPr>
      </p:sp>
      <p:sp>
        <p:nvSpPr>
          <p:cNvPr id="13" name="Text 7"/>
          <p:cNvSpPr txBox="1"/>
          <p:nvPr/>
        </p:nvSpPr>
        <p:spPr>
          <a:xfrm>
            <a:off x="8321040" y="5166360"/>
            <a:ext cx="310896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범위</a:t>
            </a:r>
            <a:endParaRPr lang="en-US" sz="1600" dirty="0"/>
          </a:p>
        </p:txBody>
      </p:sp>
      <p:sp>
        <p:nvSpPr>
          <p:cNvPr id="14" name="Text 8"/>
          <p:cNvSpPr txBox="1"/>
          <p:nvPr/>
        </p:nvSpPr>
        <p:spPr>
          <a:xfrm>
            <a:off x="8321040" y="5577840"/>
            <a:ext cx="3108960" cy="6400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50~150 px 피벗(G1~G4, 회전 120°)에서는 세 방식 모두 0.7~2.6°. 합성은 단일 깊이·한 방향 회전.</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 name="Chart 0"/>
          <p:cNvGraphicFramePr/>
          <p:nvPr/>
        </p:nvGraphicFramePr>
        <p:xfrm>
          <a:off x="6217920" y="4069080"/>
          <a:ext cx="5394960" cy="23317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7" name="Text 2"/>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8" name="Text 3"/>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 곱셈기를 없애는 것이 항상 이득은 아니고, 8픽셀 그룹 입력과 맞물릴 때만 이긴다.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420624">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(roll 약 71%, pan 약 41%)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5" name="Image 0" descr="C:\SNU\포트폴리오\전국AI반도체경진대회\submission\figs\wave_row_gating.png"/>
          <p:cNvPicPr>
            <a:picLocks noChangeAspect="1"/>
          </p:cNvPicPr>
          <p:nvPr/>
        </p:nvPicPr>
        <p:blipFill>
          <a:blip r:embed="rId3"/>
          <a:stretch>
            <a:fillRect/>
          </a:stretch>
        </p:blipFill>
        <p:spPr>
          <a:xfrm>
            <a:off x="7726680" y="1371600"/>
            <a:ext cx="3886200" cy="2075688"/>
          </a:xfrm>
          <a:prstGeom prst="rect">
            <a:avLst/>
          </a:prstGeom>
        </p:spPr>
      </p:pic>
      <p:sp>
        <p:nvSpPr>
          <p:cNvPr id="6" name="Text 1"/>
          <p:cNvSpPr txBox="1"/>
          <p:nvPr/>
        </p:nvSpPr>
        <p:spPr>
          <a:xfrm>
            <a:off x="7726680" y="3474720"/>
            <a:ext cx="3886200" cy="64008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행 단위 클록 게이팅 파형: 쓰는 행의 게이트 클록만 토글, 나머지 행은 꺼짐 (RTL 시뮬)</a:t>
            </a:r>
            <a:endParaRPr lang="en-US" sz="1100" dirty="0"/>
          </a:p>
        </p:txBody>
      </p:sp>
      <p:sp>
        <p:nvSpPr>
          <p:cNvPr id="7" name="Shape 2"/>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8" name="Text 3"/>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9" name="Text 4"/>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pic>
        <p:nvPicPr>
          <p:cNvPr id="10" name="Image 1" descr="C:\SNU\포트폴리오\전국AI반도체경진대회\submission\figs\chip_bank_hist.png"/>
          <p:cNvPicPr>
            <a:picLocks noChangeAspect="1"/>
          </p:cNvPicPr>
          <p:nvPr/>
        </p:nvPicPr>
        <p:blipFill>
          <a:blip r:embed="rId4"/>
          <a:stretch>
            <a:fillRect/>
          </a:stretch>
        </p:blipFill>
        <p:spPr>
          <a:xfrm>
            <a:off x="548640" y="4069080"/>
            <a:ext cx="6949440" cy="1938528"/>
          </a:xfrm>
          <a:prstGeom prst="rect">
            <a:avLst/>
          </a:prstGeom>
        </p:spPr>
      </p:pic>
      <p:sp>
        <p:nvSpPr>
          <p:cNvPr id="11" name="Text 5"/>
          <p:cNvSpPr txBox="1"/>
          <p:nvPr/>
        </p:nvSpPr>
        <p:spPr>
          <a:xfrm>
            <a:off x="548640" y="6035040"/>
            <a:ext cx="694944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한계: 교육용 PDK에는 SRAM 매크로가 없어 FF 기반(비트당 약 11.8 µm²). 큰 월드로 가려면 SRAM이 필요하다.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4" name="Shape 1"/>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3"/>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4"/>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6"/>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7"/>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9"/>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 현재 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게이트 시뮬 2.86M 사이클/32프레임 = 프레임당 약 8.9만 사이클 → 8 ns에서 0.715 ms, 프레임 주기 0.773 ms 이내 (여유 1.08배,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0"/>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2"/>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3"/>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4"/>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5"/>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6"/>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7"/>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8"/>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9"/>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7548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aphicFrame>
        <p:nvGraphicFramePr>
          <p:cNvPr id="5" name="Chart 0"/>
          <p:cNvGraphicFramePr/>
          <p:nvPr/>
        </p:nvGraphicFramePr>
        <p:xfrm>
          <a:off x="8138160" y="1371600"/>
          <a:ext cx="347472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1"/>
          <p:cNvSpPr txBox="1"/>
          <p:nvPr/>
        </p:nvSpPr>
        <p:spPr>
          <a:xfrm>
            <a:off x="8138160" y="5257800"/>
            <a:ext cx="347472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블록 부동소수점은 0.62/0.58의 평균</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400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713232">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ASTRA(CT 재구성) 아이디어 점검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맵에 적용할 이득을 찾지 못함 (progress.md §218)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분야가 다른 기법은 먼저 이득이 있는지부터 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⑤: 생체 모방은 실제 데이터로 이긴 3개만 남겼다</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1"/>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2"/>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3"/>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pic>
        <p:nvPicPr>
          <p:cNvPr id="8" name="Image 0" descr="C:\SNU\포트폴리오\전국AI반도체경진대회\submission\figs\wave_blink.png"/>
          <p:cNvPicPr>
            <a:picLocks noChangeAspect="1"/>
          </p:cNvPicPr>
          <p:nvPr/>
        </p:nvPicPr>
        <p:blipFill>
          <a:blip r:embed="rId3"/>
          <a:stretch>
            <a:fillRect/>
          </a:stretch>
        </p:blipFill>
        <p:spPr>
          <a:xfrm>
            <a:off x="8549640" y="2971800"/>
            <a:ext cx="3063240" cy="1097280"/>
          </a:xfrm>
          <a:prstGeom prst="rect">
            <a:avLst/>
          </a:prstGeom>
        </p:spPr>
      </p:pic>
      <p:sp>
        <p:nvSpPr>
          <p:cNvPr id="9" name="Text 4"/>
          <p:cNvSpPr txBox="1"/>
          <p:nvPr/>
        </p:nvSpPr>
        <p:spPr>
          <a:xfrm>
            <a:off x="8549640" y="4087368"/>
            <a:ext cx="3063240" cy="457200"/>
          </a:xfrm>
          <a:prstGeom prst="rect">
            <a:avLst/>
          </a:prstGeom>
          <a:noFill/>
          <a:ln/>
        </p:spPr>
        <p:txBody>
          <a:bodyPr wrap="square" lIns="0" tIns="0" rIns="0" bIns="0" rtlCol="0" anchor="t"/>
          <a:lstStyle/>
          <a:p>
            <a:pPr marL="0" indent="0" eaLnBrk="0">
              <a:buNone/>
            </a:pPr>
            <a:r>
              <a:rPr lang="en-US" sz="900" dirty="0">
                <a:solidFill>
                  <a:srgbClr val="7A7A7A"/>
                </a:solidFill>
                <a:latin typeface="나눔스퀘어 네오 Regular" pitchFamily="34" charset="0"/>
                <a:ea typeface="나눔스퀘어 네오 Regular" pitchFamily="34" charset="-122"/>
                <a:cs typeface="나눔스퀘어 네오 Regular" pitchFamily="34" charset="-120"/>
              </a:rPr>
              <a:t>Blink 파형: 입력이 끊기면 코어 클록 차단, 새 입력에 다시 켬. 유휴 전력 −71% (유휴 긴 시험 입력 한정)</a:t>
            </a:r>
            <a:endParaRPr lang="en-US" sz="900" dirty="0"/>
          </a:p>
        </p:txBody>
      </p:sp>
      <p:sp>
        <p:nvSpPr>
          <p:cNvPr id="10" name="Shape 5"/>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1" name="Text 6"/>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2" name="Text 7"/>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3" name="Text 8"/>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4" name="Shape 1"/>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4"/>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7"/>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9"/>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일반화의 핵심은 녹화별 상수를 데이터에서 구하는 것이다: 자기보정 알고리즘으로 해결(합성 정답 검증, 정수 기준모델 확인).</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5253</Words>
  <Application>Microsoft Office PowerPoint</Application>
  <PresentationFormat>와이드스크린</PresentationFormat>
  <Paragraphs>466</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나눔스퀘어 네오 Bold</vt:lpstr>
      <vt:lpstr>Arial</vt:lpstr>
      <vt:lpstr>나눔스퀘어 네오 Regular</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2026-10-30T06:16:53Z</dcterms:created>
  <dcterms:modified xsi:type="dcterms:W3CDTF">2026-10-30T06:16:59Z</dcterms:modified>
</cp:coreProperties>
</file>