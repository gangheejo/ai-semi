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embeddedFontLst>
    <p:embeddedFont>
      <p:font typeface="나눔스퀘어 네오 Bold" panose="00000800000000000000" pitchFamily="2" charset="-127"/>
      <p:bold r:id="rId23"/>
    </p:embeddedFont>
    <p:embeddedFont>
      <p:font typeface="나눔스퀘어 네오 Regular" panose="00000500000000000000" pitchFamily="2" charset="-127"/>
      <p:regular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0401" autoAdjust="0"/>
  </p:normalViewPr>
  <p:slideViewPr>
    <p:cSldViewPr snapToGrid="0" snapToObjects="1">
      <p:cViewPr>
        <p:scale>
          <a:sx n="75" d="100"/>
          <a:sy n="75" d="100"/>
        </p:scale>
        <p:origin x="708" y="2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font" Target="fonts/font1.fntdata"/><Relationship Id="rId24" Type="http://schemas.openxmlformats.org/officeDocument/2006/relationships/font" Target="fonts/font2.fntdata"/><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lang="ko-KR" altLang="en-US" sz="1400" b="0" i="0" u="none" strike="noStrike">
                <a:solidFill>
                  <a:srgbClr val="1D1D1F"/>
                </a:solidFill>
                <a:latin typeface="나눔스퀘어 네오 Regular"/>
                <a:ea typeface="나눔스퀘어 네오 Regular"/>
                <a:cs typeface="나눔스퀘어 네오 Regular"/>
              </a:rPr>
              <a:t>정답 있는 합성 장면</a:t>
            </a:r>
            <a:r>
              <a:rPr lang="en-US" altLang="ko-KR" sz="1400" b="0" i="0" u="none" strike="noStrike">
                <a:solidFill>
                  <a:srgbClr val="1D1D1F"/>
                </a:solidFill>
                <a:latin typeface="나눔스퀘어 네오 Regular"/>
                <a:ea typeface="나눔스퀘어 네오 Regular"/>
                <a:cs typeface="나눔스퀘어 네오 Regular"/>
              </a:rPr>
              <a:t>: </a:t>
            </a:r>
            <a:r>
              <a:rPr lang="ko-KR" altLang="en-US" sz="1400" b="0" i="0" u="none" strike="noStrike">
                <a:solidFill>
                  <a:srgbClr val="1D1D1F"/>
                </a:solidFill>
                <a:latin typeface="나눔스퀘어 네오 Regular"/>
                <a:ea typeface="나눔스퀘어 네오 Regular"/>
                <a:cs typeface="나눔스퀘어 네오 Regular"/>
              </a:rPr>
              <a:t>각도 오차 </a:t>
            </a:r>
            <a:r>
              <a:rPr lang="en-US" altLang="ko-KR" sz="1400" b="0" i="0" u="none" strike="noStrike">
                <a:solidFill>
                  <a:srgbClr val="1D1D1F"/>
                </a:solidFill>
                <a:latin typeface="나눔스퀘어 네오 Regular"/>
                <a:ea typeface="나눔스퀘어 네오 Regular"/>
                <a:cs typeface="나눔스퀘어 네오 Regular"/>
              </a:rPr>
              <a:t>(°)</a:t>
            </a:r>
          </a:p>
        </c:rich>
      </c:tx>
      <c:overlay val="0"/>
    </c:title>
    <c:autoTitleDeleted val="0"/>
    <c:plotArea>
      <c:layout/>
      <c:barChart>
        <c:barDir val="col"/>
        <c:grouping val="clustered"/>
        <c:varyColors val="0"/>
        <c:ser>
          <c:idx val="0"/>
          <c:order val="0"/>
          <c:tx>
            <c:strRef>
              <c:f>Sheet1!$B$1</c:f>
              <c:strCache>
                <c:ptCount val="1"/>
                <c:pt idx="0">
                  <c:v>자기보정</c:v>
                </c:pt>
              </c:strCache>
            </c:strRef>
          </c:tx>
          <c:spPr>
            <a:solidFill>
              <a:srgbClr val="0066CC"/>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Sheet1!$B$2:$B$4</c:f>
              <c:numCache>
                <c:formatCode>General</c:formatCode>
                <c:ptCount val="3"/>
                <c:pt idx="0">
                  <c:v>0.28999999999999998</c:v>
                </c:pt>
                <c:pt idx="1">
                  <c:v>0.22</c:v>
                </c:pt>
                <c:pt idx="2">
                  <c:v>1.68</c:v>
                </c:pt>
              </c:numCache>
            </c:numRef>
          </c:val>
          <c:extLst>
            <c:ext xmlns:c16="http://schemas.microsoft.com/office/drawing/2014/chart" uri="{C3380CC4-5D6E-409C-BE32-E72D297353CC}">
              <c16:uniqueId val="{00000000-1D21-4531-813C-A7035BB5665A}"/>
            </c:ext>
          </c:extLst>
        </c:ser>
        <c:ser>
          <c:idx val="1"/>
          <c:order val="1"/>
          <c:tx>
            <c:strRef>
              <c:f>Sheet1!$C$1</c:f>
              <c:strCache>
                <c:ptCount val="1"/>
                <c:pt idx="0">
                  <c:v>재맞춤</c:v>
                </c:pt>
              </c:strCache>
            </c:strRef>
          </c:tx>
          <c:spPr>
            <a:solidFill>
              <a:srgbClr val="7A7A7A"/>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Sheet1!$C$2:$C$4</c:f>
              <c:numCache>
                <c:formatCode>General</c:formatCode>
                <c:ptCount val="3"/>
                <c:pt idx="0">
                  <c:v>0.25</c:v>
                </c:pt>
                <c:pt idx="1">
                  <c:v>0.1</c:v>
                </c:pt>
                <c:pt idx="2">
                  <c:v>0.06</c:v>
                </c:pt>
              </c:numCache>
            </c:numRef>
          </c:val>
          <c:extLst>
            <c:ext xmlns:c16="http://schemas.microsoft.com/office/drawing/2014/chart" uri="{C3380CC4-5D6E-409C-BE32-E72D297353CC}">
              <c16:uniqueId val="{00000001-1D21-4531-813C-A7035BB5665A}"/>
            </c:ext>
          </c:extLst>
        </c:ser>
        <c:ser>
          <c:idx val="2"/>
          <c:order val="2"/>
          <c:tx>
            <c:strRef>
              <c:f>Sheet1!$D$1</c:f>
              <c:strCache>
                <c:ptCount val="1"/>
                <c:pt idx="0">
                  <c:v>프리즈 (다른 녹화 상수)</c:v>
                </c:pt>
              </c:strCache>
            </c:strRef>
          </c:tx>
          <c:spPr>
            <a:solidFill>
              <a:srgbClr val="1D1D1F"/>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Sheet1!$D$2:$D$4</c:f>
              <c:numCache>
                <c:formatCode>General</c:formatCode>
                <c:ptCount val="3"/>
                <c:pt idx="0">
                  <c:v>8.3000000000000007</c:v>
                </c:pt>
                <c:pt idx="1">
                  <c:v>18.100000000000001</c:v>
                </c:pt>
                <c:pt idx="2">
                  <c:v>115.9</c:v>
                </c:pt>
              </c:numCache>
            </c:numRef>
          </c:val>
          <c:extLst>
            <c:ext xmlns:c16="http://schemas.microsoft.com/office/drawing/2014/chart" uri="{C3380CC4-5D6E-409C-BE32-E72D297353CC}">
              <c16:uniqueId val="{00000002-1D21-4531-813C-A7035BB5665A}"/>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30"/>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b"/>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lang="ko-KR" altLang="en-US" sz="1400" b="0" i="0" u="none" strike="noStrike">
                <a:solidFill>
                  <a:srgbClr val="1D1D1F"/>
                </a:solidFill>
                <a:latin typeface="나눔스퀘어 네오 Regular"/>
                <a:ea typeface="나눔스퀘어 네오 Regular"/>
                <a:cs typeface="나눔스퀘어 네오 Regular"/>
              </a:rPr>
              <a:t>직접 곱셈 대비 상대값 </a:t>
            </a:r>
            <a:r>
              <a:rPr lang="en-US" altLang="ko-KR" sz="1400" b="0" i="0" u="none" strike="noStrike">
                <a:solidFill>
                  <a:srgbClr val="1D1D1F"/>
                </a:solidFill>
                <a:latin typeface="나눔스퀘어 네오 Regular"/>
                <a:ea typeface="나눔스퀘어 네오 Regular"/>
                <a:cs typeface="나눔스퀘어 네오 Regular"/>
              </a:rPr>
              <a:t>(</a:t>
            </a:r>
            <a:r>
              <a:rPr lang="ko-KR" altLang="en-US" sz="1400" b="0" i="0" u="none" strike="noStrike">
                <a:solidFill>
                  <a:srgbClr val="1D1D1F"/>
                </a:solidFill>
                <a:latin typeface="나눔스퀘어 네오 Regular"/>
                <a:ea typeface="나눔스퀘어 네오 Regular"/>
                <a:cs typeface="나눔스퀘어 네오 Regular"/>
              </a:rPr>
              <a:t>작을수록 좋음</a:t>
            </a:r>
            <a:r>
              <a:rPr lang="en-US" altLang="ko-KR" sz="1400" b="0" i="0" u="none" strike="noStrike">
                <a:solidFill>
                  <a:srgbClr val="1D1D1F"/>
                </a:solidFill>
                <a:latin typeface="나눔스퀘어 네오 Regular"/>
                <a:ea typeface="나눔스퀘어 네오 Regular"/>
                <a:cs typeface="나눔스퀘어 네오 Regular"/>
              </a:rPr>
              <a:t>)</a:t>
            </a:r>
          </a:p>
        </c:rich>
      </c:tx>
      <c:overlay val="0"/>
    </c:title>
    <c:autoTitleDeleted val="0"/>
    <c:plotArea>
      <c:layout/>
      <c:barChart>
        <c:barDir val="col"/>
        <c:grouping val="clustered"/>
        <c:varyColors val="0"/>
        <c:ser>
          <c:idx val="0"/>
          <c:order val="0"/>
          <c:tx>
            <c:strRef>
              <c:f>Sheet1!$B$1</c:f>
              <c:strCache>
                <c:ptCount val="1"/>
                <c:pt idx="0">
                  <c:v>직접 곱셈</c:v>
                </c:pt>
              </c:strCache>
            </c:strRef>
          </c:tx>
          <c:spPr>
            <a:solidFill>
              <a:srgbClr val="7A7A7A"/>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Sheet1!$B$2:$B$3</c:f>
              <c:numCache>
                <c:formatCode>General</c:formatCode>
                <c:ptCount val="2"/>
                <c:pt idx="0">
                  <c:v>1</c:v>
                </c:pt>
                <c:pt idx="1">
                  <c:v>1</c:v>
                </c:pt>
              </c:numCache>
            </c:numRef>
          </c:val>
          <c:extLst>
            <c:ext xmlns:c16="http://schemas.microsoft.com/office/drawing/2014/chart" uri="{C3380CC4-5D6E-409C-BE32-E72D297353CC}">
              <c16:uniqueId val="{00000000-DF64-40E3-9832-90BEEBF452F8}"/>
            </c:ext>
          </c:extLst>
        </c:ser>
        <c:ser>
          <c:idx val="1"/>
          <c:order val="1"/>
          <c:tx>
            <c:strRef>
              <c:f>Sheet1!$C$1</c:f>
              <c:strCache>
                <c:ptCount val="1"/>
                <c:pt idx="0">
                  <c:v>증분 변환 8레인 (채택)</c:v>
                </c:pt>
              </c:strCache>
            </c:strRef>
          </c:tx>
          <c:spPr>
            <a:solidFill>
              <a:srgbClr val="0066CC"/>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Sheet1!$C$2:$C$3</c:f>
              <c:numCache>
                <c:formatCode>General</c:formatCode>
                <c:ptCount val="2"/>
                <c:pt idx="0">
                  <c:v>0.44</c:v>
                </c:pt>
                <c:pt idx="1">
                  <c:v>0.39</c:v>
                </c:pt>
              </c:numCache>
            </c:numRef>
          </c:val>
          <c:extLst>
            <c:ext xmlns:c16="http://schemas.microsoft.com/office/drawing/2014/chart" uri="{C3380CC4-5D6E-409C-BE32-E72D297353CC}">
              <c16:uniqueId val="{00000001-DF64-40E3-9832-90BEEBF452F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2"/>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r"/>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lang="ko-KR" altLang="en-US" sz="1400" b="0" i="0" u="none" strike="noStrike">
                <a:solidFill>
                  <a:srgbClr val="1D1D1F"/>
                </a:solidFill>
                <a:latin typeface="나눔스퀘어 네오 Regular"/>
                <a:ea typeface="나눔스퀘어 네오 Regular"/>
                <a:cs typeface="나눔스퀘어 네오 Regular"/>
              </a:rPr>
              <a:t>월드 표현별 지도 상관 </a:t>
            </a:r>
            <a:r>
              <a:rPr lang="en-US" altLang="ko-KR" sz="1400" b="0" i="0" u="none" strike="noStrike">
                <a:solidFill>
                  <a:srgbClr val="1D1D1F"/>
                </a:solidFill>
                <a:latin typeface="나눔스퀘어 네오 Regular"/>
                <a:ea typeface="나눔스퀘어 네오 Regular"/>
                <a:cs typeface="나눔스퀘어 네오 Regular"/>
              </a:rPr>
              <a:t>(</a:t>
            </a:r>
            <a:r>
              <a:rPr lang="ko-KR" altLang="en-US" sz="1400" b="0" i="0" u="none" strike="noStrike">
                <a:solidFill>
                  <a:srgbClr val="1D1D1F"/>
                </a:solidFill>
                <a:latin typeface="나눔스퀘어 네오 Regular"/>
                <a:ea typeface="나눔스퀘어 네오 Regular"/>
                <a:cs typeface="나눔스퀘어 네오 Regular"/>
              </a:rPr>
              <a:t>높을수록 좋음</a:t>
            </a:r>
            <a:r>
              <a:rPr lang="en-US" altLang="ko-KR" sz="1400" b="0" i="0" u="none" strike="noStrike">
                <a:solidFill>
                  <a:srgbClr val="1D1D1F"/>
                </a:solidFill>
                <a:latin typeface="나눔스퀘어 네오 Regular"/>
                <a:ea typeface="나눔스퀘어 네오 Regular"/>
                <a:cs typeface="나눔스퀘어 네오 Regular"/>
              </a:rPr>
              <a:t>)</a:t>
            </a:r>
          </a:p>
        </c:rich>
      </c:tx>
      <c:overlay val="0"/>
    </c:title>
    <c:autoTitleDeleted val="0"/>
    <c:plotArea>
      <c:layout/>
      <c:barChart>
        <c:barDir val="bar"/>
        <c:grouping val="clustered"/>
        <c:varyColors val="0"/>
        <c:ser>
          <c:idx val="0"/>
          <c:order val="0"/>
          <c:tx>
            <c:strRef>
              <c:f>Sheet1!$B$1</c:f>
              <c:strCache>
                <c:ptCount val="1"/>
                <c:pt idx="0">
                  <c:v>지도 상관</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88A0-4363-8DE1-33DC83A1F9D6}"/>
              </c:ext>
            </c:extLst>
          </c:dPt>
          <c:dPt>
            <c:idx val="1"/>
            <c:invertIfNegative val="0"/>
            <c:bubble3D val="0"/>
            <c:spPr>
              <a:solidFill>
                <a:srgbClr val="7A7A7A"/>
              </a:solidFill>
              <a:effectLst/>
            </c:spPr>
            <c:extLst>
              <c:ext xmlns:c16="http://schemas.microsoft.com/office/drawing/2014/chart" uri="{C3380CC4-5D6E-409C-BE32-E72D297353CC}">
                <c16:uniqueId val="{00000003-88A0-4363-8DE1-33DC83A1F9D6}"/>
              </c:ext>
            </c:extLst>
          </c:dPt>
          <c:dPt>
            <c:idx val="2"/>
            <c:invertIfNegative val="0"/>
            <c:bubble3D val="0"/>
            <c:spPr>
              <a:solidFill>
                <a:srgbClr val="7A7A7A"/>
              </a:solidFill>
              <a:effectLst/>
            </c:spPr>
            <c:extLst>
              <c:ext xmlns:c16="http://schemas.microsoft.com/office/drawing/2014/chart" uri="{C3380CC4-5D6E-409C-BE32-E72D297353CC}">
                <c16:uniqueId val="{00000005-88A0-4363-8DE1-33DC83A1F9D6}"/>
              </c:ext>
            </c:extLst>
          </c:dPt>
          <c:dPt>
            <c:idx val="3"/>
            <c:invertIfNegative val="0"/>
            <c:bubble3D val="0"/>
            <c:spPr>
              <a:solidFill>
                <a:srgbClr val="7A7A7A"/>
              </a:solidFill>
              <a:effectLst/>
            </c:spPr>
            <c:extLst>
              <c:ext xmlns:c16="http://schemas.microsoft.com/office/drawing/2014/chart" uri="{C3380CC4-5D6E-409C-BE32-E72D297353CC}">
                <c16:uniqueId val="{00000007-88A0-4363-8DE1-33DC83A1F9D6}"/>
              </c:ext>
            </c:extLst>
          </c:dPt>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8 px 격자 (채택)</c:v>
                </c:pt>
                <c:pt idx="1">
                  <c:v>선형 극좌표</c:v>
                </c:pt>
                <c:pt idx="2">
                  <c:v>로그 극좌표</c:v>
                </c:pt>
                <c:pt idx="3">
                  <c:v>블록 부동소수점</c:v>
                </c:pt>
              </c:strCache>
            </c:strRef>
          </c:cat>
          <c:val>
            <c:numRef>
              <c:f>Sheet1!$B$2:$B$5</c:f>
              <c:numCache>
                <c:formatCode>General</c:formatCode>
                <c:ptCount val="4"/>
                <c:pt idx="0">
                  <c:v>0.92</c:v>
                </c:pt>
                <c:pt idx="1">
                  <c:v>0.87</c:v>
                </c:pt>
                <c:pt idx="2">
                  <c:v>0.71</c:v>
                </c:pt>
                <c:pt idx="3">
                  <c:v>0.6</c:v>
                </c:pt>
              </c:numCache>
            </c:numRef>
          </c:val>
          <c:extLst>
            <c:ext xmlns:c16="http://schemas.microsoft.com/office/drawing/2014/chart" uri="{C3380CC4-5D6E-409C-BE32-E72D297353CC}">
              <c16:uniqueId val="{00000008-88A0-4363-8DE1-33DC83A1F9D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
          <c:min val="0"/>
        </c:scaling>
        <c:delete val="0"/>
        <c:axPos val="b"/>
        <c:majorGridlines>
          <c:spPr>
            <a:ln w="6350" cap="flat">
              <a:solidFill>
                <a:srgbClr val="E8E8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069553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안녕하세요, 팀 REDRED입니다. 저희는 회전하는 이벤트 카메라가 내보내는 데이터를 하나의 월드 지도로 옮기는 칩을 만들었습니다. 교수님이 주신 센서의 원본 데이터 형식을 직접 해독해서 입력으로 쓰고, 설계부터 배치배선, signoff까지 끝낸 풀칩이고, 그 과정에서 겪은 시행착오도 함께 말씀드리겠습니다.</a:t>
            </a:r>
          </a:p>
          <a:p>
            <a:r>
              <a:t>▷ 발표 순서는 목표, 달성 방법, 결과, 기술 내용, 시행착오, 장단점과 고려 사항입니다.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핵심 여섯 가지를 요약해서 보여 드립니다. 첫째, RTL이 기준모델과 한 비트도 다르지 않습니다. 변환, 추정기, 종단 시뮬레이션이 모두 불일치 0이고 논리 동등성 검사도 통과했습니다. 둘째, 8나노초 풀칩 signoff에서 setup 여유가 2.4나노초입니다. 셋째, 실제 roll 영상에서 각도 오차가 평균 0.47도입니다. 넷째, 녹화마다 맞춰 둔 상수라는 과적합을 피벗 하나로 규명하고, 데이터에서 구하는 알고리즘으로 해결했습니다. 다섯째, 센서 원본 워드를 디코더가 그대로 받습니다. 여섯째, 약 60개 후보를 측정으로 걸러냈습니다.</a:t>
            </a:r>
          </a:p>
          <a:p>
            <a:r>
              <a:t>▷ 각 항목 옆 괄호의 쪽수에서 근거를 보실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문제와 목표입니다. 이벤트 카메라가 회전하면 같은 물체가 센서의 다른 픽셀에서 계속 반응하기 때문에, 이벤트를 그대로 쌓으면 왼쪽 그림처럼 소용돌이로 번집니다. 저희 목표는 센서 원본 이벤트를 받아서, 회전을 보정한 월드 맵을 칩 한 개로 만드는 것입니다. 교수님 Q&amp;A로 회전은 180도 이내이고 평행 이동은 없다는 제약이 확정됐고, 표면만 보는 2차원 월드로 정리했습니다. 달성 방법은 세 단계입니다. 이벤트에서 회전각을 추정하고, 그 각도로 이벤트마다 월드 좌표를 계산하고, 월드 메모리에 씁니다. 오른쪽 그림이 칩이 만든 결과입니다.</a:t>
            </a:r>
          </a:p>
          <a:p>
            <a:r>
              <a:t>▷ 오른쪽 목표 지표는 실제 데이터 동작, 비트 일치, signoff, 그리고 과적합 없이 일반화되는가입니다. 각각 뒤에서 쪽수와 함께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입력 데이터입니다. 교수님이 주신 녹화는 삼성 S5KRC1S 센서의 group AER 형식입니다. AER은 이벤트를 주소로 전달하는 방식이고, group은 워드 하나에 최대 16픽셀을 묶어 보낸다는 뜻입니다. 프레임 주기는 흔히 말하는 1000이 아니라 773마이크로초, 약 1,294 프레임으로 실측해서 확인했습니다. roll 녹화는 7천5백만 이벤트에 총 회전 323도이고, pan 녹화는 8천7백만 이벤트입니다. 정답이 따로 없어서, 4프레임 창을 ECC로, 즉 영상 두 장을 맞춰 회전각을 구하는 방법으로 정합한 각도를 정답 대용으로 썼습니다.</a:t>
            </a:r>
          </a:p>
          <a:p>
            <a:r>
              <a:t>▷ 외부 벤치마크로 UZH 회전 시퀀스를 같은 group AER 워드로 다시 부호화해서 같은 디코더로 통과시켰습니다. 그래서 칩이 센서 원본을 전처리 변환기 없이 바로 받는 구조입니다.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칩의 전체 구조입니다. 그림의 파란색이 이벤트마다 도는 쓰기 경로이고, 주황색이 각도를 구하는 자세 추정입니다. 번호 순서로 설명드리겠습니다. 1번, 디코더가 센서 워드를 풀어서 픽셀 주소로 바꿉니다. 2번, 같은 픽셀 스트림이 추정기로도 들어갑니다. 3번, 추정기가 1비트 지도로 회전각을 구하고, CORDIC이 그 각도를 코사인과 사인으로 바꿔서 프레임마다 변환 값을 만듭니다. 4번, 좌표 변환 블록이 그 값으로 픽셀마다 회전을 되돌린 월드 좌표를 계산합니다. 5번, 직렬화기가 한 줄로 정렬하고 라이터가 해당 셀의 카운터를 올려 월드 메모리에 씁니다.</a:t>
            </a:r>
          </a:p>
          <a:p>
            <a:r>
              <a:t>▷ 가운데 되돌아오는 주황색 화살표가 핵심입니다. 각도 추정과 좌표 변환이 한 칩 안에 있어서 외부에서 자세를 받을 필요가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여기서부터 결과입니다. 풀칩을 배치배선하고, 독립 Quantus 추출로 signoff, 즉 제조 직전 최종 타이밍 검사를 했습니다. 8나노초, 125메가헤르츠에서 setup 여유가 2.4나노초이고, hold 여유는 7피코초로 얇지만 위반은 없습니다. setup과 hold 여유는 신호가 너무 늦거나 너무 빠르지 않은 시간 여유이고 양수면 통과입니다. 면적은 4.5제곱밀리미터인데 대부분이 8킬로비트 하드매크로 46개입니다. 논리 동등성 검사 LEC는 비교점 14,618개에서 비동등이 0이었습니다. DRC는 전원선 via 스택 10건만 남았습니다.</a:t>
            </a:r>
          </a:p>
          <a:p>
            <a:r>
              <a:t>▷ 전력 13밀리와트는 활동도 입력이 없는 값이라 절대값은 신뢰도가 낮고, 절감 근거는 18쪽 병행 설계 실측으로 보강합니다. 처리량은 센서 최악 기준으로 필요한 클록이 약 112메가헤르츠라 125 안에 들어옵니다.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검증입니다. 기준모델, 즉 소프트웨어 정답을 두고 RTL이 한 비트도 다르지 않은지 보는 방식입니다. 변환과 쓰기 경로는 교수님 roll, pan과 UZH 세 데이터에서 픽셀마다 좌표와 뱅크, 주소를 비교했고, 월드 메모리 전체도 비교했습니다. 추정기는 교수님 네 구간에서 프레임 파라미터와 창 상태까지 비교했고, 종단은 roll 32프레임과 pan 64프레임에서 최종 월드 메모리까지 모두 불일치 0이었습니다. 논리 동등성 검사와 SDF 게이트 시뮬레이션도 통과했습니다.</a:t>
            </a:r>
          </a:p>
          <a:p>
            <a:r>
              <a:t>▷ 검증이 실제로 문제를 잡아냈습니다. LEC 첫 시도는 곱셈 덧셈 경로에서 실패해서 합성 중간 넷리스트를 거치는 2단계 비교로 풀었고, 게이트 시뮬레이션 테스트벤치의 결함 두 건도 이 과정에서 찾았습니다.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정확도입니다. roll 녹화에서 ECC 정답 대비 평균 0.47도이고 최대 1.7도입니다. 왼쪽 그림이 5초 전체의 칩 추정각과 정답 곡선인데 거의 겹칩니다. 오른쪽은 오차 분포로 대부분이 0.5도 안쪽이고, pan은 평균 12픽셀 정도입니다. 이 정수 모델이 RTL의 사양이고 RTL과 비트 단위로 일치합니다.</a:t>
            </a:r>
          </a:p>
          <a:p>
            <a:r>
              <a:t>▷ 한계도 말씀드립니다. UZH 3축 회전에서 정수 모델은 정확도 수치로 인용하지 않고 하드웨어 일치 검증용으로만 씁니다. 교수님 데이터는 회전 한 자유도라 이 한계의 영향이 없고, 정답이 ECC 체인이라 그 자체의 오차가 섞여 있어 교수 데이터와 UZH 수치는 직접 비교하지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칩이 만든 월드 맵입니다. 위쪽 왼쪽이 roll 녹화를 보정 없이 그대로 쌓은 것으로 소용돌이처럼 번지고, 오른쪽이 칩 출력으로 방의 구조가 보입니다. 응집도, 즉 지도가 얼마나 선명한지의 지표가 1.06에서 2.34로 올랐습니다. pan도 1.16에서 2.76으로 올랐고 파노라마처럼 이어집니다. 아래 왼쪽은 칩 RTL 시뮬레이션이 실제로 월드 메모리에 쓴 값입니다. 8픽셀 셀에 4비트 로그 카운터라 해상도는 낮지만 같은 장면이 복원되고, 프레임이 쌓일수록 지도가 자라는 모습이 오른쪽 아래에 있습니다.</a:t>
            </a:r>
          </a:p>
          <a:p>
            <a:r>
              <a:t>▷ RTL과 기준모델이 비트 단위로 같기 때문에 위쪽 월드 맵과 아래쪽 RTL 결과는 같은 장면을 보여 줍니다.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다른 결과도 보여 드립니다. pan 녹화로 만든 파노라마, 월드 맵을 회전 중심 기준 3차원으로 본 시점 변환, 그리고 외부 데이터인 UZH 시퀀스입니다. UZH는 보정 전 응집도 3.18에서, 자기보정과 키프레임 앵커를 쓰면 10.03으로 올라서 뭉개져 있던 도형들이 분리되어 보입니다.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발표에서 가장 중요한 부분입니다. 과적합 문제였습니다. 칩의 기하 상수가 특정 녹화에 맞춰져 있어서, 다른 녹화의 상수를 그대로 쓰면 roll 각도가 61도나 무너졌습니다. 원인을 파 보니 상수 여러 개가 사실은 카메라가 도는 중심, 즉 피벗 하나였습니다. 그래서 상수를 쓰지 않고 데이터에서 직접 계산하도록 알고리즘으로 만들었습니다. 처음 몇 창을 3자유도로 돌려 각도와 이동량을 모으고, 최소제곱으로 피벗을 구한 뒤 한 자유도로 고정하는 방식입니다. 그러면 상수 없이도 0.67도가 나옵니다. 정답이 있는 합성 장면에서 독립적으로 검증하면, 피벗 반지름이 2만 픽셀로 커져도 프리즈 방식의 116도 오차가 1.7도로 줄었습니다.</a:t>
            </a:r>
          </a:p>
          <a:p>
            <a:r>
              <a:t>▷ 정수 모델에서는 데이터에서 구한 피벗의 오차 0.405도가 손으로 맞춘 값 0.467도보다 작아서, 일반화뿐 아니라 정확도에도 이득이었습니다.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여기서부터 기술 내용입니다. 좌표 변환은 후보를 넓게 비교해서 골랐습니다. 직접 곱셈, 곱셈기 없이 사인과 코사인을 계산하는 CORDIC, 3단 전단 분해, 렌즈 왜곡 보정, 행별 읽기 시각 보정을 같은 모델에서 쟀습니다. 곱셈기 없는 증분 변환 여러 레인이 출력 비트 일치를 지키면서 면적과 전력이 직접 곱셈의 약 0.44배와 0.39배였습니다.</a:t>
            </a:r>
          </a:p>
          <a:p>
            <a:r>
              <a:t>▷ 다만 이 이득은 group AER의 여러 픽셀 묶음 입력과 맞물릴 때만 성립합니다. 곱셈기를 없애는 것이 언제나 이득은 아니라는 점도 기록해 두었습니다.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월드 메모리입니다. 8픽셀 셀 하나에 4비트 로그 카운터를 둡니다. 난수를 이용해 확률적으로 올리기 때문에 4비트로도 큰 수까지 셀 수 있습니다. 8킬로비트 하드매크로 뱅크 16개로 약 131킬로비트이고, 클록 게이팅으로 쓰는 행의 클록만 켭니다. 아래 그래프는 뱅크별로 쓰인 셀 수와 카운터 값 분포이고, 평균 활성 뱅크는 roll 약 76퍼센트입니다.</a:t>
            </a:r>
          </a:p>
          <a:p>
            <a:r>
              <a:t>▷ 교육용 PDK에 SRAM이 없어서 플립플롭과 클록 게이팅이 레이아웃, 추출, 게이트 시뮬레이션이 모두 닫힌 유일한 구현이었습니다. 게이팅이 없으면 면적 1.3배, 전력 3.8배입니다.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자세 추정기입니다. 시야 범위를 현재, 직전, 기준 프레임의 1비트 지도 세 장으로 기억하고, 4프레임 창마다 후보 각도 아홉 개의 점수를 비교한 뒤 포물선으로 보정해서 각도를 구합니다. 각도가 일정 이상 벌어지면 키프레임, 즉 기준 프레임을 교체해서 누적 오차를 막습니다. 모두 정수 연산이고 이 정수 모델이 RTL 사양입니다.</a:t>
            </a:r>
          </a:p>
          <a:p>
            <a:r>
              <a:t>▷ 처리량은 추정기 단독으로 프레임 주기의 1.8배 여유가 있고, 쓰기 경로까지 포함한 종단에서는 8나노초에서 프레임당 0.715밀리초로 프레임 주기 0.773 안에 들어옵니다. 여유는 1.08배로 얇습니다.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여기서부터 시행착오입니다. 첫째는 클록입니다. 5.5나노초를 목표로 배치배선했고 정적 타이밍 분석, 즉 계산으로 지연을 검사하는 방법은 여유 25피코초로 통과했습니다. 그런데 실제 지연값을 넣은 SDF 게이트 시뮬레이션이 느린 코너에서 맞지 않았습니다. 6나노초에서도 불일치가 나서, 8나노초로 물러났고 8과 12나노초에서는 bit-exact 통과입니다.</a:t>
            </a:r>
          </a:p>
          <a:p>
            <a:r>
              <a:t>▷ 매크로 읽기 쓰기 경주, 입력 지연, 셀 모델 검사, 슬로우 뷰 hold 같은 가설 네 개를 배제했지만 원인은 끝내 규명하지 못했고, 한계로 솔직하게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둘째, 약 60개 후보를 측정해서 걸러냈습니다. 월드 표현으로는 8픽셀 격자가 지도 상관 0.92로 가장 높았고, 로그 극좌표가 0.71, 블록 부동소수점이 0.6 정도라 탈락했습니다. 점유 셀만 저장하는 희소 월드는 4픽셀에서 오히려 희소하지 않았고, 래치 메모리는 배치 후 시뮬레이션이 24퍼센트 불일치해서 버렸습니다.</a:t>
            </a:r>
          </a:p>
          <a:p>
            <a:r>
              <a:t>▷ 카운트 민 스케치, 셀별 깊이 지도, 4픽셀 월드, α β 추적기도 각각 측정된 사유로 기각했습니다.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셋째, 팀의 병행 설계 라인과 메모리, 물리 설계에서 얻은 것입니다. 클록 게이팅 hold 위반 마이너스 30피코초는 클록 게이트 전용 셀로, 마이너스 7피코초는 mux 셀을 속도 실측으로 골라 교체해서 풀었습니다. 메모리는 세 가지 방식을 실측해서 플립플롭과 클록 게이팅을 골랐고, DRC는 105건에서 10건으로 줄였습니다. 1024각도 변환은 표 방식이 지고 직접 행렬곱이 이겼습니다.</a:t>
            </a:r>
          </a:p>
          <a:p>
            <a:r>
              <a:t>▷ 이 과정에서 얻은 교훈은, 안 닫히는 문제는 이상한 상태에서 측정하지 않았는지부터 의심하라는 것입니다.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넷째, 생체 모방입니다. 원칙은 합성 장면에서 좋아 보여도 실제 프레임과 사전에 정한 기준으로 다시 확인하는 것이었습니다. 중심와와 이벤트 클러스터링, 눈 깜빡임처럼 입력이 없을 때 클록을 차단하는 방식, 행 단위 선택적 활성화 세 개만 채택했습니다. 행 게이팅은 실제 센서 활동도에서 메모리 전력이 2.52에서 0.87밀리와트로 65.5퍼센트 줄었습니다. 나머지 일곱 개는 기준에 못 미쳐서 기각했습니다.</a:t>
            </a:r>
          </a:p>
          <a:p>
            <a:r>
              <a:t>▷ 기각한 것 중에는 합성에서만 이득이 있고 실제 프레임에서는 이득이 없던 이득 조절, 정확도가 오히려 나빠진 입력 줄이기, 미세 안구운동 등이 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19쪽은 부록으로 용어 풀이를 정리했습니다. 이벤트 카메라, AER, ECC, 피벗, 응집도부터 setup과 hold, LEC, DRC, 클록 게이팅까지 이 발표에 나온 말들이니 필요할 때 참고해 주세요.</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정리하겠습니다. 장점은 제공된 센서의 원본 데이터를 칩이 직접 받는다는 점, 실제 roll 영상에서 0.47도라는 점, RTL이 기준모델과 비트 단위로 같고 풀칩 signoff와 LEC, 게이트 시뮬레이션까지 닫혔다는 점입니다. 과적합은 피벗을 데이터에서 구하는 알고리즘으로 해결했습니다. 단점은 출하 클록이 8나노초로 물러났고 느린 코너 시뮬레이션 불일치 원인을 규명하지 못했다는 점, 전력이 활동도 입력이 없는 값이라는 점입니다. 고려 사항으로, 월드를 1024 곱하기 1024로 키우면 메모리가 면적을 지배하므로 SRAM 매크로가 필요합니다.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5.png"/><Relationship Id="rId4"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chart" Target="../charts/char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marL="0" indent="0" eaLnBrk="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marL="0" indent="0" eaLnBrk="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marL="0" indent="0" eaLnBrk="0">
              <a:buNone/>
            </a:pP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txBody>
          <a:bodyPr/>
          <a:lstStyle/>
          <a:p>
            <a:endParaRPr lang="ko-KR" altLang="en-US"/>
          </a:p>
        </p:txBody>
      </p:sp>
      <p:sp>
        <p:nvSpPr>
          <p:cNvPr id="5" name="Text 3"/>
          <p:cNvSpPr txBox="1"/>
          <p:nvPr/>
        </p:nvSpPr>
        <p:spPr>
          <a:xfrm>
            <a:off x="82296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txBody>
          <a:bodyPr/>
          <a:lstStyle/>
          <a:p>
            <a:endParaRPr lang="ko-KR" altLang="en-US"/>
          </a:p>
        </p:txBody>
      </p:sp>
      <p:sp>
        <p:nvSpPr>
          <p:cNvPr id="9" name="Text 7"/>
          <p:cNvSpPr txBox="1"/>
          <p:nvPr/>
        </p:nvSpPr>
        <p:spPr>
          <a:xfrm>
            <a:off x="457200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txBody>
          <a:bodyPr/>
          <a:lstStyle/>
          <a:p>
            <a:endParaRPr lang="ko-KR" altLang="en-US"/>
          </a:p>
        </p:txBody>
      </p:sp>
      <p:sp>
        <p:nvSpPr>
          <p:cNvPr id="13" name="Text 11"/>
          <p:cNvSpPr txBox="1"/>
          <p:nvPr/>
        </p:nvSpPr>
        <p:spPr>
          <a:xfrm>
            <a:off x="832104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txBody>
          <a:bodyPr/>
          <a:lstStyle/>
          <a:p>
            <a:endParaRPr lang="ko-KR" altLang="en-US"/>
          </a:p>
        </p:txBody>
      </p:sp>
      <p:sp>
        <p:nvSpPr>
          <p:cNvPr id="17" name="Text 15"/>
          <p:cNvSpPr txBox="1"/>
          <p:nvPr/>
        </p:nvSpPr>
        <p:spPr>
          <a:xfrm>
            <a:off x="82296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과적합 해결 알고리즘 (검증 완료)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합성 정답에서 독립 검증, 칩은 상수를 레지스터로 받음 (11쪽)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txBody>
          <a:bodyPr/>
          <a:lstStyle/>
          <a:p>
            <a:endParaRPr lang="ko-KR" altLang="en-US"/>
          </a:p>
        </p:txBody>
      </p:sp>
      <p:sp>
        <p:nvSpPr>
          <p:cNvPr id="21" name="Text 19"/>
          <p:cNvSpPr txBox="1"/>
          <p:nvPr/>
        </p:nvSpPr>
        <p:spPr>
          <a:xfrm>
            <a:off x="457200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txBody>
          <a:bodyPr/>
          <a:lstStyle/>
          <a:p>
            <a:endParaRPr lang="ko-KR" altLang="en-US"/>
          </a:p>
        </p:txBody>
      </p:sp>
      <p:sp>
        <p:nvSpPr>
          <p:cNvPr id="25" name="Text 23"/>
          <p:cNvSpPr txBox="1"/>
          <p:nvPr/>
        </p:nvSpPr>
        <p:spPr>
          <a:xfrm>
            <a:off x="832104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4쪽(생체 모방 포함)을 숨김없이 수록 (15~18쪽)</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정의와 목표: </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센서가</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회전해도 지도는 그대로</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목표</a:t>
            </a:r>
            <a:endParaRPr lang="en-US" sz="1100" dirty="0"/>
          </a:p>
        </p:txBody>
      </p:sp>
      <p:sp>
        <p:nvSpPr>
          <p:cNvPr id="4" name="Shape 2"/>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txBody>
          <a:bodyPr/>
          <a:lstStyle/>
          <a:p>
            <a:endParaRPr lang="ko-KR" altLang="en-US"/>
          </a:p>
        </p:txBody>
      </p:sp>
      <p:sp>
        <p:nvSpPr>
          <p:cNvPr id="5" name="Text 3"/>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목표</a:t>
            </a:r>
            <a:endParaRPr lang="en-US" sz="1600" dirty="0"/>
          </a:p>
        </p:txBody>
      </p:sp>
      <p:sp>
        <p:nvSpPr>
          <p:cNvPr id="6" name="Text 4"/>
          <p:cNvSpPr txBox="1"/>
          <p:nvPr/>
        </p:nvSpPr>
        <p:spPr>
          <a:xfrm>
            <a:off x="731520" y="1965960"/>
            <a:ext cx="3200400" cy="1097280"/>
          </a:xfrm>
          <a:prstGeom prst="rect">
            <a:avLst/>
          </a:prstGeom>
          <a:noFill/>
          <a:ln/>
        </p:spPr>
        <p:txBody>
          <a:bodyPr wrap="square" lIns="0" tIns="0" rIns="0" bIns="0" rtlCol="0" anchor="t"/>
          <a:lstStyle/>
          <a:p>
            <a:pPr marL="0" indent="0" eaLnBrk="0">
              <a:buNone/>
            </a:pPr>
            <a:r>
              <a:rPr lang="ko-KR" alt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a:t>
            </a:r>
            <a:r>
              <a:rPr lang="en-US" sz="1500" dirty="0" err="1">
                <a:solidFill>
                  <a:srgbClr val="1D1D1F"/>
                </a:solidFill>
                <a:latin typeface="나눔스퀘어 네오 Regular" pitchFamily="34" charset="0"/>
                <a:ea typeface="나눔스퀘어 네오 Regular" pitchFamily="34" charset="-122"/>
                <a:cs typeface="나눔스퀘어 네오 Regular" pitchFamily="34" charset="-120"/>
              </a:rPr>
              <a:t>센서</a:t>
            </a: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a:t>
            </a:r>
            <a:r>
              <a:rPr lang="en-US" sz="1500" dirty="0" err="1">
                <a:solidFill>
                  <a:srgbClr val="1D1D1F"/>
                </a:solidFill>
                <a:latin typeface="나눔스퀘어 네오 Regular" pitchFamily="34" charset="0"/>
                <a:ea typeface="나눔스퀘어 네오 Regular" pitchFamily="34" charset="-122"/>
                <a:cs typeface="나눔스퀘어 네오 Regular" pitchFamily="34" charset="-120"/>
              </a:rPr>
              <a:t>원본</a:t>
            </a: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a:t>
            </a:r>
            <a:r>
              <a:rPr lang="ko-KR" altLang="en-US" sz="1500" dirty="0">
                <a:solidFill>
                  <a:srgbClr val="1D1D1F"/>
                </a:solidFill>
                <a:latin typeface="나눔스퀘어 네오 Regular" pitchFamily="34" charset="0"/>
                <a:ea typeface="나눔스퀘어 네오 Regular" pitchFamily="34" charset="-122"/>
                <a:cs typeface="나눔스퀘어 네오 Regular" pitchFamily="34" charset="-120"/>
              </a:rPr>
              <a:t>영상을</a:t>
            </a: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받아</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회전을 보정한 월드 맵을</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칩 한 개로 만든다 (960×720)</a:t>
            </a:r>
            <a:endParaRPr lang="en-US" sz="1500" dirty="0"/>
          </a:p>
        </p:txBody>
      </p:sp>
      <p:sp>
        <p:nvSpPr>
          <p:cNvPr id="7" name="Shape 5"/>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txBody>
          <a:bodyPr/>
          <a:lstStyle/>
          <a:p>
            <a:endParaRPr lang="ko-KR" altLang="en-US"/>
          </a:p>
        </p:txBody>
      </p:sp>
      <p:sp>
        <p:nvSpPr>
          <p:cNvPr id="8" name="Text 6"/>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err="1">
                <a:solidFill>
                  <a:srgbClr val="0066CC"/>
                </a:solidFill>
                <a:latin typeface="나눔스퀘어 네오 Bold" pitchFamily="34" charset="0"/>
                <a:ea typeface="나눔스퀘어 네오 Bold" pitchFamily="34" charset="-122"/>
                <a:cs typeface="나눔스퀘어 네오 Bold" pitchFamily="34" charset="-120"/>
              </a:rPr>
              <a:t>제약</a:t>
            </a:r>
            <a:endParaRPr lang="en-US" sz="1600" dirty="0"/>
          </a:p>
        </p:txBody>
      </p:sp>
      <p:sp>
        <p:nvSpPr>
          <p:cNvPr id="9" name="Text 7"/>
          <p:cNvSpPr txBox="1"/>
          <p:nvPr/>
        </p:nvSpPr>
        <p:spPr>
          <a:xfrm>
            <a:off x="4498848"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8"/>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txBody>
          <a:bodyPr/>
          <a:lstStyle/>
          <a:p>
            <a:endParaRPr lang="ko-KR" altLang="en-US"/>
          </a:p>
        </p:txBody>
      </p:sp>
      <p:sp>
        <p:nvSpPr>
          <p:cNvPr id="11" name="Text 9"/>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달성 방법 (요약, 5쪽)</a:t>
            </a:r>
            <a:endParaRPr lang="en-US" sz="1600" dirty="0"/>
          </a:p>
        </p:txBody>
      </p:sp>
      <p:sp>
        <p:nvSpPr>
          <p:cNvPr id="12" name="Text 10"/>
          <p:cNvSpPr txBox="1"/>
          <p:nvPr/>
        </p:nvSpPr>
        <p:spPr>
          <a:xfrm>
            <a:off x="8266176"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submission\figs\hs_A1_roll.png"/>
          <p:cNvPicPr>
            <a:picLocks noChangeAspect="1"/>
          </p:cNvPicPr>
          <p:nvPr/>
        </p:nvPicPr>
        <p:blipFill>
          <a:blip r:embed="rId3"/>
          <a:stretch>
            <a:fillRect/>
          </a:stretch>
        </p:blipFill>
        <p:spPr>
          <a:xfrm>
            <a:off x="548640" y="3291840"/>
            <a:ext cx="6492240" cy="3182112"/>
          </a:xfrm>
          <a:prstGeom prst="rect">
            <a:avLst/>
          </a:prstGeom>
        </p:spPr>
      </p:pic>
      <p:sp>
        <p:nvSpPr>
          <p:cNvPr id="14"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txBody>
          <a:bodyPr/>
          <a:lstStyle/>
          <a:p>
            <a:endParaRPr lang="ko-KR" altLang="en-US"/>
          </a:p>
        </p:txBody>
      </p:sp>
      <p:sp>
        <p:nvSpPr>
          <p:cNvPr id="15" name="Text 12"/>
          <p:cNvSpPr txBox="1"/>
          <p:nvPr/>
        </p:nvSpPr>
        <p:spPr>
          <a:xfrm>
            <a:off x="7543800" y="3566160"/>
            <a:ext cx="3931920" cy="365760"/>
          </a:xfrm>
          <a:prstGeom prst="rect">
            <a:avLst/>
          </a:prstGeom>
          <a:noFill/>
          <a:ln/>
        </p:spPr>
        <p:txBody>
          <a:bodyPr wrap="square" lIns="0" tIns="0" rIns="0" bIns="0" rtlCol="0" anchor="t"/>
          <a:lstStyle/>
          <a:p>
            <a:pPr marL="0" indent="0" eaLnBrk="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목표 지표</a:t>
            </a:r>
            <a:endParaRPr lang="en-US" sz="1700" dirty="0"/>
          </a:p>
        </p:txBody>
      </p:sp>
      <p:sp>
        <p:nvSpPr>
          <p:cNvPr id="16" name="Text 13"/>
          <p:cNvSpPr txBox="1"/>
          <p:nvPr/>
        </p:nvSpPr>
        <p:spPr>
          <a:xfrm>
            <a:off x="7543800" y="4023360"/>
            <a:ext cx="3931920" cy="2103120"/>
          </a:xfrm>
          <a:prstGeom prst="rect">
            <a:avLst/>
          </a:prstGeom>
          <a:noFill/>
          <a:ln/>
        </p:spPr>
        <p:txBody>
          <a:bodyPr wrap="square" lIns="0" tIns="0" rIns="0" bIns="0" rtlCol="0" anchor="t"/>
          <a:lstStyle/>
          <a:p>
            <a:pPr marL="342900" indent="-342900" eaLnBrk="0">
              <a:spcAft>
                <a:spcPts val="400"/>
              </a:spcAft>
              <a:buSzPct val="100000"/>
              <a:buChar char="•"/>
            </a:pPr>
            <a:r>
              <a:rPr lang="en-US" sz="145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 (8쪽)</a:t>
            </a:r>
            <a:endParaRPr lang="en-US" sz="1450" dirty="0"/>
          </a:p>
          <a:p>
            <a:pPr marL="342900" indent="-342900" eaLnBrk="0">
              <a:spcAft>
                <a:spcPts val="400"/>
              </a:spcAft>
              <a:buSzPct val="100000"/>
              <a:buChar char="•"/>
            </a:pPr>
            <a:r>
              <a:rPr lang="en-US" sz="145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 (7쪽)</a:t>
            </a:r>
            <a:endParaRPr lang="en-US" sz="1450" dirty="0"/>
          </a:p>
          <a:p>
            <a:pPr marL="342900" indent="-342900" eaLnBrk="0">
              <a:spcAft>
                <a:spcPts val="400"/>
              </a:spcAft>
              <a:buSzPct val="100000"/>
              <a:buChar char="•"/>
            </a:pPr>
            <a:r>
              <a:rPr lang="en-US" sz="1450" dirty="0">
                <a:solidFill>
                  <a:srgbClr val="FFFFFF"/>
                </a:solidFill>
                <a:latin typeface="나눔스퀘어 네오 Regular" pitchFamily="34" charset="0"/>
                <a:ea typeface="나눔스퀘어 네오 Regular" pitchFamily="34" charset="-122"/>
                <a:cs typeface="나눔스퀘어 네오 Regular" pitchFamily="34" charset="-120"/>
              </a:rPr>
              <a:t>배치배선·signoff까지 닫혔는가 (6쪽)</a:t>
            </a:r>
            <a:endParaRPr lang="en-US" sz="1450" dirty="0"/>
          </a:p>
          <a:p>
            <a:pPr marL="342900" indent="-342900" eaLnBrk="0">
              <a:spcAft>
                <a:spcPts val="400"/>
              </a:spcAft>
              <a:buSzPct val="100000"/>
              <a:buChar char="•"/>
            </a:pPr>
            <a:r>
              <a:rPr lang="en-US" sz="1450" dirty="0">
                <a:solidFill>
                  <a:srgbClr val="FFFFFF"/>
                </a:solidFill>
                <a:latin typeface="나눔스퀘어 네오 Regular" pitchFamily="34" charset="0"/>
                <a:ea typeface="나눔스퀘어 네오 Regular" pitchFamily="34" charset="-122"/>
                <a:cs typeface="나눔스퀘어 네오 Regular" pitchFamily="34" charset="-120"/>
              </a:rPr>
              <a:t>녹화별 과적합 없이 일반화하는가 (11쪽)</a:t>
            </a:r>
            <a:endParaRPr lang="en-US" sz="1450" dirty="0"/>
          </a:p>
          <a:p>
            <a:pPr marL="342900" indent="-342900" eaLnBrk="0">
              <a:spcAft>
                <a:spcPts val="400"/>
              </a:spcAft>
              <a:buSzPct val="100000"/>
              <a:buChar char="•"/>
            </a:pPr>
            <a:r>
              <a:rPr lang="en-US" sz="145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 (20쪽)</a:t>
            </a:r>
            <a:endParaRPr lang="en-US" sz="145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센서의</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원본 데이터를 직접 해독해서 </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입력으로</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사용</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목표 · 입력</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2633472"/>
        </p:xfrm>
        <a:graphic>
          <a:graphicData uri="http://schemas.openxmlformats.org/drawingml/2006/table">
            <a:tbl>
              <a:tblPr/>
              <a:tblGrid>
                <a:gridCol w="219456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36576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(이벤트를 주소로 전달하는 AER 방식 중, 워드 1개에 최대 16픽셀을 묶음). 컬럼 주소는 컬럼당 1회, 타임스탬프는 프레임당 1개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ECC(영상 두 장을 맞춰 회전각을 구하는 방법)로 정합한 각도를 정답 대용으로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Shape 2"/>
          <p:cNvSpPr/>
          <p:nvPr/>
        </p:nvSpPr>
        <p:spPr>
          <a:xfrm>
            <a:off x="548640" y="4206240"/>
            <a:ext cx="6492240" cy="2103120"/>
          </a:xfrm>
          <a:prstGeom prst="roundRect">
            <a:avLst>
              <a:gd name="adj" fmla="val 5217"/>
            </a:avLst>
          </a:prstGeom>
          <a:solidFill>
            <a:srgbClr val="FFFFFF"/>
          </a:solidFill>
          <a:ln w="9525">
            <a:solidFill>
              <a:srgbClr val="E0E0E0"/>
            </a:solidFill>
            <a:prstDash val="solid"/>
          </a:ln>
        </p:spPr>
        <p:txBody>
          <a:bodyPr/>
          <a:lstStyle/>
          <a:p>
            <a:endParaRPr lang="ko-KR" altLang="en-US"/>
          </a:p>
        </p:txBody>
      </p:sp>
      <p:sp>
        <p:nvSpPr>
          <p:cNvPr id="6" name="Text 3"/>
          <p:cNvSpPr txBox="1"/>
          <p:nvPr/>
        </p:nvSpPr>
        <p:spPr>
          <a:xfrm>
            <a:off x="731520" y="4343400"/>
            <a:ext cx="6126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4"/>
          <p:cNvSpPr txBox="1"/>
          <p:nvPr/>
        </p:nvSpPr>
        <p:spPr>
          <a:xfrm>
            <a:off x="731520" y="4754880"/>
            <a:ext cx="6126480" cy="1417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300" dirty="0"/>
          </a:p>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입력은 회전 중에 프레임당 수십만~수백만 이벤트가 몰리는 실제 센서 데이터다 (오른쪽: roll 녹화 100 ms 간격 이벤트 프레임).</a:t>
            </a:r>
            <a:endParaRPr lang="en-US" sz="1300" dirty="0"/>
          </a:p>
        </p:txBody>
      </p:sp>
      <p:pic>
        <p:nvPicPr>
          <p:cNvPr id="8" name="Image 0" descr="C:\SNU\포트폴리오\전국AI반도체경진대회\submission\figs\raw_frames_roll.png"/>
          <p:cNvPicPr>
            <a:picLocks noChangeAspect="1"/>
          </p:cNvPicPr>
          <p:nvPr/>
        </p:nvPicPr>
        <p:blipFill>
          <a:blip r:embed="rId3"/>
          <a:stretch>
            <a:fillRect/>
          </a:stretch>
        </p:blipFill>
        <p:spPr>
          <a:xfrm>
            <a:off x="7269480" y="4160520"/>
            <a:ext cx="4343400" cy="2240280"/>
          </a:xfrm>
          <a:prstGeom prst="rect">
            <a:avLst/>
          </a:prstGeom>
        </p:spPr>
      </p:pic>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칩 안에서 </a:t>
            </a:r>
            <a:r>
              <a:rPr lang="en-US" sz="2600" b="1" dirty="0" err="1">
                <a:solidFill>
                  <a:srgbClr val="1D1D1F"/>
                </a:solidFill>
                <a:effectLst>
                  <a:outerShdw blurRad="38100" dist="38100" dir="2700000" algn="tl">
                    <a:srgbClr val="000000">
                      <a:alpha val="43137"/>
                    </a:srgbClr>
                  </a:outerShdw>
                </a:effectLst>
                <a:latin typeface="나눔스퀘어 네오 Bold" pitchFamily="34" charset="0"/>
                <a:ea typeface="나눔스퀘어 네오 Bold" pitchFamily="34" charset="-122"/>
                <a:cs typeface="나눔스퀘어 네오 Bold" pitchFamily="34" charset="-120"/>
              </a:rPr>
              <a:t>각도</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를</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계산</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하고</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a:t>
            </a:r>
            <a:r>
              <a:rPr lang="ko-KR" altLang="en-US" sz="2600" dirty="0" err="1">
                <a:solidFill>
                  <a:srgbClr val="1D1D1F"/>
                </a:solidFill>
                <a:latin typeface="나눔스퀘어 네오 Bold" pitchFamily="34" charset="0"/>
                <a:ea typeface="나눔스퀘어 네오 Bold" pitchFamily="34" charset="-122"/>
                <a:cs typeface="나눔스퀘어 네오 Bold" pitchFamily="34" charset="-120"/>
              </a:rPr>
              <a:t>월드맵</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 구현</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달성 방법</a:t>
            </a:r>
            <a:endParaRPr lang="en-US" sz="1100" dirty="0"/>
          </a:p>
        </p:txBody>
      </p:sp>
      <p:pic>
        <p:nvPicPr>
          <p:cNvPr id="4" name="Image 0" descr="C:\SNU\포트폴리오\전국AI반도체경진대회\submission\figs\chipS_arch.png"/>
          <p:cNvPicPr>
            <a:picLocks noChangeAspect="1"/>
          </p:cNvPicPr>
          <p:nvPr/>
        </p:nvPicPr>
        <p:blipFill>
          <a:blip r:embed="rId3"/>
          <a:stretch>
            <a:fillRect/>
          </a:stretch>
        </p:blipFill>
        <p:spPr>
          <a:xfrm>
            <a:off x="1097280" y="1234440"/>
            <a:ext cx="9966960" cy="4946904"/>
          </a:xfrm>
          <a:prstGeom prst="rect">
            <a:avLst/>
          </a:prstGeom>
        </p:spPr>
      </p:pic>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signoff를</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통과</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pic>
        <p:nvPicPr>
          <p:cNvPr id="4" name="Image 0" descr="C:\SNU\포트폴리오\전국AI반도체경진대회\submission\figs\chipS_floorplan.png"/>
          <p:cNvPicPr>
            <a:picLocks noChangeAspect="1"/>
          </p:cNvPicPr>
          <p:nvPr/>
        </p:nvPicPr>
        <p:blipFill>
          <a:blip r:embed="rId3"/>
          <a:stretch>
            <a:fillRect/>
          </a:stretch>
        </p:blipFill>
        <p:spPr>
          <a:xfrm>
            <a:off x="548640" y="1371600"/>
            <a:ext cx="5852160" cy="3886200"/>
          </a:xfrm>
          <a:prstGeom prst="rect">
            <a:avLst/>
          </a:prstGeom>
        </p:spPr>
      </p:pic>
      <p:sp>
        <p:nvSpPr>
          <p:cNvPr id="5" name="Text 2"/>
          <p:cNvSpPr txBox="1"/>
          <p:nvPr/>
        </p:nvSpPr>
        <p:spPr>
          <a:xfrm>
            <a:off x="548640" y="5303520"/>
            <a:ext cx="585216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36576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Text 3"/>
          <p:cNvSpPr txBox="1"/>
          <p:nvPr/>
        </p:nvSpPr>
        <p:spPr>
          <a:xfrm>
            <a:off x="6583680" y="5120640"/>
            <a:ext cx="5029200" cy="7315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용어: setup/hold 여유 = 신호가 너무 늦지(setup)·빠르지(hold) 않은 시간 여유(양수면 통과), LEC = 두 회로가 논리적으로 같음을 증명, DRC = 제조 설계 규칙 검사, signoff = 제조 직전 최종 검사 (19쪽 용어 풀이)</a:t>
            </a:r>
            <a:endParaRPr lang="en-US" sz="1000" dirty="0"/>
          </a:p>
        </p:txBody>
      </p:sp>
      <p:sp>
        <p:nvSpPr>
          <p:cNvPr id="8" name="Text 4"/>
          <p:cNvSpPr txBox="1"/>
          <p:nvPr/>
        </p:nvSpPr>
        <p:spPr>
          <a:xfrm>
            <a:off x="548640" y="5806440"/>
            <a:ext cx="1106424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실측(18쪽)으로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 vs </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기준모델</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전부 일치</a:t>
            </a:r>
            <a:r>
              <a:rPr lang="en-US" altLang="ko-KR" sz="2600" dirty="0">
                <a:solidFill>
                  <a:srgbClr val="1D1D1F"/>
                </a:solidFill>
                <a:latin typeface="나눔스퀘어 네오 Bold" pitchFamily="34" charset="0"/>
                <a:ea typeface="나눔스퀘어 네오 Bold" pitchFamily="34" charset="-122"/>
                <a:cs typeface="나눔스퀘어 네오 Bold" pitchFamily="34" charset="-120"/>
              </a:rPr>
              <a:t>)</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3401568"/>
        </p:xfrm>
        <a:graphic>
          <a:graphicData uri="http://schemas.openxmlformats.org/drawingml/2006/table">
            <a:tbl>
              <a:tblPr/>
              <a:tblGrid>
                <a:gridCol w="29260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 (RTL = 회로 설계 코드, 기준모델 = 소프트웨어 정답)</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 (불일치 0 = 한 비트도 다르지 않음)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2"/>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txBody>
          <a:bodyPr/>
          <a:lstStyle/>
          <a:p>
            <a:endParaRPr lang="ko-KR" altLang="en-US"/>
          </a:p>
        </p:txBody>
      </p:sp>
      <p:sp>
        <p:nvSpPr>
          <p:cNvPr id="6" name="Text 3"/>
          <p:cNvSpPr txBox="1"/>
          <p:nvPr/>
        </p:nvSpPr>
        <p:spPr>
          <a:xfrm>
            <a:off x="731520" y="516636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4"/>
          <p:cNvSpPr txBox="1"/>
          <p:nvPr/>
        </p:nvSpPr>
        <p:spPr>
          <a:xfrm>
            <a:off x="731520" y="5577840"/>
            <a:ext cx="10698480" cy="5943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UZH</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 에서의 한계</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2084832"/>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4114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5" name="Image 0" descr="C:\SNU\포트폴리오\전국AI반도체경진대회\submission\figs\hs_C3_roll_ecc.png"/>
          <p:cNvPicPr>
            <a:picLocks noChangeAspect="1"/>
          </p:cNvPicPr>
          <p:nvPr/>
        </p:nvPicPr>
        <p:blipFill>
          <a:blip r:embed="rId3"/>
          <a:stretch>
            <a:fillRect/>
          </a:stretch>
        </p:blipFill>
        <p:spPr>
          <a:xfrm>
            <a:off x="548640" y="3611880"/>
            <a:ext cx="4206240" cy="2624328"/>
          </a:xfrm>
          <a:prstGeom prst="rect">
            <a:avLst/>
          </a:prstGeom>
        </p:spPr>
      </p:pic>
      <p:pic>
        <p:nvPicPr>
          <p:cNvPr id="6" name="Image 1" descr="C:\SNU\포트폴리오\전국AI반도체경진대회\submission\figs\hs_C5b_err_hist.png"/>
          <p:cNvPicPr>
            <a:picLocks noChangeAspect="1"/>
          </p:cNvPicPr>
          <p:nvPr/>
        </p:nvPicPr>
        <p:blipFill>
          <a:blip r:embed="rId4"/>
          <a:stretch>
            <a:fillRect/>
          </a:stretch>
        </p:blipFill>
        <p:spPr>
          <a:xfrm>
            <a:off x="4937760" y="3611880"/>
            <a:ext cx="6675120" cy="2368296"/>
          </a:xfrm>
          <a:prstGeom prst="rect">
            <a:avLst/>
          </a:prstGeom>
        </p:spPr>
      </p:pic>
      <p:sp>
        <p:nvSpPr>
          <p:cNvPr id="7" name="Text 2"/>
          <p:cNvSpPr txBox="1"/>
          <p:nvPr/>
        </p:nvSpPr>
        <p:spPr>
          <a:xfrm>
            <a:off x="4937760" y="6016752"/>
            <a:ext cx="667512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있어 교수 데이터와 UZH 정확도는 직접 비교하지 않는다. 빠른 3축 회전에서는 추적을 잃으면 도형이 복제되는 한계가 남아 있다.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칩 S가 만든 월드 맵: 보정 전 </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소용돌이</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-&gt; </a:t>
            </a:r>
            <a:r>
              <a:rPr lang="ko-KR" altLang="en-US" sz="2600" dirty="0" err="1">
                <a:solidFill>
                  <a:srgbClr val="1D1D1F"/>
                </a:solidFill>
                <a:latin typeface="나눔스퀘어 네오 Bold" pitchFamily="34" charset="0"/>
                <a:ea typeface="나눔스퀘어 네오 Bold" pitchFamily="34" charset="-122"/>
                <a:cs typeface="나눔스퀘어 네오 Bold" pitchFamily="34" charset="-120"/>
              </a:rPr>
              <a:t>월드맵</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 </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구조</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pic>
        <p:nvPicPr>
          <p:cNvPr id="4" name="Image 0" descr="C:\SNU\포트폴리오\전국AI반도체경진대회\submission\figs\hs_A1_roll.png"/>
          <p:cNvPicPr>
            <a:picLocks noChangeAspect="1"/>
          </p:cNvPicPr>
          <p:nvPr/>
        </p:nvPicPr>
        <p:blipFill>
          <a:blip r:embed="rId3"/>
          <a:stretch>
            <a:fillRect/>
          </a:stretch>
        </p:blipFill>
        <p:spPr>
          <a:xfrm>
            <a:off x="548640" y="1188720"/>
            <a:ext cx="5486400" cy="2688336"/>
          </a:xfrm>
          <a:prstGeom prst="rect">
            <a:avLst/>
          </a:prstGeom>
        </p:spPr>
      </p:pic>
      <p:pic>
        <p:nvPicPr>
          <p:cNvPr id="5" name="Image 1" descr="C:\SNU\포트폴리오\전국AI반도체경진대회\submission\figs\hs_A2_pan.png"/>
          <p:cNvPicPr>
            <a:picLocks noChangeAspect="1"/>
          </p:cNvPicPr>
          <p:nvPr/>
        </p:nvPicPr>
        <p:blipFill>
          <a:blip r:embed="rId4"/>
          <a:stretch>
            <a:fillRect/>
          </a:stretch>
        </p:blipFill>
        <p:spPr>
          <a:xfrm>
            <a:off x="6217920" y="1188720"/>
            <a:ext cx="5394960" cy="1325880"/>
          </a:xfrm>
          <a:prstGeom prst="rect">
            <a:avLst/>
          </a:prstGeom>
        </p:spPr>
      </p:pic>
      <p:sp>
        <p:nvSpPr>
          <p:cNvPr id="6" name="Text 2"/>
          <p:cNvSpPr txBox="1"/>
          <p:nvPr/>
        </p:nvSpPr>
        <p:spPr>
          <a:xfrm>
            <a:off x="6217920" y="2560320"/>
            <a:ext cx="5394960" cy="5029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교수님 roll·pan 녹화 전체: 이벤트를 그대로 쌓은 것(왼쪽) 대 칩 S 출력(오른쪽), 동일 스케일. 응집도(지도 선명도, 높을수록 선명) roll 1.06 → 2.34, pan 1.16 → 2.76.</a:t>
            </a:r>
            <a:endParaRPr lang="en-US" sz="1000" dirty="0"/>
          </a:p>
        </p:txBody>
      </p:sp>
      <p:pic>
        <p:nvPicPr>
          <p:cNvPr id="7" name="Image 2" descr="C:\SNU\포트폴리오\전국AI반도체경진대회\submission\figs\chip_roll_world.png"/>
          <p:cNvPicPr>
            <a:picLocks noChangeAspect="1"/>
          </p:cNvPicPr>
          <p:nvPr/>
        </p:nvPicPr>
        <p:blipFill>
          <a:blip r:embed="rId5"/>
          <a:stretch>
            <a:fillRect/>
          </a:stretch>
        </p:blipFill>
        <p:spPr>
          <a:xfrm>
            <a:off x="548640" y="4023360"/>
            <a:ext cx="5120640" cy="1911096"/>
          </a:xfrm>
          <a:prstGeom prst="rect">
            <a:avLst/>
          </a:prstGeom>
        </p:spPr>
      </p:pic>
      <p:sp>
        <p:nvSpPr>
          <p:cNvPr id="8" name="Text 3"/>
          <p:cNvSpPr txBox="1"/>
          <p:nvPr/>
        </p:nvSpPr>
        <p:spPr>
          <a:xfrm>
            <a:off x="548640" y="5961888"/>
            <a:ext cx="512064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RTL 시뮬 roll 32프레임: 보정 없음 / 칩 출력 / 보정 피벗 설정</a:t>
            </a:r>
            <a:endParaRPr lang="en-US" sz="1000" dirty="0"/>
          </a:p>
        </p:txBody>
      </p:sp>
      <p:pic>
        <p:nvPicPr>
          <p:cNvPr id="9" name="Image 3" descr="C:\SNU\포트폴리오\전국AI반도체경진대회\submission\figs\hs_E9_roll.png"/>
          <p:cNvPicPr>
            <a:picLocks noChangeAspect="1"/>
          </p:cNvPicPr>
          <p:nvPr/>
        </p:nvPicPr>
        <p:blipFill>
          <a:blip r:embed="rId6"/>
          <a:stretch>
            <a:fillRect/>
          </a:stretch>
        </p:blipFill>
        <p:spPr>
          <a:xfrm>
            <a:off x="6217920" y="3154680"/>
            <a:ext cx="2286000" cy="2048256"/>
          </a:xfrm>
          <a:prstGeom prst="rect">
            <a:avLst/>
          </a:prstGeom>
        </p:spPr>
      </p:pic>
      <p:sp>
        <p:nvSpPr>
          <p:cNvPr id="10" name="Text 4"/>
          <p:cNvSpPr txBox="1"/>
          <p:nvPr/>
        </p:nvSpPr>
        <p:spPr>
          <a:xfrm>
            <a:off x="6217920" y="5230368"/>
            <a:ext cx="2286000" cy="36576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칩 월드 메모리 내용 (4비트 로그 카운터)</a:t>
            </a:r>
            <a:endParaRPr lang="en-US" sz="1000" dirty="0"/>
          </a:p>
        </p:txBody>
      </p:sp>
      <p:pic>
        <p:nvPicPr>
          <p:cNvPr id="11" name="Image 4" descr="C:\SNU\포트폴리오\전국AI반도체경진대회\submission\figs\chip_map_growth.png"/>
          <p:cNvPicPr>
            <a:picLocks noChangeAspect="1"/>
          </p:cNvPicPr>
          <p:nvPr/>
        </p:nvPicPr>
        <p:blipFill>
          <a:blip r:embed="rId7"/>
          <a:stretch>
            <a:fillRect/>
          </a:stretch>
        </p:blipFill>
        <p:spPr>
          <a:xfrm>
            <a:off x="8686800" y="3200400"/>
            <a:ext cx="2926080" cy="667512"/>
          </a:xfrm>
          <a:prstGeom prst="rect">
            <a:avLst/>
          </a:prstGeom>
        </p:spPr>
      </p:pic>
      <p:sp>
        <p:nvSpPr>
          <p:cNvPr id="12" name="Text 5"/>
          <p:cNvSpPr txBox="1"/>
          <p:nvPr/>
        </p:nvSpPr>
        <p:spPr>
          <a:xfrm>
            <a:off x="8686800" y="3886200"/>
            <a:ext cx="292608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프레임이 쌓이며 지도가 자란다 (2→32프레임)</a:t>
            </a:r>
            <a:endParaRPr lang="en-US" sz="1000" dirty="0"/>
          </a:p>
        </p:txBody>
      </p:sp>
      <p:sp>
        <p:nvSpPr>
          <p:cNvPr id="13" name="Text 6"/>
          <p:cNvSpPr txBox="1"/>
          <p:nvPr/>
        </p:nvSpPr>
        <p:spPr>
          <a:xfrm>
            <a:off x="8686800" y="4297680"/>
            <a:ext cx="2926080" cy="20116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읽는 법: 위쪽 두 그림은 녹화 전체를 칩 모델에 통과시킨 월드 맵이고, 왼쪽 아래 RTL 시뮬 그림은 칩 RTL이 실제로 월드 메모리에 쓴 값(8 px 셀)이다. RTL = 기준모델이 비트 단위로 같아서 같은 장면을 보여 준다.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지도 모음: pan 파노라마, 3D 시점, 외부 UZH 데이터</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pic>
        <p:nvPicPr>
          <p:cNvPr id="4" name="Image 0" descr="C:\SNU\포트폴리오\전국AI반도체경진대회\submission\figs\panorama_pan.png"/>
          <p:cNvPicPr>
            <a:picLocks noChangeAspect="1"/>
          </p:cNvPicPr>
          <p:nvPr/>
        </p:nvPicPr>
        <p:blipFill>
          <a:blip r:embed="rId3"/>
          <a:stretch>
            <a:fillRect/>
          </a:stretch>
        </p:blipFill>
        <p:spPr>
          <a:xfrm>
            <a:off x="548640" y="1280160"/>
            <a:ext cx="5486400" cy="1527048"/>
          </a:xfrm>
          <a:prstGeom prst="rect">
            <a:avLst/>
          </a:prstGeom>
        </p:spPr>
      </p:pic>
      <p:sp>
        <p:nvSpPr>
          <p:cNvPr id="5" name="Text 2"/>
          <p:cNvSpPr txBox="1"/>
          <p:nvPr/>
        </p:nvSpPr>
        <p:spPr>
          <a:xfrm>
            <a:off x="548640" y="28346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녹화 월드 지도 파노라마 (소프트웨어 모델)</a:t>
            </a:r>
            <a:endParaRPr lang="en-US" sz="1100" dirty="0"/>
          </a:p>
        </p:txBody>
      </p:sp>
      <p:pic>
        <p:nvPicPr>
          <p:cNvPr id="6" name="Image 1" descr="C:\SNU\포트폴리오\전국AI반도체경진대회\submission\figs\hs_B_shapes.png"/>
          <p:cNvPicPr>
            <a:picLocks noChangeAspect="1"/>
          </p:cNvPicPr>
          <p:nvPr/>
        </p:nvPicPr>
        <p:blipFill>
          <a:blip r:embed="rId4"/>
          <a:stretch>
            <a:fillRect/>
          </a:stretch>
        </p:blipFill>
        <p:spPr>
          <a:xfrm>
            <a:off x="548640" y="3200400"/>
            <a:ext cx="5486400" cy="2450592"/>
          </a:xfrm>
          <a:prstGeom prst="rect">
            <a:avLst/>
          </a:prstGeom>
        </p:spPr>
      </p:pic>
      <p:sp>
        <p:nvSpPr>
          <p:cNvPr id="7" name="Text 3"/>
          <p:cNvSpPr txBox="1"/>
          <p:nvPr/>
        </p:nvSpPr>
        <p:spPr>
          <a:xfrm>
            <a:off x="548640" y="5687568"/>
            <a:ext cx="5486400" cy="54864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외부 UZH shapes_rotation(59초) 칩 S 월드 맵: 복제 제거 전(왼쪽) 대 자기보정+키프레임 앵커(오른쪽), 응집도 3.18 → 10.03</a:t>
            </a:r>
            <a:endParaRPr lang="en-US" sz="1000" dirty="0"/>
          </a:p>
        </p:txBody>
      </p:sp>
      <p:pic>
        <p:nvPicPr>
          <p:cNvPr id="8" name="Image 2" descr="C:\SNU\포트폴리오\전국AI반도체경진대회\results_delta\ROLL_3D_real_views.png"/>
          <p:cNvPicPr>
            <a:picLocks noChangeAspect="1"/>
          </p:cNvPicPr>
          <p:nvPr/>
        </p:nvPicPr>
        <p:blipFill>
          <a:blip r:embed="rId5"/>
          <a:stretch>
            <a:fillRect/>
          </a:stretch>
        </p:blipFill>
        <p:spPr>
          <a:xfrm>
            <a:off x="6309360" y="1280160"/>
            <a:ext cx="5303520" cy="2121408"/>
          </a:xfrm>
          <a:prstGeom prst="rect">
            <a:avLst/>
          </a:prstGeom>
        </p:spPr>
      </p:pic>
      <p:sp>
        <p:nvSpPr>
          <p:cNvPr id="9" name="Text 4"/>
          <p:cNvSpPr txBox="1"/>
          <p:nvPr/>
        </p:nvSpPr>
        <p:spPr>
          <a:xfrm>
            <a:off x="6309360" y="342900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3D 월드 지도, 시점 −35° / +35°</a:t>
            </a:r>
            <a:endParaRPr lang="en-US" sz="1100" dirty="0"/>
          </a:p>
        </p:txBody>
      </p:sp>
      <p:pic>
        <p:nvPicPr>
          <p:cNvPr id="10" name="Image 3" descr="C:\SNU\포트폴리오\전국AI반도체경진대회\results_delta\PAN_3D_real_views.png"/>
          <p:cNvPicPr>
            <a:picLocks noChangeAspect="1"/>
          </p:cNvPicPr>
          <p:nvPr/>
        </p:nvPicPr>
        <p:blipFill>
          <a:blip r:embed="rId6"/>
          <a:stretch>
            <a:fillRect/>
          </a:stretch>
        </p:blipFill>
        <p:spPr>
          <a:xfrm>
            <a:off x="6309360" y="3840480"/>
            <a:ext cx="5303520" cy="2121408"/>
          </a:xfrm>
          <a:prstGeom prst="rect">
            <a:avLst/>
          </a:prstGeom>
        </p:spPr>
      </p:pic>
      <p:sp>
        <p:nvSpPr>
          <p:cNvPr id="11" name="Text 5"/>
          <p:cNvSpPr txBox="1"/>
          <p:nvPr/>
        </p:nvSpPr>
        <p:spPr>
          <a:xfrm>
            <a:off x="6309360" y="598932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3D 월드 지도, 시점 −35° / +35°</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해결: </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상수</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는</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데이터에서</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직접 계산</a:t>
            </a:r>
            <a:r>
              <a:rPr lang="en-US" altLang="ko-KR" sz="2600" dirty="0">
                <a:solidFill>
                  <a:srgbClr val="1D1D1F"/>
                </a:solidFill>
                <a:latin typeface="나눔스퀘어 네오 Bold" pitchFamily="34" charset="0"/>
                <a:ea typeface="나눔스퀘어 네오 Bold" pitchFamily="34" charset="-122"/>
                <a:cs typeface="나눔스퀘어 네오 Bold" pitchFamily="34" charset="-120"/>
              </a:rPr>
              <a:t>(</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알고리즘화</a:t>
            </a:r>
            <a:r>
              <a:rPr lang="en-US" altLang="ko-KR" sz="2600" dirty="0">
                <a:solidFill>
                  <a:srgbClr val="1D1D1F"/>
                </a:solidFill>
                <a:latin typeface="나눔스퀘어 네오 Bold" pitchFamily="34" charset="0"/>
                <a:ea typeface="나눔스퀘어 네오 Bold" pitchFamily="34" charset="-122"/>
                <a:cs typeface="나눔스퀘어 네오 Bold" pitchFamily="34" charset="-120"/>
              </a:rPr>
              <a:t>)</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1975104"/>
        </p:xfrm>
        <a:graphic>
          <a:graphicData uri="http://schemas.openxmlformats.org/drawingml/2006/table">
            <a:tbl>
              <a:tblPr/>
              <a:tblGrid>
                <a:gridCol w="39319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ECC 대비, 오프셋 제거 평균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시 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구한 피벗 / 손으로 맞춘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0.405° / 0.467°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3401568"/>
            <a:ext cx="722376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피벗 = 카메라가 도는 중심. 자기보정: 3자유도로 (θ, tx, ty)를 모아 t = (R(θ)−I)·u 최소제곱으로 피벗 u를 구함, r² 0.9 이상이면 1자유도 고정</a:t>
            </a:r>
            <a:endParaRPr lang="en-US" sz="1000" dirty="0"/>
          </a:p>
        </p:txBody>
      </p:sp>
      <p:pic>
        <p:nvPicPr>
          <p:cNvPr id="6" name="Image 0" descr="C:\SNU\포트폴리오\전국AI반도체경진대회\submission\figs\hs_D6_roll.png"/>
          <p:cNvPicPr>
            <a:picLocks noChangeAspect="1"/>
          </p:cNvPicPr>
          <p:nvPr/>
        </p:nvPicPr>
        <p:blipFill>
          <a:blip r:embed="rId3"/>
          <a:stretch>
            <a:fillRect/>
          </a:stretch>
        </p:blipFill>
        <p:spPr>
          <a:xfrm>
            <a:off x="8046720" y="1325880"/>
            <a:ext cx="3566160" cy="1609344"/>
          </a:xfrm>
          <a:prstGeom prst="rect">
            <a:avLst/>
          </a:prstGeom>
        </p:spPr>
      </p:pic>
      <p:sp>
        <p:nvSpPr>
          <p:cNvPr id="7" name="Text 3"/>
          <p:cNvSpPr txBox="1"/>
          <p:nvPr/>
        </p:nvSpPr>
        <p:spPr>
          <a:xfrm>
            <a:off x="8046720" y="2953512"/>
            <a:ext cx="3566160" cy="54864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다른 녹화의 상수를 쓰면(왼쪽) 번지고, 자기 녹화 상수(오른쪽)면 방이 보인다. roll, 응집도 1.28 대 2.34</a:t>
            </a:r>
            <a:endParaRPr lang="en-US" sz="1000" dirty="0"/>
          </a:p>
        </p:txBody>
      </p:sp>
      <p:graphicFrame>
        <p:nvGraphicFramePr>
          <p:cNvPr id="8" name="Chart 0"/>
          <p:cNvGraphicFramePr/>
          <p:nvPr/>
        </p:nvGraphicFramePr>
        <p:xfrm>
          <a:off x="548640" y="3749040"/>
          <a:ext cx="7315200" cy="2606040"/>
        </p:xfrm>
        <a:graphic>
          <a:graphicData uri="http://schemas.openxmlformats.org/drawingml/2006/chart">
            <c:chart xmlns:c="http://schemas.openxmlformats.org/drawingml/2006/chart" xmlns:r="http://schemas.openxmlformats.org/officeDocument/2006/relationships" r:id="rId4"/>
          </a:graphicData>
        </a:graphic>
      </p:graphicFrame>
      <p:sp>
        <p:nvSpPr>
          <p:cNvPr id="9" name="Shape 4"/>
          <p:cNvSpPr/>
          <p:nvPr/>
        </p:nvSpPr>
        <p:spPr>
          <a:xfrm>
            <a:off x="8138160" y="3611880"/>
            <a:ext cx="3474720" cy="1325880"/>
          </a:xfrm>
          <a:prstGeom prst="roundRect">
            <a:avLst>
              <a:gd name="adj" fmla="val 8276"/>
            </a:avLst>
          </a:prstGeom>
          <a:solidFill>
            <a:srgbClr val="272729"/>
          </a:solidFill>
          <a:ln w="12700">
            <a:solidFill>
              <a:srgbClr val="272729"/>
            </a:solidFill>
            <a:prstDash val="solid"/>
          </a:ln>
        </p:spPr>
        <p:txBody>
          <a:bodyPr/>
          <a:lstStyle/>
          <a:p>
            <a:endParaRPr lang="ko-KR" altLang="en-US"/>
          </a:p>
        </p:txBody>
      </p:sp>
      <p:sp>
        <p:nvSpPr>
          <p:cNvPr id="10" name="Text 5"/>
          <p:cNvSpPr txBox="1"/>
          <p:nvPr/>
        </p:nvSpPr>
        <p:spPr>
          <a:xfrm>
            <a:off x="8321040" y="3703320"/>
            <a:ext cx="3108960" cy="640080"/>
          </a:xfrm>
          <a:prstGeom prst="rect">
            <a:avLst/>
          </a:prstGeom>
          <a:noFill/>
          <a:ln/>
        </p:spPr>
        <p:txBody>
          <a:bodyPr wrap="square" lIns="0" tIns="0" rIns="0" bIns="0" rtlCol="0" anchor="ctr"/>
          <a:lstStyle/>
          <a:p>
            <a:pPr marL="0" indent="0" eaLnBrk="0">
              <a:buNone/>
            </a:pPr>
            <a:r>
              <a:rPr lang="en-US" sz="2800" dirty="0">
                <a:solidFill>
                  <a:srgbClr val="2997FF"/>
                </a:solidFill>
                <a:latin typeface="나눔스퀘어 네오 Bold" pitchFamily="34" charset="0"/>
                <a:ea typeface="나눔스퀘어 네오 Bold" pitchFamily="34" charset="-122"/>
                <a:cs typeface="나눔스퀘어 네오 Bold" pitchFamily="34" charset="-120"/>
              </a:rPr>
              <a:t>115.9° → 1.68°</a:t>
            </a:r>
            <a:endParaRPr lang="en-US" sz="2800" dirty="0"/>
          </a:p>
        </p:txBody>
      </p:sp>
      <p:sp>
        <p:nvSpPr>
          <p:cNvPr id="11" name="Text 6"/>
          <p:cNvSpPr txBox="1"/>
          <p:nvPr/>
        </p:nvSpPr>
        <p:spPr>
          <a:xfrm>
            <a:off x="8321040" y="4389120"/>
            <a:ext cx="3108960" cy="50292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pan 크기 피벗(R 20,025 px): 프리즈 대비 자기보정</a:t>
            </a:r>
            <a:endParaRPr lang="en-US" sz="1200" dirty="0"/>
          </a:p>
        </p:txBody>
      </p:sp>
      <p:sp>
        <p:nvSpPr>
          <p:cNvPr id="4" name="Shape 7"/>
          <p:cNvSpPr/>
          <p:nvPr/>
        </p:nvSpPr>
        <p:spPr>
          <a:xfrm>
            <a:off x="8138160" y="5029200"/>
            <a:ext cx="3474720" cy="1325880"/>
          </a:xfrm>
          <a:prstGeom prst="roundRect">
            <a:avLst>
              <a:gd name="adj" fmla="val 8276"/>
            </a:avLst>
          </a:prstGeom>
          <a:solidFill>
            <a:srgbClr val="FFFFFF"/>
          </a:solidFill>
          <a:ln w="9525">
            <a:solidFill>
              <a:srgbClr val="E0E0E0"/>
            </a:solidFill>
            <a:prstDash val="solid"/>
          </a:ln>
        </p:spPr>
        <p:txBody>
          <a:bodyPr/>
          <a:lstStyle/>
          <a:p>
            <a:endParaRPr lang="ko-KR" altLang="en-US"/>
          </a:p>
        </p:txBody>
      </p:sp>
      <p:sp>
        <p:nvSpPr>
          <p:cNvPr id="13" name="Text 8"/>
          <p:cNvSpPr txBox="1"/>
          <p:nvPr/>
        </p:nvSpPr>
        <p:spPr>
          <a:xfrm>
            <a:off x="8321040" y="5166360"/>
            <a:ext cx="310896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범위</a:t>
            </a:r>
            <a:endParaRPr lang="en-US" sz="1600" dirty="0"/>
          </a:p>
        </p:txBody>
      </p:sp>
      <p:sp>
        <p:nvSpPr>
          <p:cNvPr id="14" name="Text 9"/>
          <p:cNvSpPr txBox="1"/>
          <p:nvPr/>
        </p:nvSpPr>
        <p:spPr>
          <a:xfrm>
            <a:off x="8321040" y="5577840"/>
            <a:ext cx="3108960" cy="6400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50~150 px 피벗(G1~G4, 회전 120°)에서는 세 방식 모두 0.7~2.6°. 합성은 단일 깊이·한 방향 회전.</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사이클에</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픽셀</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계산</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기술 내용</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2688336"/>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CORDIC (곱셈기 없이 사인·코사인 계산)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5" name="Chart 0"/>
          <p:cNvGraphicFramePr/>
          <p:nvPr/>
        </p:nvGraphicFramePr>
        <p:xfrm>
          <a:off x="6217920" y="4069080"/>
          <a:ext cx="5394960" cy="23317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2"/>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txBody>
          <a:bodyPr/>
          <a:lstStyle/>
          <a:p>
            <a:endParaRPr lang="ko-KR" altLang="en-US"/>
          </a:p>
        </p:txBody>
      </p:sp>
      <p:sp>
        <p:nvSpPr>
          <p:cNvPr id="7" name="Text 3"/>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8" name="Text 4"/>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 곱셈기를 없애는 것이 항상 이득은 아니고, 8픽셀 그룹 입력과 맞물릴 때만 이긴다.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기술 내용</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2596896"/>
        </p:xfrm>
        <a:graphic>
          <a:graphicData uri="http://schemas.openxmlformats.org/drawingml/2006/table">
            <a:tbl>
              <a:tblPr/>
              <a:tblGrid>
                <a:gridCol w="155448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420624">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(난수 LFSR로 확률적으로 올려 큰 수까지 셈), 포화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(평균 활성 뱅크 roll 약 76%, pan 약 97%, 행우선 선형 배치 기준)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pic>
        <p:nvPicPr>
          <p:cNvPr id="5" name="Image 0" descr="C:\SNU\포트폴리오\전국AI반도체경진대회\submission\figs\wave_row_gating.png"/>
          <p:cNvPicPr>
            <a:picLocks noChangeAspect="1"/>
          </p:cNvPicPr>
          <p:nvPr/>
        </p:nvPicPr>
        <p:blipFill>
          <a:blip r:embed="rId3"/>
          <a:stretch>
            <a:fillRect/>
          </a:stretch>
        </p:blipFill>
        <p:spPr>
          <a:xfrm>
            <a:off x="7726680" y="1371600"/>
            <a:ext cx="3886200" cy="2075688"/>
          </a:xfrm>
          <a:prstGeom prst="rect">
            <a:avLst/>
          </a:prstGeom>
        </p:spPr>
      </p:pic>
      <p:sp>
        <p:nvSpPr>
          <p:cNvPr id="6" name="Text 2"/>
          <p:cNvSpPr txBox="1"/>
          <p:nvPr/>
        </p:nvSpPr>
        <p:spPr>
          <a:xfrm>
            <a:off x="7726680" y="3474720"/>
            <a:ext cx="3886200" cy="64008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행 단위 클록 게이팅 파형: 쓰는 행의 게이트 클록만 토글, 나머지 행은 꺼짐 (RTL 시뮬)</a:t>
            </a:r>
            <a:endParaRPr lang="en-US" sz="1100" dirty="0"/>
          </a:p>
        </p:txBody>
      </p:sp>
      <p:sp>
        <p:nvSpPr>
          <p:cNvPr id="7" name="Shape 3"/>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txBody>
          <a:bodyPr/>
          <a:lstStyle/>
          <a:p>
            <a:endParaRPr lang="ko-KR" altLang="en-US"/>
          </a:p>
        </p:txBody>
      </p:sp>
      <p:sp>
        <p:nvSpPr>
          <p:cNvPr id="8" name="Text 4"/>
          <p:cNvSpPr txBox="1"/>
          <p:nvPr/>
        </p:nvSpPr>
        <p:spPr>
          <a:xfrm>
            <a:off x="7955280" y="4389120"/>
            <a:ext cx="34747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9" name="Text 5"/>
          <p:cNvSpPr txBox="1"/>
          <p:nvPr/>
        </p:nvSpPr>
        <p:spPr>
          <a:xfrm>
            <a:off x="7955280" y="4800600"/>
            <a:ext cx="3474720" cy="137160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pic>
        <p:nvPicPr>
          <p:cNvPr id="10" name="Image 1" descr="C:\SNU\포트폴리오\전국AI반도체경진대회\submission\figs\chip_bank_hist.png"/>
          <p:cNvPicPr>
            <a:picLocks noChangeAspect="1"/>
          </p:cNvPicPr>
          <p:nvPr/>
        </p:nvPicPr>
        <p:blipFill>
          <a:blip r:embed="rId4"/>
          <a:stretch>
            <a:fillRect/>
          </a:stretch>
        </p:blipFill>
        <p:spPr>
          <a:xfrm>
            <a:off x="548640" y="4069080"/>
            <a:ext cx="6949440" cy="1938528"/>
          </a:xfrm>
          <a:prstGeom prst="rect">
            <a:avLst/>
          </a:prstGeom>
        </p:spPr>
      </p:pic>
      <p:sp>
        <p:nvSpPr>
          <p:cNvPr id="11" name="Text 6"/>
          <p:cNvSpPr txBox="1"/>
          <p:nvPr/>
        </p:nvSpPr>
        <p:spPr>
          <a:xfrm>
            <a:off x="548640" y="6035040"/>
            <a:ext cx="694944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한계: 교육용 PDK에는 SRAM 매크로가 없어 FF 기반(비트당 약 11.8 µm²). 큰 월드로 가려면 SRAM이 필요하다.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각도를</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추정</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기술 내용</a:t>
            </a:r>
            <a:endParaRPr lang="en-US" sz="1100" dirty="0"/>
          </a:p>
        </p:txBody>
      </p:sp>
      <p:sp>
        <p:nvSpPr>
          <p:cNvPr id="4" name="Shape 2"/>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txBody>
          <a:bodyPr/>
          <a:lstStyle/>
          <a:p>
            <a:endParaRPr lang="ko-KR" altLang="en-US"/>
          </a:p>
        </p:txBody>
      </p:sp>
      <p:sp>
        <p:nvSpPr>
          <p:cNvPr id="5" name="Text 3"/>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4"/>
          <p:cNvSpPr txBox="1"/>
          <p:nvPr/>
        </p:nvSpPr>
        <p:spPr>
          <a:xfrm>
            <a:off x="731520"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5"/>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txBody>
          <a:bodyPr/>
          <a:lstStyle/>
          <a:p>
            <a:endParaRPr lang="ko-KR" altLang="en-US"/>
          </a:p>
        </p:txBody>
      </p:sp>
      <p:sp>
        <p:nvSpPr>
          <p:cNvPr id="8" name="Text 6"/>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7"/>
          <p:cNvSpPr txBox="1"/>
          <p:nvPr/>
        </p:nvSpPr>
        <p:spPr>
          <a:xfrm>
            <a:off x="4498848"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8"/>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txBody>
          <a:bodyPr/>
          <a:lstStyle/>
          <a:p>
            <a:endParaRPr lang="ko-KR" altLang="en-US"/>
          </a:p>
        </p:txBody>
      </p:sp>
      <p:sp>
        <p:nvSpPr>
          <p:cNvPr id="11" name="Text 9"/>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10"/>
          <p:cNvSpPr txBox="1"/>
          <p:nvPr/>
        </p:nvSpPr>
        <p:spPr>
          <a:xfrm>
            <a:off x="8266176"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앵커(기준 프레임): 각도가 30° 벌어지면 교체</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2011680"/>
        </p:xfrm>
        <a:graphic>
          <a:graphicData uri="http://schemas.openxmlformats.org/drawingml/2006/table">
            <a:tbl>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0292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 현재 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게이트 시뮬 2.86M 사이클/32프레임 = 프레임당 약 8.9만 사이클 → 8 ns에서 0.715 ms, 프레임 주기 0.773 ms 이내 (여유 1.08배,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Text 11"/>
          <p:cNvSpPr txBox="1"/>
          <p:nvPr/>
        </p:nvSpPr>
        <p:spPr>
          <a:xfrm>
            <a:off x="548640" y="5989320"/>
            <a:ext cx="11064240" cy="36576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시행착오</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① </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최종 </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8.0 ns</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265176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30352">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 계산으로 지연 검사)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 실제 지연값 시뮬)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txBody>
          <a:bodyPr/>
          <a:lstStyle/>
          <a:p>
            <a:endParaRPr lang="ko-KR" altLang="en-US"/>
          </a:p>
        </p:txBody>
      </p:sp>
      <p:sp>
        <p:nvSpPr>
          <p:cNvPr id="6" name="Text 3"/>
          <p:cNvSpPr txBox="1"/>
          <p:nvPr/>
        </p:nvSpPr>
        <p:spPr>
          <a:xfrm>
            <a:off x="7772400" y="1554480"/>
            <a:ext cx="36576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4"/>
          <p:cNvSpPr txBox="1"/>
          <p:nvPr/>
        </p:nvSpPr>
        <p:spPr>
          <a:xfrm>
            <a:off x="7772400" y="1965960"/>
            <a:ext cx="3657600" cy="19659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5"/>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txBody>
          <a:bodyPr/>
          <a:lstStyle/>
          <a:p>
            <a:endParaRPr lang="ko-KR" altLang="en-US"/>
          </a:p>
        </p:txBody>
      </p:sp>
      <p:sp>
        <p:nvSpPr>
          <p:cNvPr id="9" name="Text 6"/>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7"/>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8"/>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txBody>
          <a:bodyPr/>
          <a:lstStyle/>
          <a:p>
            <a:endParaRPr lang="ko-KR" altLang="en-US"/>
          </a:p>
        </p:txBody>
      </p:sp>
      <p:sp>
        <p:nvSpPr>
          <p:cNvPr id="12" name="Text 9"/>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10"/>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후보를</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a:t>
            </a:r>
            <a:r>
              <a:rPr lang="en-US" sz="2600" dirty="0" err="1">
                <a:solidFill>
                  <a:srgbClr val="1D1D1F"/>
                </a:solidFill>
                <a:latin typeface="나눔스퀘어 네오 Bold" pitchFamily="34" charset="0"/>
                <a:ea typeface="나눔스퀘어 네오 Bold" pitchFamily="34" charset="-122"/>
                <a:cs typeface="나눔스퀘어 네오 Bold" pitchFamily="34" charset="-120"/>
              </a:rPr>
              <a:t>측정</a:t>
            </a:r>
            <a:r>
              <a:rPr lang="en-US" sz="2600" dirty="0">
                <a:solidFill>
                  <a:srgbClr val="1D1D1F"/>
                </a:solidFill>
                <a:latin typeface="나눔스퀘어 네오 Bold" pitchFamily="34" charset="0"/>
                <a:ea typeface="나눔스퀘어 네오 Bold" pitchFamily="34" charset="-122"/>
                <a:cs typeface="나눔스퀘어 네오 Bold" pitchFamily="34" charset="-120"/>
              </a:rPr>
              <a:t> </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후 기각</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4754880"/>
        </p:xfrm>
        <a:graphic>
          <a:graphicData uri="http://schemas.openxmlformats.org/drawingml/2006/table">
            <a:tbl>
              <a:tblPr/>
              <a:tblGrid>
                <a:gridCol w="21945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7548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graphicFrame>
        <p:nvGraphicFramePr>
          <p:cNvPr id="5" name="Chart 0"/>
          <p:cNvGraphicFramePr/>
          <p:nvPr/>
        </p:nvGraphicFramePr>
        <p:xfrm>
          <a:off x="8138160" y="1371600"/>
          <a:ext cx="347472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8138160" y="5257800"/>
            <a:ext cx="347472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블록 부동소수점은 0.62/0.58의 평균</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병행 설계 라인과 메모리·물리 설계에서 겪은 것들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4389120"/>
        </p:xfrm>
        <a:graphic>
          <a:graphicData uri="http://schemas.openxmlformats.org/drawingml/2006/table">
            <a:tbl>
              <a:tblPr/>
              <a:tblGrid>
                <a:gridCol w="256032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548640">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셀(클록 게이트 전용 셀)로 +0.080 ns</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CTS(클록 트리 합성)가 래치를 말단으로 보고 AND보다 0.2 ns 일찍 엶</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FF+클록 게이팅 11.8 µm²/bit만 레이아웃·추출·게이트 시뮬이 모두 닫힘 (게이팅 없음 15.5, 래치는 배치 후 24% 불일치)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교육용 PDK 제약 안에서 실측으로 고름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객체까지 지워 전원 오픈 발생 → 사전 검사 후 한 번만 적용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안 닫히면 이상한 상태에서 측정했는지부터 의심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생체 모방은 실제 데이터로 이긴 3개 </a:t>
            </a:r>
            <a:r>
              <a:rPr lang="ko-KR" altLang="en-US" sz="2600" dirty="0">
                <a:solidFill>
                  <a:srgbClr val="1D1D1F"/>
                </a:solidFill>
                <a:latin typeface="나눔스퀘어 네오 Bold" pitchFamily="34" charset="0"/>
                <a:ea typeface="나눔스퀘어 네오 Bold" pitchFamily="34" charset="-122"/>
                <a:cs typeface="나눔스퀘어 네오 Bold" pitchFamily="34" charset="-120"/>
              </a:rPr>
              <a:t>채택</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4456176"/>
        </p:xfrm>
        <a:graphic>
          <a:graphicData uri="http://schemas.openxmlformats.org/drawingml/2006/table">
            <a:tbl>
              <a:tblPr/>
              <a:tblGrid>
                <a:gridCol w="28346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02336">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Shape 2"/>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txBody>
          <a:bodyPr/>
          <a:lstStyle/>
          <a:p>
            <a:endParaRPr lang="ko-KR" altLang="en-US"/>
          </a:p>
        </p:txBody>
      </p:sp>
      <p:sp>
        <p:nvSpPr>
          <p:cNvPr id="6" name="Text 3"/>
          <p:cNvSpPr txBox="1"/>
          <p:nvPr/>
        </p:nvSpPr>
        <p:spPr>
          <a:xfrm>
            <a:off x="8732520" y="14630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4"/>
          <p:cNvSpPr txBox="1"/>
          <p:nvPr/>
        </p:nvSpPr>
        <p:spPr>
          <a:xfrm>
            <a:off x="8732520" y="21945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pic>
        <p:nvPicPr>
          <p:cNvPr id="8" name="Image 0" descr="C:\SNU\포트폴리오\전국AI반도체경진대회\submission\figs\wave_blink.png"/>
          <p:cNvPicPr>
            <a:picLocks noChangeAspect="1"/>
          </p:cNvPicPr>
          <p:nvPr/>
        </p:nvPicPr>
        <p:blipFill>
          <a:blip r:embed="rId3"/>
          <a:stretch>
            <a:fillRect/>
          </a:stretch>
        </p:blipFill>
        <p:spPr>
          <a:xfrm>
            <a:off x="8549640" y="2971800"/>
            <a:ext cx="3063240" cy="1097280"/>
          </a:xfrm>
          <a:prstGeom prst="rect">
            <a:avLst/>
          </a:prstGeom>
        </p:spPr>
      </p:pic>
      <p:sp>
        <p:nvSpPr>
          <p:cNvPr id="9" name="Text 5"/>
          <p:cNvSpPr txBox="1"/>
          <p:nvPr/>
        </p:nvSpPr>
        <p:spPr>
          <a:xfrm>
            <a:off x="8549640" y="4087368"/>
            <a:ext cx="3063240" cy="457200"/>
          </a:xfrm>
          <a:prstGeom prst="rect">
            <a:avLst/>
          </a:prstGeom>
          <a:noFill/>
          <a:ln/>
        </p:spPr>
        <p:txBody>
          <a:bodyPr wrap="square" lIns="0" tIns="0" rIns="0" bIns="0" rtlCol="0" anchor="t"/>
          <a:lstStyle/>
          <a:p>
            <a:pPr marL="0" indent="0" eaLnBrk="0">
              <a:buNone/>
            </a:pPr>
            <a:r>
              <a:rPr lang="en-US" sz="900" dirty="0">
                <a:solidFill>
                  <a:srgbClr val="7A7A7A"/>
                </a:solidFill>
                <a:latin typeface="나눔스퀘어 네오 Regular" pitchFamily="34" charset="0"/>
                <a:ea typeface="나눔스퀘어 네오 Regular" pitchFamily="34" charset="-122"/>
                <a:cs typeface="나눔스퀘어 네오 Regular" pitchFamily="34" charset="-120"/>
              </a:rPr>
              <a:t>Blink 파형: 입력이 끊기면 코어 클록 차단, 새 입력에 다시 켬. 유휴 전력 −71% (유휴 긴 시험 입력 한정)</a:t>
            </a:r>
            <a:endParaRPr lang="en-US" sz="900" dirty="0"/>
          </a:p>
        </p:txBody>
      </p:sp>
      <p:sp>
        <p:nvSpPr>
          <p:cNvPr id="10" name="Shape 6"/>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txBody>
          <a:bodyPr/>
          <a:lstStyle/>
          <a:p>
            <a:endParaRPr lang="ko-KR" altLang="en-US"/>
          </a:p>
        </p:txBody>
      </p:sp>
      <p:sp>
        <p:nvSpPr>
          <p:cNvPr id="11" name="Text 7"/>
          <p:cNvSpPr txBox="1"/>
          <p:nvPr/>
        </p:nvSpPr>
        <p:spPr>
          <a:xfrm>
            <a:off x="8732520" y="4709160"/>
            <a:ext cx="26974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2" name="Text 8"/>
          <p:cNvSpPr txBox="1"/>
          <p:nvPr/>
        </p:nvSpPr>
        <p:spPr>
          <a:xfrm>
            <a:off x="8732520" y="5120640"/>
            <a:ext cx="2697480" cy="10515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3" name="Text 9"/>
          <p:cNvSpPr txBox="1"/>
          <p:nvPr/>
        </p:nvSpPr>
        <p:spPr>
          <a:xfrm>
            <a:off x="548640" y="5989320"/>
            <a:ext cx="7772400" cy="365760"/>
          </a:xfrm>
          <a:prstGeom prst="rect">
            <a:avLst/>
          </a:prstGeom>
          <a:noFill/>
          <a:ln/>
        </p:spPr>
        <p:txBody>
          <a:bodyPr wrap="square" lIns="0" tIns="0" rIns="0" bIns="0" rtlCol="0" anchor="t"/>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용어 풀이: 이 발표에서 쓰는 말들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부록</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5102352"/>
        </p:xfrm>
        <a:graphic>
          <a:graphicData uri="http://schemas.openxmlformats.org/drawingml/2006/table">
            <a:tbl>
              <a:tblPr/>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56692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용어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뜻</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이벤트 카메라 (DVS)</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밝기가 변한 픽셀만 (주소, 극성)으로 내보내는 센서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AER / group AER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이벤트를 주소로 전달하는 방식. group AER는 한 워드에 최대 16픽셀을 묶음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ECC 정합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영상 두 장을 맞춰 회전각을 구하는 방법 (정답 대용)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피벗 (회전 중심)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카메라가 도는 중심점. 이 위치가 틀리면 지도가 번짐</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응집도 (Cocc)</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월드 맵이 얼마나 선명하게 쌓였는지의 지표 (높을수록 선명)</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월드 메모리 / 월드 맵</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회전을 보정한 좌표에 이벤트를 쌓아 만든 지도 (칩 안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Morris 로그 카운터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확률적으로 올려 4비트로 큰 수까지 세는 카운터 (LFSR = 난수 발생기)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없이 사인·코사인을 계산하는 회로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172200" y="1371600"/>
          <a:ext cx="5440680" cy="5102352"/>
        </p:xfrm>
        <a:graphic>
          <a:graphicData uri="http://schemas.openxmlformats.org/drawingml/2006/table">
            <a:tbl>
              <a:tblPr/>
              <a:tblGrid>
                <a:gridCol w="182880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tblGrid>
              <a:tr h="56692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용어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뜻</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 bit-exact</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회로 설계 코드 / 소프트웨어 정답 모델 / 한 비트도 다르지 않음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P&amp;R · signoff</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배치배선 / 제조 직전 최종 타이밍·규칙 검사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setup · hold 여유</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신호가 너무 늦지 않고(setup) 너무 빠르지 않은(hold) 시간 여유. 양수면 통과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STA / SDF 게이트 시뮬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계산으로 지연을 검사 / 실제 지연값을 넣은 회로 시뮬레이션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두 넷리스트가 논리적으로 같음을 증명하는 검사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DRC · antenna</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제조 설계 규칙 검사 · 제조 중 전하 손상 규칙 검사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클록 게이팅</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안 쓰는 부분의 클록을 꺼서 전력을 줄이는 기법 (ICG = 게이트 전용 셀)</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 / 프리즈</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기준이 되는 프레임(각도가 벌어지면 교체) / 다른 녹화의 상수를 그대로 고정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장단점 · 고려 사항</a:t>
            </a:r>
            <a:endParaRPr lang="en-US" sz="1100" dirty="0"/>
          </a:p>
        </p:txBody>
      </p:sp>
      <p:sp>
        <p:nvSpPr>
          <p:cNvPr id="4" name="Shape 2"/>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txBody>
          <a:bodyPr/>
          <a:lstStyle/>
          <a:p>
            <a:endParaRPr lang="ko-KR" altLang="en-US"/>
          </a:p>
        </p:txBody>
      </p:sp>
      <p:sp>
        <p:nvSpPr>
          <p:cNvPr id="5" name="Text 3"/>
          <p:cNvSpPr txBox="1"/>
          <p:nvPr/>
        </p:nvSpPr>
        <p:spPr>
          <a:xfrm>
            <a:off x="731520" y="155448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4"/>
          <p:cNvSpPr txBox="1"/>
          <p:nvPr/>
        </p:nvSpPr>
        <p:spPr>
          <a:xfrm>
            <a:off x="73152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a:t>
            </a:r>
            <a:r>
              <a:rPr lang="ko-KR" altLang="en-US" sz="1400" dirty="0">
                <a:solidFill>
                  <a:srgbClr val="1D1D1F"/>
                </a:solidFill>
                <a:latin typeface="나눔스퀘어 네오 Regular" pitchFamily="34" charset="0"/>
                <a:ea typeface="나눔스퀘어 네오 Regular" pitchFamily="34" charset="-122"/>
                <a:cs typeface="나눔스퀘어 네오 Regular" pitchFamily="34" charset="-120"/>
              </a:rPr>
              <a:t>제공된 </a:t>
            </a:r>
            <a:r>
              <a:rPr lang="en-US" sz="1400" dirty="0" err="1">
                <a:solidFill>
                  <a:srgbClr val="1D1D1F"/>
                </a:solidFill>
                <a:latin typeface="나눔스퀘어 네오 Regular" pitchFamily="34" charset="0"/>
                <a:ea typeface="나눔스퀘어 네오 Regular" pitchFamily="34" charset="-122"/>
                <a:cs typeface="나눔스퀘어 네오 Regular" pitchFamily="34" charset="-120"/>
              </a:rPr>
              <a:t>센서</a:t>
            </a: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원본(group AER)을 칩이 직접 받음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5"/>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txBody>
          <a:bodyPr/>
          <a:lstStyle/>
          <a:p>
            <a:endParaRPr lang="ko-KR" altLang="en-US"/>
          </a:p>
        </p:txBody>
      </p:sp>
      <p:sp>
        <p:nvSpPr>
          <p:cNvPr id="8" name="Text 6"/>
          <p:cNvSpPr txBox="1"/>
          <p:nvPr/>
        </p:nvSpPr>
        <p:spPr>
          <a:xfrm>
            <a:off x="6400800" y="155448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7"/>
          <p:cNvSpPr txBox="1"/>
          <p:nvPr/>
        </p:nvSpPr>
        <p:spPr>
          <a:xfrm>
            <a:off x="640080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8"/>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txBody>
          <a:bodyPr/>
          <a:lstStyle/>
          <a:p>
            <a:endParaRPr lang="ko-KR" altLang="en-US"/>
          </a:p>
        </p:txBody>
      </p:sp>
      <p:sp>
        <p:nvSpPr>
          <p:cNvPr id="11" name="Text 9"/>
          <p:cNvSpPr txBox="1"/>
          <p:nvPr/>
        </p:nvSpPr>
        <p:spPr>
          <a:xfrm>
            <a:off x="731520" y="42062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10"/>
          <p:cNvSpPr txBox="1"/>
          <p:nvPr/>
        </p:nvSpPr>
        <p:spPr>
          <a:xfrm>
            <a:off x="731520" y="4617720"/>
            <a:ext cx="10698480" cy="15544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일반화의 핵심은 녹화별 상수를 데이터에서 구하는 것이다: 자기보정 알고리즘으로 해결(합성 정답 검증, 정수 기준모델 확인).</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4696</Words>
  <Application>Microsoft Office PowerPoint</Application>
  <PresentationFormat>와이드스크린</PresentationFormat>
  <Paragraphs>478</Paragraphs>
  <Slides>20</Slides>
  <Notes>20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나눔스퀘어 네오 Bold</vt:lpstr>
      <vt:lpstr>Arial</vt:lpstr>
      <vt:lpstr>나눔스퀘어 네오 Regular</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강희 조</cp:lastModifiedBy>
  <cp:revision>13</cp:revision>
  <dcterms:created xsi:type="dcterms:W3CDTF">2026-10-30T07:29:41Z</dcterms:created>
  <dcterms:modified xsi:type="dcterms:W3CDTF">2026-10-30T08:09:17Z</dcterms:modified>
</cp:coreProperties>
</file>